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54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>
        <c:manualLayout>
          <c:layoutTarget val="inner"/>
          <c:xMode val="edge"/>
          <c:yMode val="edge"/>
          <c:x val="7.0000000000000007E-2"/>
          <c:y val="0.11"/>
          <c:w val="0.91"/>
          <c:h val="0.7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Home 1 — with Sentinel</c:v>
                </c:pt>
              </c:strCache>
            </c:strRef>
          </c:tx>
          <c:spPr>
            <a:ln w="44450">
              <a:solidFill>
                <a:srgbClr val="F39200"/>
              </a:solidFill>
            </a:ln>
          </c:spPr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18:20</c:v>
                </c:pt>
                <c:pt idx="1">
                  <c:v>18:25</c:v>
                </c:pt>
                <c:pt idx="2">
                  <c:v>18:30</c:v>
                </c:pt>
                <c:pt idx="3">
                  <c:v>18:35</c:v>
                </c:pt>
                <c:pt idx="4">
                  <c:v>18:40</c:v>
                </c:pt>
                <c:pt idx="5">
                  <c:v>18:45</c:v>
                </c:pt>
                <c:pt idx="6">
                  <c:v>18:50</c:v>
                </c:pt>
                <c:pt idx="7">
                  <c:v>18:55</c:v>
                </c:pt>
                <c:pt idx="8">
                  <c:v>19:00</c:v>
                </c:pt>
                <c:pt idx="9">
                  <c:v>19:05</c:v>
                </c:pt>
                <c:pt idx="10">
                  <c:v>19:10</c:v>
                </c:pt>
                <c:pt idx="11">
                  <c:v>19:15</c:v>
                </c:pt>
                <c:pt idx="12">
                  <c:v>19:20</c:v>
                </c:pt>
                <c:pt idx="13">
                  <c:v>19:25</c:v>
                </c:pt>
                <c:pt idx="14">
                  <c:v>19:30</c:v>
                </c:pt>
                <c:pt idx="15">
                  <c:v>19:35</c:v>
                </c:pt>
                <c:pt idx="16">
                  <c:v>19:40</c:v>
                </c:pt>
                <c:pt idx="17">
                  <c:v>19:45</c:v>
                </c:pt>
                <c:pt idx="18">
                  <c:v>19:50</c:v>
                </c:pt>
                <c:pt idx="19">
                  <c:v>19:55</c:v>
                </c:pt>
                <c:pt idx="20">
                  <c:v>20:00</c:v>
                </c:pt>
                <c:pt idx="21">
                  <c:v>20:05</c:v>
                </c:pt>
                <c:pt idx="22">
                  <c:v>20:10</c:v>
                </c:pt>
                <c:pt idx="23">
                  <c:v>20:15</c:v>
                </c:pt>
                <c:pt idx="24">
                  <c:v>20:20</c:v>
                </c:pt>
                <c:pt idx="25">
                  <c:v>20:25</c:v>
                </c:pt>
                <c:pt idx="26">
                  <c:v>20:30</c:v>
                </c:pt>
                <c:pt idx="27">
                  <c:v>20:35</c:v>
                </c:pt>
                <c:pt idx="28">
                  <c:v>20:40</c:v>
                </c:pt>
                <c:pt idx="29">
                  <c:v>20:45</c:v>
                </c:pt>
                <c:pt idx="30">
                  <c:v>20:50</c:v>
                </c:pt>
                <c:pt idx="31">
                  <c:v>20:55</c:v>
                </c:pt>
                <c:pt idx="32">
                  <c:v>21:00</c:v>
                </c:pt>
                <c:pt idx="33">
                  <c:v>21:05</c:v>
                </c:pt>
                <c:pt idx="34">
                  <c:v>21:10</c:v>
                </c:pt>
                <c:pt idx="35">
                  <c:v>21:15</c:v>
                </c:pt>
                <c:pt idx="36">
                  <c:v>21:20</c:v>
                </c:pt>
                <c:pt idx="37">
                  <c:v>21:25</c:v>
                </c:pt>
                <c:pt idx="38">
                  <c:v>21:30</c:v>
                </c:pt>
                <c:pt idx="39">
                  <c:v>21:35</c:v>
                </c:pt>
                <c:pt idx="40">
                  <c:v>21:40</c:v>
                </c:pt>
                <c:pt idx="41">
                  <c:v>21:45</c:v>
                </c:pt>
                <c:pt idx="42">
                  <c:v>21:50</c:v>
                </c:pt>
                <c:pt idx="43">
                  <c:v>21:55</c:v>
                </c:pt>
                <c:pt idx="44">
                  <c:v>22:00</c:v>
                </c:pt>
                <c:pt idx="45">
                  <c:v>22:05</c:v>
                </c:pt>
                <c:pt idx="46">
                  <c:v>22:10</c:v>
                </c:pt>
                <c:pt idx="47">
                  <c:v>22:15</c:v>
                </c:pt>
                <c:pt idx="48">
                  <c:v>22:20</c:v>
                </c:pt>
                <c:pt idx="49">
                  <c:v>22:25</c:v>
                </c:pt>
                <c:pt idx="50">
                  <c:v>22:30</c:v>
                </c:pt>
                <c:pt idx="51">
                  <c:v>22:35</c:v>
                </c:pt>
                <c:pt idx="52">
                  <c:v>22:40</c:v>
                </c:pt>
                <c:pt idx="53">
                  <c:v>22:45</c:v>
                </c:pt>
                <c:pt idx="54">
                  <c:v>22:50</c:v>
                </c:pt>
                <c:pt idx="55">
                  <c:v>22:55</c:v>
                </c:pt>
                <c:pt idx="56">
                  <c:v>23:00</c:v>
                </c:pt>
                <c:pt idx="57">
                  <c:v>23:05</c:v>
                </c:pt>
                <c:pt idx="58">
                  <c:v>23:10</c:v>
                </c:pt>
                <c:pt idx="59">
                  <c:v>23:15</c:v>
                </c:pt>
                <c:pt idx="60">
                  <c:v>23:20</c:v>
                </c:pt>
                <c:pt idx="61">
                  <c:v>23:25</c:v>
                </c:pt>
                <c:pt idx="62">
                  <c:v>23:30</c:v>
                </c:pt>
              </c:strCache>
            </c:str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94</c:v>
                </c:pt>
                <c:pt idx="1">
                  <c:v>94</c:v>
                </c:pt>
                <c:pt idx="2">
                  <c:v>94.1</c:v>
                </c:pt>
                <c:pt idx="3">
                  <c:v>94.1</c:v>
                </c:pt>
                <c:pt idx="4">
                  <c:v>94.1</c:v>
                </c:pt>
                <c:pt idx="5">
                  <c:v>94.1</c:v>
                </c:pt>
                <c:pt idx="6">
                  <c:v>94.2</c:v>
                </c:pt>
                <c:pt idx="7">
                  <c:v>94.2</c:v>
                </c:pt>
                <c:pt idx="8">
                  <c:v>94.2</c:v>
                </c:pt>
                <c:pt idx="9">
                  <c:v>92.5</c:v>
                </c:pt>
                <c:pt idx="10">
                  <c:v>90.8</c:v>
                </c:pt>
                <c:pt idx="11">
                  <c:v>89.1</c:v>
                </c:pt>
                <c:pt idx="12">
                  <c:v>85.1</c:v>
                </c:pt>
                <c:pt idx="13">
                  <c:v>81.2</c:v>
                </c:pt>
                <c:pt idx="14">
                  <c:v>77.2</c:v>
                </c:pt>
                <c:pt idx="15">
                  <c:v>72.2</c:v>
                </c:pt>
                <c:pt idx="16">
                  <c:v>70.099999999999994</c:v>
                </c:pt>
                <c:pt idx="17">
                  <c:v>67.900000000000006</c:v>
                </c:pt>
                <c:pt idx="18">
                  <c:v>66.5</c:v>
                </c:pt>
                <c:pt idx="19">
                  <c:v>65.099999999999994</c:v>
                </c:pt>
                <c:pt idx="20">
                  <c:v>63.7</c:v>
                </c:pt>
                <c:pt idx="21">
                  <c:v>61.5</c:v>
                </c:pt>
                <c:pt idx="22">
                  <c:v>59.4</c:v>
                </c:pt>
                <c:pt idx="23">
                  <c:v>57.3</c:v>
                </c:pt>
                <c:pt idx="24">
                  <c:v>55.9</c:v>
                </c:pt>
                <c:pt idx="25">
                  <c:v>54.7</c:v>
                </c:pt>
                <c:pt idx="26">
                  <c:v>54.5</c:v>
                </c:pt>
                <c:pt idx="27">
                  <c:v>53.6</c:v>
                </c:pt>
                <c:pt idx="28">
                  <c:v>52.7</c:v>
                </c:pt>
                <c:pt idx="29">
                  <c:v>51.8</c:v>
                </c:pt>
                <c:pt idx="30">
                  <c:v>51.6</c:v>
                </c:pt>
                <c:pt idx="31">
                  <c:v>51.4</c:v>
                </c:pt>
                <c:pt idx="32">
                  <c:v>51.1</c:v>
                </c:pt>
                <c:pt idx="33">
                  <c:v>50.2</c:v>
                </c:pt>
                <c:pt idx="34">
                  <c:v>49.3</c:v>
                </c:pt>
                <c:pt idx="35">
                  <c:v>48.4</c:v>
                </c:pt>
                <c:pt idx="36">
                  <c:v>48.2</c:v>
                </c:pt>
                <c:pt idx="37">
                  <c:v>48</c:v>
                </c:pt>
                <c:pt idx="38">
                  <c:v>47.8</c:v>
                </c:pt>
                <c:pt idx="39">
                  <c:v>46.9</c:v>
                </c:pt>
                <c:pt idx="40">
                  <c:v>46</c:v>
                </c:pt>
                <c:pt idx="41">
                  <c:v>45.1</c:v>
                </c:pt>
                <c:pt idx="42">
                  <c:v>44.9</c:v>
                </c:pt>
                <c:pt idx="43">
                  <c:v>44.7</c:v>
                </c:pt>
                <c:pt idx="44">
                  <c:v>44.5</c:v>
                </c:pt>
                <c:pt idx="45">
                  <c:v>43.6</c:v>
                </c:pt>
                <c:pt idx="46">
                  <c:v>42.6</c:v>
                </c:pt>
                <c:pt idx="47">
                  <c:v>41.7</c:v>
                </c:pt>
                <c:pt idx="48">
                  <c:v>41.5</c:v>
                </c:pt>
                <c:pt idx="49">
                  <c:v>41.3</c:v>
                </c:pt>
                <c:pt idx="50">
                  <c:v>41.1</c:v>
                </c:pt>
                <c:pt idx="51">
                  <c:v>40.200000000000003</c:v>
                </c:pt>
                <c:pt idx="52">
                  <c:v>39.299999999999997</c:v>
                </c:pt>
                <c:pt idx="53">
                  <c:v>38.4</c:v>
                </c:pt>
                <c:pt idx="54">
                  <c:v>38.200000000000003</c:v>
                </c:pt>
                <c:pt idx="55">
                  <c:v>38</c:v>
                </c:pt>
                <c:pt idx="56">
                  <c:v>37.799999999999997</c:v>
                </c:pt>
                <c:pt idx="57">
                  <c:v>38.6</c:v>
                </c:pt>
                <c:pt idx="58">
                  <c:v>39.4</c:v>
                </c:pt>
                <c:pt idx="59">
                  <c:v>40.200000000000003</c:v>
                </c:pt>
                <c:pt idx="60">
                  <c:v>41</c:v>
                </c:pt>
                <c:pt idx="61">
                  <c:v>41.8</c:v>
                </c:pt>
                <c:pt idx="62">
                  <c:v>42.6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4F-467F-B685-7FA47FF5F0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Home 6 — no Sentinel</c:v>
                </c:pt>
              </c:strCache>
            </c:strRef>
          </c:tx>
          <c:spPr>
            <a:ln w="44450">
              <a:solidFill>
                <a:srgbClr val="221E1F"/>
              </a:solidFill>
            </a:ln>
          </c:spPr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18:20</c:v>
                </c:pt>
                <c:pt idx="1">
                  <c:v>18:25</c:v>
                </c:pt>
                <c:pt idx="2">
                  <c:v>18:30</c:v>
                </c:pt>
                <c:pt idx="3">
                  <c:v>18:35</c:v>
                </c:pt>
                <c:pt idx="4">
                  <c:v>18:40</c:v>
                </c:pt>
                <c:pt idx="5">
                  <c:v>18:45</c:v>
                </c:pt>
                <c:pt idx="6">
                  <c:v>18:50</c:v>
                </c:pt>
                <c:pt idx="7">
                  <c:v>18:55</c:v>
                </c:pt>
                <c:pt idx="8">
                  <c:v>19:00</c:v>
                </c:pt>
                <c:pt idx="9">
                  <c:v>19:05</c:v>
                </c:pt>
                <c:pt idx="10">
                  <c:v>19:10</c:v>
                </c:pt>
                <c:pt idx="11">
                  <c:v>19:15</c:v>
                </c:pt>
                <c:pt idx="12">
                  <c:v>19:20</c:v>
                </c:pt>
                <c:pt idx="13">
                  <c:v>19:25</c:v>
                </c:pt>
                <c:pt idx="14">
                  <c:v>19:30</c:v>
                </c:pt>
                <c:pt idx="15">
                  <c:v>19:35</c:v>
                </c:pt>
                <c:pt idx="16">
                  <c:v>19:40</c:v>
                </c:pt>
                <c:pt idx="17">
                  <c:v>19:45</c:v>
                </c:pt>
                <c:pt idx="18">
                  <c:v>19:50</c:v>
                </c:pt>
                <c:pt idx="19">
                  <c:v>19:55</c:v>
                </c:pt>
                <c:pt idx="20">
                  <c:v>20:00</c:v>
                </c:pt>
                <c:pt idx="21">
                  <c:v>20:05</c:v>
                </c:pt>
                <c:pt idx="22">
                  <c:v>20:10</c:v>
                </c:pt>
                <c:pt idx="23">
                  <c:v>20:15</c:v>
                </c:pt>
                <c:pt idx="24">
                  <c:v>20:20</c:v>
                </c:pt>
                <c:pt idx="25">
                  <c:v>20:25</c:v>
                </c:pt>
                <c:pt idx="26">
                  <c:v>20:30</c:v>
                </c:pt>
                <c:pt idx="27">
                  <c:v>20:35</c:v>
                </c:pt>
                <c:pt idx="28">
                  <c:v>20:40</c:v>
                </c:pt>
                <c:pt idx="29">
                  <c:v>20:45</c:v>
                </c:pt>
                <c:pt idx="30">
                  <c:v>20:50</c:v>
                </c:pt>
                <c:pt idx="31">
                  <c:v>20:55</c:v>
                </c:pt>
                <c:pt idx="32">
                  <c:v>21:00</c:v>
                </c:pt>
                <c:pt idx="33">
                  <c:v>21:05</c:v>
                </c:pt>
                <c:pt idx="34">
                  <c:v>21:10</c:v>
                </c:pt>
                <c:pt idx="35">
                  <c:v>21:15</c:v>
                </c:pt>
                <c:pt idx="36">
                  <c:v>21:20</c:v>
                </c:pt>
                <c:pt idx="37">
                  <c:v>21:25</c:v>
                </c:pt>
                <c:pt idx="38">
                  <c:v>21:30</c:v>
                </c:pt>
                <c:pt idx="39">
                  <c:v>21:35</c:v>
                </c:pt>
                <c:pt idx="40">
                  <c:v>21:40</c:v>
                </c:pt>
                <c:pt idx="41">
                  <c:v>21:45</c:v>
                </c:pt>
                <c:pt idx="42">
                  <c:v>21:50</c:v>
                </c:pt>
                <c:pt idx="43">
                  <c:v>21:55</c:v>
                </c:pt>
                <c:pt idx="44">
                  <c:v>22:00</c:v>
                </c:pt>
                <c:pt idx="45">
                  <c:v>22:05</c:v>
                </c:pt>
                <c:pt idx="46">
                  <c:v>22:10</c:v>
                </c:pt>
                <c:pt idx="47">
                  <c:v>22:15</c:v>
                </c:pt>
                <c:pt idx="48">
                  <c:v>22:20</c:v>
                </c:pt>
                <c:pt idx="49">
                  <c:v>22:25</c:v>
                </c:pt>
                <c:pt idx="50">
                  <c:v>22:30</c:v>
                </c:pt>
                <c:pt idx="51">
                  <c:v>22:35</c:v>
                </c:pt>
                <c:pt idx="52">
                  <c:v>22:40</c:v>
                </c:pt>
                <c:pt idx="53">
                  <c:v>22:45</c:v>
                </c:pt>
                <c:pt idx="54">
                  <c:v>22:50</c:v>
                </c:pt>
                <c:pt idx="55">
                  <c:v>22:55</c:v>
                </c:pt>
                <c:pt idx="56">
                  <c:v>23:00</c:v>
                </c:pt>
                <c:pt idx="57">
                  <c:v>23:05</c:v>
                </c:pt>
                <c:pt idx="58">
                  <c:v>23:10</c:v>
                </c:pt>
                <c:pt idx="59">
                  <c:v>23:15</c:v>
                </c:pt>
                <c:pt idx="60">
                  <c:v>23:20</c:v>
                </c:pt>
                <c:pt idx="61">
                  <c:v>23:25</c:v>
                </c:pt>
                <c:pt idx="62">
                  <c:v>23:30</c:v>
                </c:pt>
              </c:strCache>
            </c:strRef>
          </c:cat>
          <c:val>
            <c:numRef>
              <c:f>Sheet1!$C$2:$C$64</c:f>
              <c:numCache>
                <c:formatCode>General</c:formatCode>
                <c:ptCount val="63"/>
                <c:pt idx="0">
                  <c:v>94</c:v>
                </c:pt>
                <c:pt idx="1">
                  <c:v>94</c:v>
                </c:pt>
                <c:pt idx="2">
                  <c:v>94.1</c:v>
                </c:pt>
                <c:pt idx="3">
                  <c:v>94.1</c:v>
                </c:pt>
                <c:pt idx="4">
                  <c:v>94.1</c:v>
                </c:pt>
                <c:pt idx="5">
                  <c:v>94.1</c:v>
                </c:pt>
                <c:pt idx="6">
                  <c:v>94.2</c:v>
                </c:pt>
                <c:pt idx="7">
                  <c:v>94.2</c:v>
                </c:pt>
                <c:pt idx="8">
                  <c:v>94.2</c:v>
                </c:pt>
                <c:pt idx="9">
                  <c:v>92.5</c:v>
                </c:pt>
                <c:pt idx="10">
                  <c:v>90.8</c:v>
                </c:pt>
                <c:pt idx="11">
                  <c:v>89.1</c:v>
                </c:pt>
                <c:pt idx="12">
                  <c:v>85.1</c:v>
                </c:pt>
                <c:pt idx="13">
                  <c:v>81.2</c:v>
                </c:pt>
                <c:pt idx="14">
                  <c:v>77.2</c:v>
                </c:pt>
                <c:pt idx="15">
                  <c:v>72.2</c:v>
                </c:pt>
                <c:pt idx="16">
                  <c:v>70.099999999999994</c:v>
                </c:pt>
                <c:pt idx="17">
                  <c:v>67.900000000000006</c:v>
                </c:pt>
                <c:pt idx="18">
                  <c:v>66.5</c:v>
                </c:pt>
                <c:pt idx="19">
                  <c:v>65.099999999999994</c:v>
                </c:pt>
                <c:pt idx="20">
                  <c:v>63.7</c:v>
                </c:pt>
                <c:pt idx="21">
                  <c:v>61.5</c:v>
                </c:pt>
                <c:pt idx="22">
                  <c:v>59.4</c:v>
                </c:pt>
                <c:pt idx="23">
                  <c:v>57.3</c:v>
                </c:pt>
                <c:pt idx="24">
                  <c:v>55.9</c:v>
                </c:pt>
                <c:pt idx="25">
                  <c:v>54.4</c:v>
                </c:pt>
                <c:pt idx="26">
                  <c:v>53</c:v>
                </c:pt>
                <c:pt idx="27">
                  <c:v>50.9</c:v>
                </c:pt>
                <c:pt idx="28">
                  <c:v>48.8</c:v>
                </c:pt>
                <c:pt idx="29">
                  <c:v>46.6</c:v>
                </c:pt>
                <c:pt idx="30">
                  <c:v>45.2</c:v>
                </c:pt>
                <c:pt idx="31">
                  <c:v>43.8</c:v>
                </c:pt>
                <c:pt idx="32">
                  <c:v>42.4</c:v>
                </c:pt>
                <c:pt idx="33">
                  <c:v>40.200000000000003</c:v>
                </c:pt>
                <c:pt idx="34">
                  <c:v>38.1</c:v>
                </c:pt>
                <c:pt idx="35">
                  <c:v>36</c:v>
                </c:pt>
                <c:pt idx="36">
                  <c:v>34.6</c:v>
                </c:pt>
                <c:pt idx="37">
                  <c:v>33.299999999999997</c:v>
                </c:pt>
                <c:pt idx="38">
                  <c:v>31.9</c:v>
                </c:pt>
                <c:pt idx="39">
                  <c:v>29.8</c:v>
                </c:pt>
                <c:pt idx="40">
                  <c:v>27.7</c:v>
                </c:pt>
                <c:pt idx="41">
                  <c:v>25.7</c:v>
                </c:pt>
                <c:pt idx="42">
                  <c:v>24.3</c:v>
                </c:pt>
                <c:pt idx="43">
                  <c:v>22.9</c:v>
                </c:pt>
                <c:pt idx="44">
                  <c:v>21.6</c:v>
                </c:pt>
                <c:pt idx="45">
                  <c:v>20</c:v>
                </c:pt>
                <c:pt idx="46">
                  <c:v>20</c:v>
                </c:pt>
                <c:pt idx="47">
                  <c:v>20</c:v>
                </c:pt>
                <c:pt idx="48">
                  <c:v>20</c:v>
                </c:pt>
                <c:pt idx="49">
                  <c:v>20</c:v>
                </c:pt>
                <c:pt idx="50">
                  <c:v>20</c:v>
                </c:pt>
                <c:pt idx="51">
                  <c:v>20</c:v>
                </c:pt>
                <c:pt idx="52">
                  <c:v>20</c:v>
                </c:pt>
                <c:pt idx="53">
                  <c:v>20</c:v>
                </c:pt>
                <c:pt idx="54">
                  <c:v>20</c:v>
                </c:pt>
                <c:pt idx="55">
                  <c:v>20</c:v>
                </c:pt>
                <c:pt idx="56">
                  <c:v>20</c:v>
                </c:pt>
                <c:pt idx="57">
                  <c:v>20.8</c:v>
                </c:pt>
                <c:pt idx="58">
                  <c:v>21.6</c:v>
                </c:pt>
                <c:pt idx="59">
                  <c:v>22.4</c:v>
                </c:pt>
                <c:pt idx="60">
                  <c:v>23.2</c:v>
                </c:pt>
                <c:pt idx="61">
                  <c:v>24</c:v>
                </c:pt>
                <c:pt idx="62">
                  <c:v>24.8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4F-467F-B685-7FA47FF5F0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T2 defer 55 %</c:v>
                </c:pt>
              </c:strCache>
            </c:strRef>
          </c:tx>
          <c:spPr>
            <a:ln w="15875">
              <a:solidFill>
                <a:srgbClr val="E0A800"/>
              </a:solidFill>
              <a:prstDash val="dash"/>
            </a:ln>
          </c:spPr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18:20</c:v>
                </c:pt>
                <c:pt idx="1">
                  <c:v>18:25</c:v>
                </c:pt>
                <c:pt idx="2">
                  <c:v>18:30</c:v>
                </c:pt>
                <c:pt idx="3">
                  <c:v>18:35</c:v>
                </c:pt>
                <c:pt idx="4">
                  <c:v>18:40</c:v>
                </c:pt>
                <c:pt idx="5">
                  <c:v>18:45</c:v>
                </c:pt>
                <c:pt idx="6">
                  <c:v>18:50</c:v>
                </c:pt>
                <c:pt idx="7">
                  <c:v>18:55</c:v>
                </c:pt>
                <c:pt idx="8">
                  <c:v>19:00</c:v>
                </c:pt>
                <c:pt idx="9">
                  <c:v>19:05</c:v>
                </c:pt>
                <c:pt idx="10">
                  <c:v>19:10</c:v>
                </c:pt>
                <c:pt idx="11">
                  <c:v>19:15</c:v>
                </c:pt>
                <c:pt idx="12">
                  <c:v>19:20</c:v>
                </c:pt>
                <c:pt idx="13">
                  <c:v>19:25</c:v>
                </c:pt>
                <c:pt idx="14">
                  <c:v>19:30</c:v>
                </c:pt>
                <c:pt idx="15">
                  <c:v>19:35</c:v>
                </c:pt>
                <c:pt idx="16">
                  <c:v>19:40</c:v>
                </c:pt>
                <c:pt idx="17">
                  <c:v>19:45</c:v>
                </c:pt>
                <c:pt idx="18">
                  <c:v>19:50</c:v>
                </c:pt>
                <c:pt idx="19">
                  <c:v>19:55</c:v>
                </c:pt>
                <c:pt idx="20">
                  <c:v>20:00</c:v>
                </c:pt>
                <c:pt idx="21">
                  <c:v>20:05</c:v>
                </c:pt>
                <c:pt idx="22">
                  <c:v>20:10</c:v>
                </c:pt>
                <c:pt idx="23">
                  <c:v>20:15</c:v>
                </c:pt>
                <c:pt idx="24">
                  <c:v>20:20</c:v>
                </c:pt>
                <c:pt idx="25">
                  <c:v>20:25</c:v>
                </c:pt>
                <c:pt idx="26">
                  <c:v>20:30</c:v>
                </c:pt>
                <c:pt idx="27">
                  <c:v>20:35</c:v>
                </c:pt>
                <c:pt idx="28">
                  <c:v>20:40</c:v>
                </c:pt>
                <c:pt idx="29">
                  <c:v>20:45</c:v>
                </c:pt>
                <c:pt idx="30">
                  <c:v>20:50</c:v>
                </c:pt>
                <c:pt idx="31">
                  <c:v>20:55</c:v>
                </c:pt>
                <c:pt idx="32">
                  <c:v>21:00</c:v>
                </c:pt>
                <c:pt idx="33">
                  <c:v>21:05</c:v>
                </c:pt>
                <c:pt idx="34">
                  <c:v>21:10</c:v>
                </c:pt>
                <c:pt idx="35">
                  <c:v>21:15</c:v>
                </c:pt>
                <c:pt idx="36">
                  <c:v>21:20</c:v>
                </c:pt>
                <c:pt idx="37">
                  <c:v>21:25</c:v>
                </c:pt>
                <c:pt idx="38">
                  <c:v>21:30</c:v>
                </c:pt>
                <c:pt idx="39">
                  <c:v>21:35</c:v>
                </c:pt>
                <c:pt idx="40">
                  <c:v>21:40</c:v>
                </c:pt>
                <c:pt idx="41">
                  <c:v>21:45</c:v>
                </c:pt>
                <c:pt idx="42">
                  <c:v>21:50</c:v>
                </c:pt>
                <c:pt idx="43">
                  <c:v>21:55</c:v>
                </c:pt>
                <c:pt idx="44">
                  <c:v>22:00</c:v>
                </c:pt>
                <c:pt idx="45">
                  <c:v>22:05</c:v>
                </c:pt>
                <c:pt idx="46">
                  <c:v>22:10</c:v>
                </c:pt>
                <c:pt idx="47">
                  <c:v>22:15</c:v>
                </c:pt>
                <c:pt idx="48">
                  <c:v>22:20</c:v>
                </c:pt>
                <c:pt idx="49">
                  <c:v>22:25</c:v>
                </c:pt>
                <c:pt idx="50">
                  <c:v>22:30</c:v>
                </c:pt>
                <c:pt idx="51">
                  <c:v>22:35</c:v>
                </c:pt>
                <c:pt idx="52">
                  <c:v>22:40</c:v>
                </c:pt>
                <c:pt idx="53">
                  <c:v>22:45</c:v>
                </c:pt>
                <c:pt idx="54">
                  <c:v>22:50</c:v>
                </c:pt>
                <c:pt idx="55">
                  <c:v>22:55</c:v>
                </c:pt>
                <c:pt idx="56">
                  <c:v>23:00</c:v>
                </c:pt>
                <c:pt idx="57">
                  <c:v>23:05</c:v>
                </c:pt>
                <c:pt idx="58">
                  <c:v>23:10</c:v>
                </c:pt>
                <c:pt idx="59">
                  <c:v>23:15</c:v>
                </c:pt>
                <c:pt idx="60">
                  <c:v>23:20</c:v>
                </c:pt>
                <c:pt idx="61">
                  <c:v>23:25</c:v>
                </c:pt>
                <c:pt idx="62">
                  <c:v>23:30</c:v>
                </c:pt>
              </c:strCache>
            </c:strRef>
          </c:cat>
          <c:val>
            <c:numRef>
              <c:f>Sheet1!$D$2:$D$64</c:f>
              <c:numCache>
                <c:formatCode>General</c:formatCode>
                <c:ptCount val="63"/>
                <c:pt idx="0">
                  <c:v>55</c:v>
                </c:pt>
                <c:pt idx="1">
                  <c:v>55</c:v>
                </c:pt>
                <c:pt idx="2">
                  <c:v>55</c:v>
                </c:pt>
                <c:pt idx="3">
                  <c:v>55</c:v>
                </c:pt>
                <c:pt idx="4">
                  <c:v>55</c:v>
                </c:pt>
                <c:pt idx="5">
                  <c:v>55</c:v>
                </c:pt>
                <c:pt idx="6">
                  <c:v>55</c:v>
                </c:pt>
                <c:pt idx="7">
                  <c:v>55</c:v>
                </c:pt>
                <c:pt idx="8">
                  <c:v>55</c:v>
                </c:pt>
                <c:pt idx="9">
                  <c:v>55</c:v>
                </c:pt>
                <c:pt idx="10">
                  <c:v>55</c:v>
                </c:pt>
                <c:pt idx="11">
                  <c:v>55</c:v>
                </c:pt>
                <c:pt idx="12">
                  <c:v>55</c:v>
                </c:pt>
                <c:pt idx="13">
                  <c:v>55</c:v>
                </c:pt>
                <c:pt idx="14">
                  <c:v>55</c:v>
                </c:pt>
                <c:pt idx="15">
                  <c:v>55</c:v>
                </c:pt>
                <c:pt idx="16">
                  <c:v>55</c:v>
                </c:pt>
                <c:pt idx="17">
                  <c:v>55</c:v>
                </c:pt>
                <c:pt idx="18">
                  <c:v>55</c:v>
                </c:pt>
                <c:pt idx="19">
                  <c:v>55</c:v>
                </c:pt>
                <c:pt idx="20">
                  <c:v>55</c:v>
                </c:pt>
                <c:pt idx="21">
                  <c:v>55</c:v>
                </c:pt>
                <c:pt idx="22">
                  <c:v>55</c:v>
                </c:pt>
                <c:pt idx="23">
                  <c:v>55</c:v>
                </c:pt>
                <c:pt idx="24">
                  <c:v>55</c:v>
                </c:pt>
                <c:pt idx="25">
                  <c:v>55</c:v>
                </c:pt>
                <c:pt idx="26">
                  <c:v>55</c:v>
                </c:pt>
                <c:pt idx="27">
                  <c:v>55</c:v>
                </c:pt>
                <c:pt idx="28">
                  <c:v>55</c:v>
                </c:pt>
                <c:pt idx="29">
                  <c:v>55</c:v>
                </c:pt>
                <c:pt idx="30">
                  <c:v>55</c:v>
                </c:pt>
                <c:pt idx="31">
                  <c:v>55</c:v>
                </c:pt>
                <c:pt idx="32">
                  <c:v>55</c:v>
                </c:pt>
                <c:pt idx="33">
                  <c:v>55</c:v>
                </c:pt>
                <c:pt idx="34">
                  <c:v>55</c:v>
                </c:pt>
                <c:pt idx="35">
                  <c:v>55</c:v>
                </c:pt>
                <c:pt idx="36">
                  <c:v>55</c:v>
                </c:pt>
                <c:pt idx="37">
                  <c:v>55</c:v>
                </c:pt>
                <c:pt idx="38">
                  <c:v>55</c:v>
                </c:pt>
                <c:pt idx="39">
                  <c:v>55</c:v>
                </c:pt>
                <c:pt idx="40">
                  <c:v>55</c:v>
                </c:pt>
                <c:pt idx="41">
                  <c:v>55</c:v>
                </c:pt>
                <c:pt idx="42">
                  <c:v>55</c:v>
                </c:pt>
                <c:pt idx="43">
                  <c:v>55</c:v>
                </c:pt>
                <c:pt idx="44">
                  <c:v>55</c:v>
                </c:pt>
                <c:pt idx="45">
                  <c:v>55</c:v>
                </c:pt>
                <c:pt idx="46">
                  <c:v>55</c:v>
                </c:pt>
                <c:pt idx="47">
                  <c:v>55</c:v>
                </c:pt>
                <c:pt idx="48">
                  <c:v>55</c:v>
                </c:pt>
                <c:pt idx="49">
                  <c:v>55</c:v>
                </c:pt>
                <c:pt idx="50">
                  <c:v>55</c:v>
                </c:pt>
                <c:pt idx="51">
                  <c:v>55</c:v>
                </c:pt>
                <c:pt idx="52">
                  <c:v>55</c:v>
                </c:pt>
                <c:pt idx="53">
                  <c:v>55</c:v>
                </c:pt>
                <c:pt idx="54">
                  <c:v>55</c:v>
                </c:pt>
                <c:pt idx="55">
                  <c:v>55</c:v>
                </c:pt>
                <c:pt idx="56">
                  <c:v>55</c:v>
                </c:pt>
                <c:pt idx="57">
                  <c:v>55</c:v>
                </c:pt>
                <c:pt idx="58">
                  <c:v>55</c:v>
                </c:pt>
                <c:pt idx="59">
                  <c:v>55</c:v>
                </c:pt>
                <c:pt idx="60">
                  <c:v>55</c:v>
                </c:pt>
                <c:pt idx="61">
                  <c:v>55</c:v>
                </c:pt>
                <c:pt idx="62">
                  <c:v>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4F-467F-B685-7FA47FF5F03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T3 shed 40 %</c:v>
                </c:pt>
              </c:strCache>
            </c:strRef>
          </c:tx>
          <c:spPr>
            <a:ln w="15875">
              <a:solidFill>
                <a:srgbClr val="D63A4F"/>
              </a:solidFill>
              <a:prstDash val="dash"/>
            </a:ln>
          </c:spPr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18:20</c:v>
                </c:pt>
                <c:pt idx="1">
                  <c:v>18:25</c:v>
                </c:pt>
                <c:pt idx="2">
                  <c:v>18:30</c:v>
                </c:pt>
                <c:pt idx="3">
                  <c:v>18:35</c:v>
                </c:pt>
                <c:pt idx="4">
                  <c:v>18:40</c:v>
                </c:pt>
                <c:pt idx="5">
                  <c:v>18:45</c:v>
                </c:pt>
                <c:pt idx="6">
                  <c:v>18:50</c:v>
                </c:pt>
                <c:pt idx="7">
                  <c:v>18:55</c:v>
                </c:pt>
                <c:pt idx="8">
                  <c:v>19:00</c:v>
                </c:pt>
                <c:pt idx="9">
                  <c:v>19:05</c:v>
                </c:pt>
                <c:pt idx="10">
                  <c:v>19:10</c:v>
                </c:pt>
                <c:pt idx="11">
                  <c:v>19:15</c:v>
                </c:pt>
                <c:pt idx="12">
                  <c:v>19:20</c:v>
                </c:pt>
                <c:pt idx="13">
                  <c:v>19:25</c:v>
                </c:pt>
                <c:pt idx="14">
                  <c:v>19:30</c:v>
                </c:pt>
                <c:pt idx="15">
                  <c:v>19:35</c:v>
                </c:pt>
                <c:pt idx="16">
                  <c:v>19:40</c:v>
                </c:pt>
                <c:pt idx="17">
                  <c:v>19:45</c:v>
                </c:pt>
                <c:pt idx="18">
                  <c:v>19:50</c:v>
                </c:pt>
                <c:pt idx="19">
                  <c:v>19:55</c:v>
                </c:pt>
                <c:pt idx="20">
                  <c:v>20:00</c:v>
                </c:pt>
                <c:pt idx="21">
                  <c:v>20:05</c:v>
                </c:pt>
                <c:pt idx="22">
                  <c:v>20:10</c:v>
                </c:pt>
                <c:pt idx="23">
                  <c:v>20:15</c:v>
                </c:pt>
                <c:pt idx="24">
                  <c:v>20:20</c:v>
                </c:pt>
                <c:pt idx="25">
                  <c:v>20:25</c:v>
                </c:pt>
                <c:pt idx="26">
                  <c:v>20:30</c:v>
                </c:pt>
                <c:pt idx="27">
                  <c:v>20:35</c:v>
                </c:pt>
                <c:pt idx="28">
                  <c:v>20:40</c:v>
                </c:pt>
                <c:pt idx="29">
                  <c:v>20:45</c:v>
                </c:pt>
                <c:pt idx="30">
                  <c:v>20:50</c:v>
                </c:pt>
                <c:pt idx="31">
                  <c:v>20:55</c:v>
                </c:pt>
                <c:pt idx="32">
                  <c:v>21:00</c:v>
                </c:pt>
                <c:pt idx="33">
                  <c:v>21:05</c:v>
                </c:pt>
                <c:pt idx="34">
                  <c:v>21:10</c:v>
                </c:pt>
                <c:pt idx="35">
                  <c:v>21:15</c:v>
                </c:pt>
                <c:pt idx="36">
                  <c:v>21:20</c:v>
                </c:pt>
                <c:pt idx="37">
                  <c:v>21:25</c:v>
                </c:pt>
                <c:pt idx="38">
                  <c:v>21:30</c:v>
                </c:pt>
                <c:pt idx="39">
                  <c:v>21:35</c:v>
                </c:pt>
                <c:pt idx="40">
                  <c:v>21:40</c:v>
                </c:pt>
                <c:pt idx="41">
                  <c:v>21:45</c:v>
                </c:pt>
                <c:pt idx="42">
                  <c:v>21:50</c:v>
                </c:pt>
                <c:pt idx="43">
                  <c:v>21:55</c:v>
                </c:pt>
                <c:pt idx="44">
                  <c:v>22:00</c:v>
                </c:pt>
                <c:pt idx="45">
                  <c:v>22:05</c:v>
                </c:pt>
                <c:pt idx="46">
                  <c:v>22:10</c:v>
                </c:pt>
                <c:pt idx="47">
                  <c:v>22:15</c:v>
                </c:pt>
                <c:pt idx="48">
                  <c:v>22:20</c:v>
                </c:pt>
                <c:pt idx="49">
                  <c:v>22:25</c:v>
                </c:pt>
                <c:pt idx="50">
                  <c:v>22:30</c:v>
                </c:pt>
                <c:pt idx="51">
                  <c:v>22:35</c:v>
                </c:pt>
                <c:pt idx="52">
                  <c:v>22:40</c:v>
                </c:pt>
                <c:pt idx="53">
                  <c:v>22:45</c:v>
                </c:pt>
                <c:pt idx="54">
                  <c:v>22:50</c:v>
                </c:pt>
                <c:pt idx="55">
                  <c:v>22:55</c:v>
                </c:pt>
                <c:pt idx="56">
                  <c:v>23:00</c:v>
                </c:pt>
                <c:pt idx="57">
                  <c:v>23:05</c:v>
                </c:pt>
                <c:pt idx="58">
                  <c:v>23:10</c:v>
                </c:pt>
                <c:pt idx="59">
                  <c:v>23:15</c:v>
                </c:pt>
                <c:pt idx="60">
                  <c:v>23:20</c:v>
                </c:pt>
                <c:pt idx="61">
                  <c:v>23:25</c:v>
                </c:pt>
                <c:pt idx="62">
                  <c:v>23:30</c:v>
                </c:pt>
              </c:strCache>
            </c:strRef>
          </c:cat>
          <c:val>
            <c:numRef>
              <c:f>Sheet1!$E$2:$E$64</c:f>
              <c:numCache>
                <c:formatCode>General</c:formatCode>
                <c:ptCount val="63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  <c:pt idx="6">
                  <c:v>40</c:v>
                </c:pt>
                <c:pt idx="7">
                  <c:v>40</c:v>
                </c:pt>
                <c:pt idx="8">
                  <c:v>40</c:v>
                </c:pt>
                <c:pt idx="9">
                  <c:v>40</c:v>
                </c:pt>
                <c:pt idx="10">
                  <c:v>40</c:v>
                </c:pt>
                <c:pt idx="11">
                  <c:v>40</c:v>
                </c:pt>
                <c:pt idx="12">
                  <c:v>40</c:v>
                </c:pt>
                <c:pt idx="13">
                  <c:v>40</c:v>
                </c:pt>
                <c:pt idx="14">
                  <c:v>40</c:v>
                </c:pt>
                <c:pt idx="15">
                  <c:v>40</c:v>
                </c:pt>
                <c:pt idx="16">
                  <c:v>40</c:v>
                </c:pt>
                <c:pt idx="17">
                  <c:v>40</c:v>
                </c:pt>
                <c:pt idx="18">
                  <c:v>40</c:v>
                </c:pt>
                <c:pt idx="19">
                  <c:v>40</c:v>
                </c:pt>
                <c:pt idx="20">
                  <c:v>40</c:v>
                </c:pt>
                <c:pt idx="21">
                  <c:v>40</c:v>
                </c:pt>
                <c:pt idx="22">
                  <c:v>40</c:v>
                </c:pt>
                <c:pt idx="23">
                  <c:v>40</c:v>
                </c:pt>
                <c:pt idx="24">
                  <c:v>40</c:v>
                </c:pt>
                <c:pt idx="25">
                  <c:v>40</c:v>
                </c:pt>
                <c:pt idx="26">
                  <c:v>40</c:v>
                </c:pt>
                <c:pt idx="27">
                  <c:v>40</c:v>
                </c:pt>
                <c:pt idx="28">
                  <c:v>40</c:v>
                </c:pt>
                <c:pt idx="29">
                  <c:v>40</c:v>
                </c:pt>
                <c:pt idx="30">
                  <c:v>40</c:v>
                </c:pt>
                <c:pt idx="31">
                  <c:v>40</c:v>
                </c:pt>
                <c:pt idx="32">
                  <c:v>40</c:v>
                </c:pt>
                <c:pt idx="33">
                  <c:v>40</c:v>
                </c:pt>
                <c:pt idx="34">
                  <c:v>40</c:v>
                </c:pt>
                <c:pt idx="35">
                  <c:v>40</c:v>
                </c:pt>
                <c:pt idx="36">
                  <c:v>40</c:v>
                </c:pt>
                <c:pt idx="37">
                  <c:v>40</c:v>
                </c:pt>
                <c:pt idx="38">
                  <c:v>40</c:v>
                </c:pt>
                <c:pt idx="39">
                  <c:v>40</c:v>
                </c:pt>
                <c:pt idx="40">
                  <c:v>40</c:v>
                </c:pt>
                <c:pt idx="41">
                  <c:v>40</c:v>
                </c:pt>
                <c:pt idx="42">
                  <c:v>40</c:v>
                </c:pt>
                <c:pt idx="43">
                  <c:v>40</c:v>
                </c:pt>
                <c:pt idx="44">
                  <c:v>40</c:v>
                </c:pt>
                <c:pt idx="45">
                  <c:v>40</c:v>
                </c:pt>
                <c:pt idx="46">
                  <c:v>40</c:v>
                </c:pt>
                <c:pt idx="47">
                  <c:v>40</c:v>
                </c:pt>
                <c:pt idx="48">
                  <c:v>40</c:v>
                </c:pt>
                <c:pt idx="49">
                  <c:v>40</c:v>
                </c:pt>
                <c:pt idx="50">
                  <c:v>40</c:v>
                </c:pt>
                <c:pt idx="51">
                  <c:v>40</c:v>
                </c:pt>
                <c:pt idx="52">
                  <c:v>40</c:v>
                </c:pt>
                <c:pt idx="53">
                  <c:v>40</c:v>
                </c:pt>
                <c:pt idx="54">
                  <c:v>40</c:v>
                </c:pt>
                <c:pt idx="55">
                  <c:v>40</c:v>
                </c:pt>
                <c:pt idx="56">
                  <c:v>40</c:v>
                </c:pt>
                <c:pt idx="57">
                  <c:v>40</c:v>
                </c:pt>
                <c:pt idx="58">
                  <c:v>40</c:v>
                </c:pt>
                <c:pt idx="59">
                  <c:v>40</c:v>
                </c:pt>
                <c:pt idx="60">
                  <c:v>40</c:v>
                </c:pt>
                <c:pt idx="61">
                  <c:v>40</c:v>
                </c:pt>
                <c:pt idx="62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84F-467F-B685-7FA47FF5F03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cut-off 20 %</c:v>
                </c:pt>
              </c:strCache>
            </c:strRef>
          </c:tx>
          <c:spPr>
            <a:ln w="15875">
              <a:solidFill>
                <a:srgbClr val="6C757D"/>
              </a:solidFill>
              <a:prstDash val="sysDot"/>
            </a:ln>
          </c:spPr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18:20</c:v>
                </c:pt>
                <c:pt idx="1">
                  <c:v>18:25</c:v>
                </c:pt>
                <c:pt idx="2">
                  <c:v>18:30</c:v>
                </c:pt>
                <c:pt idx="3">
                  <c:v>18:35</c:v>
                </c:pt>
                <c:pt idx="4">
                  <c:v>18:40</c:v>
                </c:pt>
                <c:pt idx="5">
                  <c:v>18:45</c:v>
                </c:pt>
                <c:pt idx="6">
                  <c:v>18:50</c:v>
                </c:pt>
                <c:pt idx="7">
                  <c:v>18:55</c:v>
                </c:pt>
                <c:pt idx="8">
                  <c:v>19:00</c:v>
                </c:pt>
                <c:pt idx="9">
                  <c:v>19:05</c:v>
                </c:pt>
                <c:pt idx="10">
                  <c:v>19:10</c:v>
                </c:pt>
                <c:pt idx="11">
                  <c:v>19:15</c:v>
                </c:pt>
                <c:pt idx="12">
                  <c:v>19:20</c:v>
                </c:pt>
                <c:pt idx="13">
                  <c:v>19:25</c:v>
                </c:pt>
                <c:pt idx="14">
                  <c:v>19:30</c:v>
                </c:pt>
                <c:pt idx="15">
                  <c:v>19:35</c:v>
                </c:pt>
                <c:pt idx="16">
                  <c:v>19:40</c:v>
                </c:pt>
                <c:pt idx="17">
                  <c:v>19:45</c:v>
                </c:pt>
                <c:pt idx="18">
                  <c:v>19:50</c:v>
                </c:pt>
                <c:pt idx="19">
                  <c:v>19:55</c:v>
                </c:pt>
                <c:pt idx="20">
                  <c:v>20:00</c:v>
                </c:pt>
                <c:pt idx="21">
                  <c:v>20:05</c:v>
                </c:pt>
                <c:pt idx="22">
                  <c:v>20:10</c:v>
                </c:pt>
                <c:pt idx="23">
                  <c:v>20:15</c:v>
                </c:pt>
                <c:pt idx="24">
                  <c:v>20:20</c:v>
                </c:pt>
                <c:pt idx="25">
                  <c:v>20:25</c:v>
                </c:pt>
                <c:pt idx="26">
                  <c:v>20:30</c:v>
                </c:pt>
                <c:pt idx="27">
                  <c:v>20:35</c:v>
                </c:pt>
                <c:pt idx="28">
                  <c:v>20:40</c:v>
                </c:pt>
                <c:pt idx="29">
                  <c:v>20:45</c:v>
                </c:pt>
                <c:pt idx="30">
                  <c:v>20:50</c:v>
                </c:pt>
                <c:pt idx="31">
                  <c:v>20:55</c:v>
                </c:pt>
                <c:pt idx="32">
                  <c:v>21:00</c:v>
                </c:pt>
                <c:pt idx="33">
                  <c:v>21:05</c:v>
                </c:pt>
                <c:pt idx="34">
                  <c:v>21:10</c:v>
                </c:pt>
                <c:pt idx="35">
                  <c:v>21:15</c:v>
                </c:pt>
                <c:pt idx="36">
                  <c:v>21:20</c:v>
                </c:pt>
                <c:pt idx="37">
                  <c:v>21:25</c:v>
                </c:pt>
                <c:pt idx="38">
                  <c:v>21:30</c:v>
                </c:pt>
                <c:pt idx="39">
                  <c:v>21:35</c:v>
                </c:pt>
                <c:pt idx="40">
                  <c:v>21:40</c:v>
                </c:pt>
                <c:pt idx="41">
                  <c:v>21:45</c:v>
                </c:pt>
                <c:pt idx="42">
                  <c:v>21:50</c:v>
                </c:pt>
                <c:pt idx="43">
                  <c:v>21:55</c:v>
                </c:pt>
                <c:pt idx="44">
                  <c:v>22:00</c:v>
                </c:pt>
                <c:pt idx="45">
                  <c:v>22:05</c:v>
                </c:pt>
                <c:pt idx="46">
                  <c:v>22:10</c:v>
                </c:pt>
                <c:pt idx="47">
                  <c:v>22:15</c:v>
                </c:pt>
                <c:pt idx="48">
                  <c:v>22:20</c:v>
                </c:pt>
                <c:pt idx="49">
                  <c:v>22:25</c:v>
                </c:pt>
                <c:pt idx="50">
                  <c:v>22:30</c:v>
                </c:pt>
                <c:pt idx="51">
                  <c:v>22:35</c:v>
                </c:pt>
                <c:pt idx="52">
                  <c:v>22:40</c:v>
                </c:pt>
                <c:pt idx="53">
                  <c:v>22:45</c:v>
                </c:pt>
                <c:pt idx="54">
                  <c:v>22:50</c:v>
                </c:pt>
                <c:pt idx="55">
                  <c:v>22:55</c:v>
                </c:pt>
                <c:pt idx="56">
                  <c:v>23:00</c:v>
                </c:pt>
                <c:pt idx="57">
                  <c:v>23:05</c:v>
                </c:pt>
                <c:pt idx="58">
                  <c:v>23:10</c:v>
                </c:pt>
                <c:pt idx="59">
                  <c:v>23:15</c:v>
                </c:pt>
                <c:pt idx="60">
                  <c:v>23:20</c:v>
                </c:pt>
                <c:pt idx="61">
                  <c:v>23:25</c:v>
                </c:pt>
                <c:pt idx="62">
                  <c:v>23:30</c:v>
                </c:pt>
              </c:strCache>
            </c:strRef>
          </c:cat>
          <c:val>
            <c:numRef>
              <c:f>Sheet1!$F$2:$F$64</c:f>
              <c:numCache>
                <c:formatCode>General</c:formatCode>
                <c:ptCount val="63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20</c:v>
                </c:pt>
                <c:pt idx="15">
                  <c:v>20</c:v>
                </c:pt>
                <c:pt idx="16">
                  <c:v>20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  <c:pt idx="20">
                  <c:v>20</c:v>
                </c:pt>
                <c:pt idx="21">
                  <c:v>20</c:v>
                </c:pt>
                <c:pt idx="22">
                  <c:v>20</c:v>
                </c:pt>
                <c:pt idx="23">
                  <c:v>20</c:v>
                </c:pt>
                <c:pt idx="24">
                  <c:v>20</c:v>
                </c:pt>
                <c:pt idx="25">
                  <c:v>20</c:v>
                </c:pt>
                <c:pt idx="26">
                  <c:v>20</c:v>
                </c:pt>
                <c:pt idx="27">
                  <c:v>20</c:v>
                </c:pt>
                <c:pt idx="28">
                  <c:v>20</c:v>
                </c:pt>
                <c:pt idx="29">
                  <c:v>20</c:v>
                </c:pt>
                <c:pt idx="30">
                  <c:v>20</c:v>
                </c:pt>
                <c:pt idx="31">
                  <c:v>20</c:v>
                </c:pt>
                <c:pt idx="32">
                  <c:v>20</c:v>
                </c:pt>
                <c:pt idx="33">
                  <c:v>20</c:v>
                </c:pt>
                <c:pt idx="34">
                  <c:v>20</c:v>
                </c:pt>
                <c:pt idx="35">
                  <c:v>20</c:v>
                </c:pt>
                <c:pt idx="36">
                  <c:v>20</c:v>
                </c:pt>
                <c:pt idx="37">
                  <c:v>20</c:v>
                </c:pt>
                <c:pt idx="38">
                  <c:v>20</c:v>
                </c:pt>
                <c:pt idx="39">
                  <c:v>20</c:v>
                </c:pt>
                <c:pt idx="40">
                  <c:v>20</c:v>
                </c:pt>
                <c:pt idx="41">
                  <c:v>20</c:v>
                </c:pt>
                <c:pt idx="42">
                  <c:v>20</c:v>
                </c:pt>
                <c:pt idx="43">
                  <c:v>20</c:v>
                </c:pt>
                <c:pt idx="44">
                  <c:v>20</c:v>
                </c:pt>
                <c:pt idx="45">
                  <c:v>20</c:v>
                </c:pt>
                <c:pt idx="46">
                  <c:v>20</c:v>
                </c:pt>
                <c:pt idx="47">
                  <c:v>20</c:v>
                </c:pt>
                <c:pt idx="48">
                  <c:v>20</c:v>
                </c:pt>
                <c:pt idx="49">
                  <c:v>20</c:v>
                </c:pt>
                <c:pt idx="50">
                  <c:v>20</c:v>
                </c:pt>
                <c:pt idx="51">
                  <c:v>20</c:v>
                </c:pt>
                <c:pt idx="52">
                  <c:v>20</c:v>
                </c:pt>
                <c:pt idx="53">
                  <c:v>20</c:v>
                </c:pt>
                <c:pt idx="54">
                  <c:v>20</c:v>
                </c:pt>
                <c:pt idx="55">
                  <c:v>20</c:v>
                </c:pt>
                <c:pt idx="56">
                  <c:v>20</c:v>
                </c:pt>
                <c:pt idx="57">
                  <c:v>20</c:v>
                </c:pt>
                <c:pt idx="58">
                  <c:v>20</c:v>
                </c:pt>
                <c:pt idx="59">
                  <c:v>20</c:v>
                </c:pt>
                <c:pt idx="60">
                  <c:v>20</c:v>
                </c:pt>
                <c:pt idx="61">
                  <c:v>20</c:v>
                </c:pt>
                <c:pt idx="62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84F-467F-B685-7FA47FF5F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E4E4E4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Arial"/>
              </a:defRPr>
            </a:pPr>
            <a:endParaRPr lang="en-US"/>
          </a:p>
        </c:txPr>
        <c:crossAx val="2118791784"/>
        <c:crosses val="autoZero"/>
        <c:crossBetween val="between"/>
        <c:majorUnit val="20"/>
      </c:valAx>
    </c:plotArea>
    <c:legend>
      <c:legendPos val="t"/>
      <c:overlay val="0"/>
      <c:txPr>
        <a:bodyPr/>
        <a:lstStyle/>
        <a:p>
          <a:pPr>
            <a:defRPr sz="1100">
              <a:latin typeface="Arial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>
        <c:manualLayout>
          <c:layoutTarget val="inner"/>
          <c:xMode val="edge"/>
          <c:yMode val="edge"/>
          <c:x val="0.1"/>
          <c:y val="0.04"/>
          <c:w val="0.88"/>
          <c:h val="0.8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from</c:v>
                </c:pt>
              </c:strCache>
            </c:strRef>
          </c:tx>
          <c:spPr>
            <a:solidFill>
              <a:srgbClr val="FDC300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Basic board
(E1+E2)</c:v>
                </c:pt>
                <c:pt idx="1">
                  <c:v>+ shunt
(standalone)</c:v>
                </c:pt>
                <c:pt idx="2">
                  <c:v>+ Coach kit
(E3)</c:v>
                </c:pt>
                <c:pt idx="3">
                  <c:v>Embedded
increment</c:v>
                </c:pt>
                <c:pt idx="4">
                  <c:v>Embedded
+ Coach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750</c:v>
                </c:pt>
                <c:pt idx="1">
                  <c:v>1050</c:v>
                </c:pt>
                <c:pt idx="2">
                  <c:v>1650</c:v>
                </c:pt>
                <c:pt idx="3">
                  <c:v>450</c:v>
                </c:pt>
                <c:pt idx="4">
                  <c:v>850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4DA-4167-8537-62264E9952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 to</c:v>
                </c:pt>
              </c:strCache>
            </c:strRef>
          </c:tx>
          <c:spPr>
            <a:solidFill>
              <a:srgbClr val="E8E1CF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Basic board
(E1+E2)</c:v>
                </c:pt>
                <c:pt idx="1">
                  <c:v>+ shunt
(standalone)</c:v>
                </c:pt>
                <c:pt idx="2">
                  <c:v>+ Coach kit
(E3)</c:v>
                </c:pt>
                <c:pt idx="3">
                  <c:v>Embedded
increment</c:v>
                </c:pt>
                <c:pt idx="4">
                  <c:v>Embedded
+ Coach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400</c:v>
                </c:pt>
                <c:pt idx="3">
                  <c:v>250</c:v>
                </c:pt>
                <c:pt idx="4">
                  <c:v>450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4DA-4167-8537-62264E9952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00"/>
          <c:min val="0"/>
        </c:scaling>
        <c:delete val="0"/>
        <c:axPos val="l"/>
        <c:majorGridlines>
          <c:spPr>
            <a:ln>
              <a:solidFill>
                <a:srgbClr val="E4E4E4"/>
              </a:solidFill>
            </a:ln>
          </c:spPr>
        </c:majorGridlines>
        <c:numFmt formatCode="&quot;₹&quot;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  <c:majorUnit val="50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5308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[0:00–0:20] Good morning. We're Team Codey Tingle. In the next ten minutes we'll show you Sentinel — first the idea, then the working prototype live, then what's proven and what isn't. Behind us is our simulated village; you'll see it in action in a few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[0:20–0:50] Picture a family in Kochi. The evening power cut starts at seven. The inverter switches over in under ten milliseconds — it's fast. But nobody knows how much the battery has left, or how healthy it is. At three minutes past ten it simply dies: fridge, Wi-Fi, lights, all gone. Eighty-five percent of Indian homes face cuts daily. Heat halves lead-acid life every ten degrees. And for V-Guard, those surprise failures land in the warranty bill — about one and a half percent of revenue. The inverter is fast. The battery is blind. That's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[0:50–1:10] Our idea in one sentence: Sentinel turns V-Guard's smart inverter into an intelligent one. Today's products take commands. Sentinel predicts when the battery will fail, decides which loads to keep alive, and acts on its own — even with no internet, which in India is a feature, not a compromise. It ships two ways: built into new inverters, or retrofitted by an electrician in half an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[1:10–1:35] Physically, Sentinel is a box the size of a deck of cards beside the inverter. This is the 'power corner' of Home 1 in our simulation. Five touch points: a shunt in the battery's negative cable for current, a temperature probe on the battery post, a current transformer on the inverter output, four fail-safe contactors in the distribution board — and the ESP32 core itself. Gold dots are mains power, cyan is battery power, violet is Sentinel sensing.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[1:35–1:50] Four jobs, one board. One: battery health — a warning window, not a guess. Two: the autopilot that keeps essentials alive. Three: the energy coach and grid shield — which appliances use what, and what the grid did to your home. Four: a signed health log, so warranty is decided by evidence, not argument. Let me take them one at a time,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[1:50–2:25] How does a small microcontroller predict battery life? Physics first. A Kalman filter turns current, voltage and temperature into charge and internal resistance. Each outage becomes 20 features the lead-acid literature says drive wear — resistance growth, heat stress, depth of discharge. A tiny int8 network — 28 thousand parameters, 16 KB of RAM — outputs a band, and we show a window: replace in 6 to 14 weeks, plan for 6. Honest numbers: on three batteries the model has never seen, the error is 8.2 points — on synthetic data. The band is calibrated but wide; real tubular aging data from the Kochi lab is what narrows it. And quantising to int8 cost us one hundredth of a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[2:25–3:00] This is the heart of it, and it isn't a drawing — it's the output of our simulation engine. Home 1 and Home 6 have the identical 150 Ah battery and identical appliances. Only Home 1 has Sentinel. At 8:24 pm Home 1 drops to 55 percent and defers the fans and TV; its curve flattens. Home 6 keeps burning everything, and at 10:03 pm hits the cut-off — fridge, router, lights, all off for 57 minutes. Home 1 sheds the heavy sockets at 40 percent and keeps its essentials on till mains returns. The rule is a readable ladder — 55 and 40 percent with hysteresis — not a black box. And every contactor is normally-closed: if Sentinel crashes, every load comes back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[3:00–3:25] Engine three. We added a real metering chip on the inverter output — the kind inside a smart meter. On the left, three hours of a home's power: every orange line is an appliance switching on, gold is off — 123 events, each turned into a signature so the app can ask 'what just turned on?'. On the right, the grid shield: the chip computes RMS every half cycle, catches a 120-millisecond sag and a swell, and writes them into the signed log — evidence for the owner when a fluctuation damages an appliance. We're honest about scope: big appliances, not two identical fans.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[3:25–3:45] For new V-Guard inverters Sentinel isn't a box — it's a daughter-board inside. This is our 3D proof of concept with the lid off: transformer, MOSFET bridge, changeover relay, control board, and our board on standoffs. It taps five things the inverter already has: its current shunt, its mode line, the charger's feedback node — which is how Sentinel does temperature-compensated charging, only on the embedded version — the output rail, and four coil outputs to the contactors.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[3:45–4:00] It's designed to be built. Enclosure 90 by 70 by 35, board 80 by 60, flame-retardant plastic. Two things we'd point an engineer to: the battery's 30-plus amps never touch our board — only the shunt's millivolts do — and the mains-side sensing sits behind an isolation moat that the isolated amplifier and optocoupler straddle. On the right, the same board as a 3D render with every chip where the drawing puts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[4:00–4:10] And the simplest version — our bench sketch. Mains through a 6-amp MCB into a Prime-class inverter, a 150 Ah tubular battery with the shunt in its negative lead, an ESP32, and three normally-closed relays for the three tiers. Flipping that MCB is our outage. Let's do exactly that,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[4:10–8:10] LIVE DEMO (about 4 minutes). Switch to Sentinel-Live.html, full screen.</a:t>
            </a:r>
          </a:p>
          <a:p>
            <a:r>
              <a:t>1) Village tab: press ⏭ 18:58 at 180×. Feeder drops at 19:00 — flows turn cyan, street lights go out. Click Home 1 → Power corner: point at shunt, NTC, CT, Sentinel, contactors. ⏭ 20:20: T2 deferred (bedroom dark). ⏭ 21:55: at 22:03 Home 6 goes DARK; Home 1 still lit. Press Reset MCU on Home 1: all loads back, re-shed after reboot.</a:t>
            </a:r>
          </a:p>
          <a:p>
            <a:r>
              <a:t>2) Inverter + Sentinel tab: switch the iron on. Click MAINS MCB → slow motion: relay swings, scope shows the 8 ms gap gold→cyan, timeline +0.0 / +8.0 ms, Sentinel confirms at ~1.5 s. Hover the board: C1 ESP32, C6 metering, C13 DAC.</a:t>
            </a:r>
          </a:p>
          <a:p>
            <a:r>
              <a:t>3) Drag SoC to 38 % → CH3 opens, iron goes cold; fan deferred. Reset MCU → everything back, charger reverts to factory. Restore MCB → S6 then bulk charging. Temp slider to 45 °C → setpoints drop, current derates. Verify chain → alter one byte → broken.</a:t>
            </a:r>
          </a:p>
          <a:p>
            <a:r>
              <a:t>Back to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[8:10–8:40] Credibility is the whole game with R&amp;D judges, so here it is plainly. Proven in code: 245 tests, six C modules that match Python bit for bit, an int8 model that self-tests in C, and a signed log that catches tampering — you just saw it break. Synthetic only: the battery-health accuracy and the appliance numbers, because no real tubular aging data exists yet. Needs hardware: flashing to the ESP32, the physical bench, and the aging campaign. We also cut federated learning from this prototype on purpose — it's designed, not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[8:40–9:05] The product is one board sold two ways. Embedded inside new inverters, it adds 450 to 1,300 rupees. As a retrofit for the millions already installed, 750 rupees for the basic battery-and-autopilot box, up to about 2,000 with the energy coach. Against a 15,000-rupee battery that's 5 to 14 percent — for knowing when to replace it, and keeping the fridge alive when it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[9:05–9:35] Our roadmap is written as gates, not dates. Gate one: a proper aging campaign in V-Guard's Kochi reliability lab — that's what turns our synthetic accuracy into real accuracy. Gate two: a hundred retrofit homes for six months with hard pass criteria. Gate three: the embedded version inside the Smart Pro family, which already has Wi-Fi and the app. What V-Guard gets: well-timed battery sales, evidence-based warranty, a premium tier, and data no competitor can buy. What we ask for: one opened Prime inverter with its charger schematic, the bench parts, and lab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asked about safety certification: we target IS 13252 / IEC 62368-1 as the BIS gate; PQ is 'Class-S-like', never claimed Class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[9:35–10:00] Three lines to remember. Coil off means loads on — it fails safe. A window, never a date — it's honest about uncertainty. Offline first, fleet second — it works in the village before it ever talks to the cloud. Thank you — we'd love your questions. (Appendix slides follow for Q&amp;A.)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itl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0010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94960"/>
            <a:ext cx="12191695" cy="73152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"/>
            <a:ext cx="246253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737360"/>
            <a:ext cx="621792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000" b="1" i="0">
                <a:solidFill>
                  <a:srgbClr val="FDC300"/>
                </a:solidFill>
                <a:latin typeface="Arial"/>
              </a:rPr>
              <a:t>V-Guard Sentinel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94360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The inverter already knows when the power goes. Sentinel teaches it what to keep on — and when its battery will quit.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64008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DC300"/>
                </a:solidFill>
                <a:latin typeface="Arial"/>
              </a:rPr>
              <a:t>Track 4 · From Smart Products to Intelligent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Team Codey Tingle (TI3271)  ·  Ayush Manoj Garg · Eshan Shukla · Tanay Chaplot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Finale · Kochi · 24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10:03 pm. The battery dies — with no warning.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Three hours into a power cut, Home 6 in our village goes dark. Home 1 has the same battery and appliances — and stays lit.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pic>
        <p:nvPicPr>
          <p:cNvPr id="9" name="Picture 8" descr="v_home6_dark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25980"/>
            <a:ext cx="7315200" cy="3383280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229600" y="1508760"/>
            <a:ext cx="35661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39200"/>
                </a:solidFill>
                <a:latin typeface="Arial"/>
              </a:rPr>
              <a:t>85 %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221992"/>
            <a:ext cx="35661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of Indian households face a power cut every day (LocalCircles, 2023)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063240"/>
            <a:ext cx="35661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D63A4F"/>
                </a:solidFill>
                <a:latin typeface="Arial"/>
              </a:rPr>
              <a:t>×2 wear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776472"/>
            <a:ext cx="35661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every +10 °C: lead-acid life halves with heat — the Indian summer is the battery's enemy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617720"/>
            <a:ext cx="35661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DC300"/>
                </a:solidFill>
                <a:latin typeface="Arial"/>
              </a:rPr>
              <a:t>≈ 1.5 %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330952"/>
            <a:ext cx="35661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of V-Guard revenue goes to warranty (≈ ₹69 cr, FY24)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Sentinel turns a smart inverter into an intelligent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Smart products take commands. Intelligent products predict, decide and act — without the cloud.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3154680" cy="192024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221E1F"/>
                </a:solidFill>
                <a:latin typeface="Arial"/>
              </a:rPr>
              <a:t>CONNECTED</a:t>
            </a:r>
          </a:p>
          <a:p>
            <a:pPr algn="ctr"/>
            <a:r>
              <a:rPr sz="2000" b="0">
                <a:solidFill>
                  <a:srgbClr val="221E1F"/>
                </a:solidFill>
                <a:latin typeface="Arial"/>
              </a:rPr>
              <a:t>app on / off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834640"/>
            <a:ext cx="457200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17720" y="2011680"/>
            <a:ext cx="3154680" cy="1920240"/>
          </a:xfrm>
          <a:prstGeom prst="roundRect">
            <a:avLst>
              <a:gd name="adj" fmla="val 8000"/>
            </a:avLst>
          </a:prstGeom>
          <a:solidFill>
            <a:srgbClr val="FCB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221E1F"/>
                </a:solidFill>
                <a:latin typeface="Arial"/>
              </a:rPr>
              <a:t>SMART</a:t>
            </a:r>
          </a:p>
          <a:p>
            <a:pPr algn="ctr"/>
            <a:r>
              <a:rPr sz="2000" b="0">
                <a:solidFill>
                  <a:srgbClr val="221E1F"/>
                </a:solidFill>
                <a:latin typeface="Arial"/>
              </a:rPr>
              <a:t>schedules · alerts · usage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63840" y="2834640"/>
            <a:ext cx="457200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12480" y="2011680"/>
            <a:ext cx="3154680" cy="192024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000104"/>
                </a:solidFill>
                <a:latin typeface="Arial"/>
              </a:rPr>
              <a:t>INTELLIGENT</a:t>
            </a:r>
          </a:p>
          <a:p>
            <a:pPr algn="ctr"/>
            <a:r>
              <a:rPr sz="2000" b="0">
                <a:solidFill>
                  <a:srgbClr val="000104"/>
                </a:solidFill>
                <a:latin typeface="Arial"/>
              </a:rPr>
              <a:t>predicts failure · learns the home</a:t>
            </a:r>
          </a:p>
          <a:p>
            <a:pPr algn="ctr"/>
            <a:r>
              <a:rPr sz="2000" b="0">
                <a:solidFill>
                  <a:srgbClr val="000104"/>
                </a:solidFill>
                <a:latin typeface="Arial"/>
              </a:rPr>
              <a:t>acts on its own — offline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069080"/>
            <a:ext cx="31089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39200"/>
                </a:solidFill>
                <a:latin typeface="Arial"/>
              </a:rPr>
              <a:t>← Sentinel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754880"/>
            <a:ext cx="301752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21E1F"/>
                </a:solidFill>
                <a:latin typeface="Arial"/>
              </a:rPr>
              <a:t>Embedded  </a:t>
            </a:r>
            <a:r>
              <a:rPr sz="1500" b="0" i="0">
                <a:solidFill>
                  <a:srgbClr val="221E1F"/>
                </a:solidFill>
                <a:latin typeface="Arial"/>
              </a:rPr>
              <a:t>a daughter-board inside new V-Guard inverters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800600"/>
            <a:ext cx="457200" cy="45720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754880"/>
            <a:ext cx="301752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21E1F"/>
                </a:solidFill>
                <a:latin typeface="Arial"/>
              </a:rPr>
              <a:t>Retrofit  </a:t>
            </a:r>
            <a:r>
              <a:rPr sz="1500" b="0" i="0">
                <a:solidFill>
                  <a:srgbClr val="221E1F"/>
                </a:solidFill>
                <a:latin typeface="Arial"/>
              </a:rPr>
              <a:t>a 30-minute electrician fit on the installed base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4800600"/>
            <a:ext cx="457200" cy="45720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4754880"/>
            <a:ext cx="301752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21E1F"/>
                </a:solidFill>
                <a:latin typeface="Arial"/>
              </a:rPr>
              <a:t>Offline-first  </a:t>
            </a:r>
            <a:r>
              <a:rPr sz="1500" b="0" i="0">
                <a:solidFill>
                  <a:srgbClr val="221E1F"/>
                </a:solidFill>
                <a:latin typeface="Arial"/>
              </a:rPr>
              <a:t>every core function works with zero internet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One small box reads the battery and switches the loads.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Nothing on the battery or the inverter is modified on the retrofit — only the negative cable passes through a shunt.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pic>
        <p:nvPicPr>
          <p:cNvPr id="9" name="Picture 8" descr="v_home1_corner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16964"/>
            <a:ext cx="6949440" cy="4401312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0" name="Oval 9"/>
          <p:cNvSpPr/>
          <p:nvPr/>
        </p:nvSpPr>
        <p:spPr>
          <a:xfrm>
            <a:off x="7818120" y="155448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50876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Shunt in the battery − lead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battery current → INA228</a:t>
            </a:r>
          </a:p>
        </p:txBody>
      </p:sp>
      <p:sp>
        <p:nvSpPr>
          <p:cNvPr id="12" name="Oval 11"/>
          <p:cNvSpPr/>
          <p:nvPr/>
        </p:nvSpPr>
        <p:spPr>
          <a:xfrm>
            <a:off x="7818120" y="246888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42316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NTC on the battery post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temperature: the #1 ageing driver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38328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3756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CT + voltage tap on AC-OUT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real &amp; reactive power → ATM90E32AS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29768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25196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4 NC contactors in the DB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coil off = load ON, always</a:t>
            </a:r>
          </a:p>
        </p:txBody>
      </p:sp>
      <p:sp>
        <p:nvSpPr>
          <p:cNvPr id="18" name="Oval 17"/>
          <p:cNvSpPr/>
          <p:nvPr/>
        </p:nvSpPr>
        <p:spPr>
          <a:xfrm>
            <a:off x="7818120" y="521208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516636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ESP32-S3 Sentinel Core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90 × 70 × 35 mm, powered by the battery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Four jobs, one board — all on the ESP32, no cloud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2194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000104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21945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0104"/>
                </a:solidFill>
                <a:latin typeface="Arial"/>
              </a:rPr>
              <a:t>Battery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21945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1E1F"/>
                </a:solidFill>
                <a:latin typeface="Arial"/>
              </a:rPr>
              <a:t>Predicts a replacement window — 'replace in 6–14 weeks'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1732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1600200"/>
            <a:ext cx="2194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000104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88920"/>
            <a:ext cx="21945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0104"/>
                </a:solidFill>
                <a:latin typeface="Arial"/>
              </a:rPr>
              <a:t>Habit autopilot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749039"/>
            <a:ext cx="21945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1E1F"/>
                </a:solidFill>
                <a:latin typeface="Arial"/>
              </a:rPr>
              <a:t>Keeps the fridge, lights and router alive during a cut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FCB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600200"/>
            <a:ext cx="2194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000104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88920"/>
            <a:ext cx="21945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0104"/>
                </a:solidFill>
                <a:latin typeface="Arial"/>
              </a:rPr>
              <a:t>Energy coach + grid shield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49039"/>
            <a:ext cx="21945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1E1F"/>
                </a:solidFill>
                <a:latin typeface="Arial"/>
              </a:rPr>
              <a:t>Names the big appliances; logs every sag and swell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41732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60" y="1600200"/>
            <a:ext cx="2194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000104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788920"/>
            <a:ext cx="21945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0104"/>
                </a:solidFill>
                <a:latin typeface="Arial"/>
              </a:rPr>
              <a:t>Signed health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749039"/>
            <a:ext cx="21945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1E1F"/>
                </a:solidFill>
                <a:latin typeface="Arial"/>
              </a:rPr>
              <a:t>Tamper-proof record — warranty decided by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09728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Same core, same sensors, different models → the platform extends to pumps, stabilisers and water heaters.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It gives a window, not a date: "replace in 6–14 weeks".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Physics first, learning second — every step runs on the ESP32.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221E1F"/>
                </a:solidFill>
                <a:latin typeface="Arial"/>
              </a:rPr>
              <a:t>1 Hz sensing</a:t>
            </a:r>
          </a:p>
          <a:p>
            <a:pPr algn="ctr"/>
            <a:r>
              <a:rPr sz="1300" b="0">
                <a:solidFill>
                  <a:srgbClr val="221E1F"/>
                </a:solidFill>
                <a:latin typeface="Arial"/>
              </a:rPr>
              <a:t>I · V · 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96312" y="1801368"/>
            <a:ext cx="301752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34640" y="14630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FCB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221E1F"/>
                </a:solidFill>
                <a:latin typeface="Arial"/>
              </a:rPr>
              <a:t>Kalman filter</a:t>
            </a:r>
          </a:p>
          <a:p>
            <a:pPr algn="ctr"/>
            <a:r>
              <a:rPr sz="1300" b="0">
                <a:solidFill>
                  <a:srgbClr val="221E1F"/>
                </a:solidFill>
                <a:latin typeface="Arial"/>
              </a:rPr>
              <a:t>SoC · R_int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82312" y="1801368"/>
            <a:ext cx="301752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20640" y="14630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FCB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221E1F"/>
                </a:solidFill>
                <a:latin typeface="Arial"/>
              </a:rPr>
              <a:t>14 + 6 features</a:t>
            </a:r>
          </a:p>
          <a:p>
            <a:pPr algn="ctr"/>
            <a:r>
              <a:rPr sz="1300" b="0">
                <a:solidFill>
                  <a:srgbClr val="221E1F"/>
                </a:solidFill>
                <a:latin typeface="Arial"/>
              </a:rPr>
              <a:t>per outage cycle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68312" y="1801368"/>
            <a:ext cx="301752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06640" y="14630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221E1F"/>
                </a:solidFill>
                <a:latin typeface="Arial"/>
              </a:rPr>
              <a:t>int8 CNN × 3</a:t>
            </a:r>
          </a:p>
          <a:p>
            <a:pPr algn="ctr"/>
            <a:r>
              <a:rPr sz="1300" b="0">
                <a:solidFill>
                  <a:srgbClr val="221E1F"/>
                </a:solidFill>
                <a:latin typeface="Arial"/>
              </a:rPr>
              <a:t>28 k params · 16 KB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54312" y="1801368"/>
            <a:ext cx="301752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92640" y="14630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Grade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window, never a date</a:t>
            </a:r>
          </a:p>
        </p:txBody>
      </p:sp>
      <p:pic>
        <p:nvPicPr>
          <p:cNvPr id="18" name="Picture 17" descr="soh_band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97501"/>
            <a:ext cx="7863840" cy="292039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32520" y="2743200"/>
            <a:ext cx="30175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39200"/>
                </a:solidFill>
                <a:latin typeface="Arial"/>
              </a:rPr>
              <a:t>8.2 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456432"/>
            <a:ext cx="30175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 dirty="0" err="1">
                <a:solidFill>
                  <a:srgbClr val="221E1F"/>
                </a:solidFill>
                <a:latin typeface="Arial"/>
              </a:rPr>
              <a:t>SoH</a:t>
            </a:r>
            <a:r>
              <a:rPr sz="1300" b="0" i="0" dirty="0">
                <a:solidFill>
                  <a:srgbClr val="221E1F"/>
                </a:solidFill>
                <a:latin typeface="Arial"/>
              </a:rPr>
              <a:t> error on 3 never-seen test batteries (synthetic data — honest, not flattering)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4160520"/>
            <a:ext cx="30175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DC300"/>
                </a:solidFill>
                <a:latin typeface="Arial"/>
              </a:rPr>
              <a:t>+0.01 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873752"/>
            <a:ext cx="30175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221E1F"/>
                </a:solidFill>
                <a:latin typeface="Arial"/>
              </a:rPr>
              <a:t>accuracy lost going float → int8 — it fits on the chip for 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5577840"/>
            <a:ext cx="31089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6C757D"/>
                </a:solidFill>
                <a:latin typeface="Arial"/>
              </a:rPr>
              <a:t>Band is calibrated but wide today; the Kochi aging campaign narrows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Same outage, same battery: only Home 1 keeps its fridge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Battery charge through the 7–11 pm cut, straight from our simulation engine; thresholds from design doc 05.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417320"/>
          <a:ext cx="813816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Oval 9"/>
          <p:cNvSpPr/>
          <p:nvPr/>
        </p:nvSpPr>
        <p:spPr>
          <a:xfrm>
            <a:off x="4042714" y="3535641"/>
            <a:ext cx="146304" cy="146304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7306" y="2740113"/>
            <a:ext cx="20574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8860B"/>
                </a:solidFill>
                <a:latin typeface="Arial"/>
              </a:rPr>
              <a:t>8:24 pm · fans &amp; TV deferred
(T2 at 55 %)</a:t>
            </a:r>
          </a:p>
        </p:txBody>
      </p:sp>
      <p:sp>
        <p:nvSpPr>
          <p:cNvPr id="12" name="Oval 11"/>
          <p:cNvSpPr/>
          <p:nvPr/>
        </p:nvSpPr>
        <p:spPr>
          <a:xfrm>
            <a:off x="6393738" y="4829403"/>
            <a:ext cx="146304" cy="146304"/>
          </a:xfrm>
          <a:prstGeom prst="ellipse">
            <a:avLst/>
          </a:prstGeom>
          <a:solidFill>
            <a:srgbClr val="D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8050" y="5039715"/>
            <a:ext cx="21945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63A4F"/>
                </a:solidFill>
                <a:latin typeface="Arial"/>
              </a:rPr>
              <a:t>10:03 pm · Home 6 cut-off:
fridge, router, lights OFF</a:t>
            </a:r>
          </a:p>
        </p:txBody>
      </p:sp>
      <p:sp>
        <p:nvSpPr>
          <p:cNvPr id="14" name="Oval 13"/>
          <p:cNvSpPr/>
          <p:nvPr/>
        </p:nvSpPr>
        <p:spPr>
          <a:xfrm>
            <a:off x="7216597" y="4090111"/>
            <a:ext cx="146304" cy="146304"/>
          </a:xfrm>
          <a:prstGeom prst="ellipse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2469" y="4346143"/>
            <a:ext cx="23774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9200"/>
                </a:solidFill>
                <a:latin typeface="Arial"/>
              </a:rPr>
              <a:t>10:37 pm · heavy sockets shed
(T3 at 40 %)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463040"/>
            <a:ext cx="283464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D63A4F"/>
                </a:solidFill>
                <a:latin typeface="Arial"/>
              </a:rPr>
              <a:t>57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176272"/>
            <a:ext cx="283464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Home 6 sat in the dark until mains returned at 11 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926080"/>
            <a:ext cx="283464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E9E5A"/>
                </a:solidFill>
                <a:latin typeface="Arial"/>
              </a:rPr>
              <a:t>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639312"/>
            <a:ext cx="283464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Home 1's fridge, router and hall light were never 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434840"/>
            <a:ext cx="283464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Coil off = load on.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NC contactors, a hardware supervisory timer and a medical jumper: any crash or reset brings every load 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One sensor saves energy and catches a misbehaving grid.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Both run on the metering front-end (ATM90E32AS) and the isolated voltage tap (AMC1311) — outputs of the team's own detector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pic>
        <p:nvPicPr>
          <p:cNvPr id="9" name="Picture 8" descr="nilm_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86271"/>
            <a:ext cx="5577840" cy="2262497"/>
          </a:xfrm>
          <a:prstGeom prst="rect">
            <a:avLst/>
          </a:prstGeom>
        </p:spPr>
      </p:pic>
      <p:pic>
        <p:nvPicPr>
          <p:cNvPr id="10" name="Picture 9" descr="pq_d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18277"/>
            <a:ext cx="5577840" cy="2198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709160"/>
            <a:ext cx="539496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39200"/>
                </a:solidFill>
                <a:latin typeface="Arial"/>
              </a:rPr>
              <a:t>Energy Coach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123 switch-ON/OFF events found in 3 h of whole-home power; each becomes a 13-number signature. Fridge F1 0.97, iron 1.00.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709160"/>
            <a:ext cx="539496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63A4F"/>
                </a:solidFill>
                <a:latin typeface="Arial"/>
              </a:rPr>
              <a:t>Grid Shield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a 120 ms sag to 0.55 pu measured as 0.54; a 100 ms swell to 1.15 pu as 1.16. 13 / 13 dips caught. Logged, dated, signed.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Inside the inverter, Sentinel taps what's already there.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A9B0BC"/>
                </a:solidFill>
                <a:latin typeface="Arial"/>
              </a:rPr>
              <a:t>Our 3D proof of concept of the Embedded SKU: lid off, every part clickable, live power 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pic>
        <p:nvPicPr>
          <p:cNvPr id="10" name="Picture 9" descr="b_insid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13515"/>
            <a:ext cx="7040880" cy="4562490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1" name="Oval 10"/>
          <p:cNvSpPr/>
          <p:nvPr/>
        </p:nvSpPr>
        <p:spPr>
          <a:xfrm>
            <a:off x="7863840" y="150876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46304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Inverter's own shunt (I8)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→ INA228 · battery current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2441448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95728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Mode / mains line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→ PC817 opto · outage vote s2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3374136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28416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SG3525 charge feedback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→ MCP4725 DAC · temperature-compensated charging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4306824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261104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AC-OUT rail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→ AMC1311 + ATM90E32AS · V, P, Q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0" y="5239512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193792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 coil outputs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→ NC contactor panel · T1 / T2 / T3 / medical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Designed to be built: 90 × 70 × 35 mm, HV zone fenced 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A9B0BC"/>
                </a:solidFill>
                <a:latin typeface="Arial"/>
              </a:rPr>
              <a:t>Mechanical drawing from our round-3 spec, and the same board as a 3D render in the simulation.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pic>
        <p:nvPicPr>
          <p:cNvPr id="10" name="Picture 9" descr="cad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3067"/>
            <a:ext cx="7589520" cy="4269105"/>
          </a:xfrm>
          <a:prstGeom prst="rect">
            <a:avLst/>
          </a:prstGeom>
        </p:spPr>
      </p:pic>
      <p:pic>
        <p:nvPicPr>
          <p:cNvPr id="11" name="Picture 10" descr="b_board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488277"/>
            <a:ext cx="3520440" cy="2281245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183879" y="3931920"/>
            <a:ext cx="356616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DC300"/>
                </a:solidFill>
                <a:latin typeface="Arial"/>
              </a:rPr>
              <a:t>Battery current never enters the PCB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only the shunt's millivolts do.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DC300"/>
                </a:solidFill>
                <a:latin typeface="Arial"/>
              </a:rPr>
              <a:t>Isolation moat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AMC1311 and PC817 straddle the HV zone.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DC300"/>
                </a:solidFill>
                <a:latin typeface="Arial"/>
              </a:rPr>
              <a:t>UL94 V-0 PC/ABS, 4× M3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DIN or screw mount beside the inverter.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And this is exactly how the bench is wired.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Tier-0 demonstrator from prototype doc 05 — every part available from Indian distributors today.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pic>
        <p:nvPicPr>
          <p:cNvPr id="9" name="Picture 8" descr="bench_ske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2588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Let's watch it happen —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A9B0BC"/>
                </a:solidFill>
                <a:latin typeface="Arial"/>
              </a:rPr>
              <a:t>Sentinel Live runs offline in one HTML file. Three moments to watch for: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pic>
        <p:nvPicPr>
          <p:cNvPr id="10" name="Picture 9" descr="v_overview_ou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40217"/>
            <a:ext cx="3566160" cy="2005965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48640" y="4114800"/>
            <a:ext cx="3566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DC300"/>
                </a:solidFill>
                <a:latin typeface="Arial"/>
              </a:rPr>
              <a:t>1 · The village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17720"/>
            <a:ext cx="356616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Feeder cuts at 7 pm. Watch Home 6 go dark at 10:03 while its twin stays lit.</a:t>
            </a:r>
          </a:p>
        </p:txBody>
      </p:sp>
      <p:pic>
        <p:nvPicPr>
          <p:cNvPr id="13" name="Picture 12" descr="b_transfer_slow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740217"/>
            <a:ext cx="3566160" cy="2005965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343400" y="4114800"/>
            <a:ext cx="3566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DC300"/>
                </a:solidFill>
                <a:latin typeface="Arial"/>
              </a:rPr>
              <a:t>2 · Flip the MCB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617720"/>
            <a:ext cx="356616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Relay swings in slow motion: 8 ms gap on the scope, outage confirmed in 1.5 s.</a:t>
            </a:r>
          </a:p>
        </p:txBody>
      </p:sp>
      <p:pic>
        <p:nvPicPr>
          <p:cNvPr id="16" name="Picture 15" descr="b_failsafe_res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740217"/>
            <a:ext cx="3566160" cy="2005965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8138160" y="4114800"/>
            <a:ext cx="3566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DC300"/>
                </a:solidFill>
                <a:latin typeface="Arial"/>
              </a:rPr>
              <a:t>3 · Crash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617720"/>
            <a:ext cx="356616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Drop SoC below 40 % → the iron sheds. Reset the chip → every load comes 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What's proven, what's synthetic, and what still needs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We'd rather you trust three honest columns than one shiny number.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39200"/>
                </a:solidFill>
                <a:latin typeface="Arial"/>
              </a:rPr>
              <a:t>245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automated tests, all 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371600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39200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84832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C modules bit-identical to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71600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39200"/>
                </a:solidFill>
                <a:latin typeface="Arial"/>
              </a:rPr>
              <a:t>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84832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Kalman SoC error vs 7.2 %/week naive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371600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39200"/>
                </a:solidFill>
                <a:latin typeface="Arial"/>
              </a:rPr>
              <a:t>13 /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084832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grid dips detected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63240"/>
            <a:ext cx="3566160" cy="306324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20040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104"/>
                </a:solidFill>
                <a:latin typeface="Arial"/>
              </a:rPr>
              <a:t>PROVEN IN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49039"/>
            <a:ext cx="3200400" cy="2286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int8 model exported + golden self-test in C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autopilot: 50 / 50 C scenarios, zero chatter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signed log: tamper, delete, replay caught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063240"/>
            <a:ext cx="3566160" cy="3063240"/>
          </a:xfrm>
          <a:prstGeom prst="roundRect">
            <a:avLst>
              <a:gd name="adj" fmla="val 8000"/>
            </a:avLst>
          </a:prstGeom>
          <a:solidFill>
            <a:srgbClr val="FCB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20040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104"/>
                </a:solidFill>
                <a:latin typeface="Arial"/>
              </a:rPr>
              <a:t>SYNTHETIC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49039"/>
            <a:ext cx="3200400" cy="2286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SoH 8.2 pt on simulated tubular batteries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RUL band calibrated (0.99) but wide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NILM / PQ on synthetic streams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063240"/>
            <a:ext cx="3566160" cy="306324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60" y="320040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104"/>
                </a:solidFill>
                <a:latin typeface="Arial"/>
              </a:rPr>
              <a:t>NEEDS HARDWARE /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49039"/>
            <a:ext cx="3200400" cy="2286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ESP32 flash + latency on silicon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real bench: battery, CT, relays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aging campaign → real SoH accuracy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Two SKUs, one board — for 5–14 % of what one battery costs.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Cost stated by the engines each tier enables (design decision D7), against a ₹15 k tubular battery.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417320"/>
          <a:ext cx="67665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80673" y="3922776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₹750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1587" y="3466307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₹1,050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502" y="1944745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₹1,650–2,050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3416" y="3998854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₹450–700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4331" y="3085917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₹850–1,300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463040"/>
            <a:ext cx="4069080" cy="214884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1600200"/>
            <a:ext cx="3657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0104"/>
                </a:solidFill>
                <a:latin typeface="Arial"/>
              </a:rPr>
              <a:t>Sentinel-Embedded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103120"/>
            <a:ext cx="365760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Inside new V-Guard inverters. Taps the inverter's own shunt; controls the charger through a DAC with a hardware ceiling. Life-extension claims live here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840480"/>
            <a:ext cx="4069080" cy="214884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3977640"/>
            <a:ext cx="3657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0104"/>
                </a:solidFill>
                <a:latin typeface="Arial"/>
              </a:rPr>
              <a:t>Sentinel-Retrofit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480560"/>
            <a:ext cx="365760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Box beside any inverter. External shunt, NTC, CT and 4 fail-safe contactors. Advisory on charging, protective on loads. ≈ 2.6 mA average draw.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Three validation gates — and what we need to pass the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234440" y="1554480"/>
            <a:ext cx="2971800" cy="274320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35661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39200"/>
                </a:solidFill>
                <a:latin typeface="Arial"/>
              </a:rPr>
              <a:t>GATE 1 ·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C757D"/>
                </a:solidFill>
                <a:latin typeface="Arial"/>
              </a:rPr>
              <a:t>6–8 months · Kochi reliability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352044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24–36 tubular batteries at 3 temperatures × 3 depths → real SoH labels and a measured life-extension number</a:t>
            </a:r>
          </a:p>
        </p:txBody>
      </p:sp>
      <p:sp>
        <p:nvSpPr>
          <p:cNvPr id="13" name="Oval 12"/>
          <p:cNvSpPr/>
          <p:nvPr/>
        </p:nvSpPr>
        <p:spPr>
          <a:xfrm>
            <a:off x="4343400" y="1417320"/>
            <a:ext cx="548640" cy="54864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29200" y="1554480"/>
            <a:ext cx="2971800" cy="274320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2148840"/>
            <a:ext cx="35661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39200"/>
                </a:solidFill>
                <a:latin typeface="Arial"/>
              </a:rPr>
              <a:t>GATE 2 · FIELD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560320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C757D"/>
                </a:solidFill>
                <a:latin typeface="Arial"/>
              </a:rPr>
              <a:t>6 months · 100 retrofit homes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352044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SoC within 3 %, ≥ 75 % RUL-window hit rate, zero unsafe sheds, fridge/AC F1 ≥ 0.8</a:t>
            </a:r>
          </a:p>
        </p:txBody>
      </p:sp>
      <p:sp>
        <p:nvSpPr>
          <p:cNvPr id="18" name="Oval 17"/>
          <p:cNvSpPr/>
          <p:nvPr/>
        </p:nvSpPr>
        <p:spPr>
          <a:xfrm>
            <a:off x="8138160" y="1417320"/>
            <a:ext cx="548640" cy="54864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148840"/>
            <a:ext cx="35661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39200"/>
                </a:solidFill>
                <a:latin typeface="Arial"/>
              </a:rPr>
              <a:t>GATE 3 ·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560320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C757D"/>
                </a:solidFill>
                <a:latin typeface="Arial"/>
              </a:rPr>
              <a:t>Smart Pro family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71800"/>
            <a:ext cx="352044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Embedded SKU into the inverter that already has Wi-Fi, BLE and the Smart 2.0 app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26280"/>
            <a:ext cx="11109960" cy="1600200"/>
          </a:xfrm>
          <a:prstGeom prst="roundRect">
            <a:avLst>
              <a:gd name="adj" fmla="val 8000"/>
            </a:avLst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663440"/>
            <a:ext cx="512064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DC300"/>
                </a:solidFill>
                <a:latin typeface="Arial"/>
              </a:rPr>
              <a:t>What V-Guard gains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battery replacements at the right time · warranty by evidence · a premium 'intelligent' tier · a fleet-data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663440"/>
            <a:ext cx="521208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DC300"/>
                </a:solidFill>
                <a:latin typeface="Arial"/>
              </a:rPr>
              <a:t>What we ask for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one opened Prime-series inverter + charger schematic · ESP32 bench parts · batteries and cyclers for Gate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88575" y="338328"/>
            <a:ext cx="1554480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 dirty="0">
                <a:solidFill>
                  <a:srgbClr val="6C757D"/>
                </a:solidFill>
                <a:latin typeface="Arial"/>
              </a:rPr>
              <a:t>APPENDIX </a:t>
            </a:r>
          </a:p>
        </p:txBody>
      </p:sp>
      <p:pic>
        <p:nvPicPr>
          <p:cNvPr id="10" name="Picture 9" descr="b_shed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95740"/>
            <a:ext cx="5852160" cy="37921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1325880"/>
            <a:ext cx="5029200" cy="4754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39200"/>
                </a:solidFill>
                <a:latin typeface="Arial"/>
              </a:rPr>
              <a:t>Isolation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reinforced AMC1311 barrier; HV zone behind a moat; TVS on every line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39200"/>
                </a:solidFill>
                <a:latin typeface="Arial"/>
              </a:rPr>
              <a:t>Fail-safe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NC contactors — any fault, reset or brown-out brings loads back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39200"/>
                </a:solidFill>
                <a:latin typeface="Arial"/>
              </a:rPr>
              <a:t>Standards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IS 13252 / IEC 62368-1 (BIS gate) · IEC 62040 UPS · IEC 61000 EMC · IEEE 1159 / IEC 61000-4-30 Class-S-like PQ · UL94 V-0 enclosure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39200"/>
                </a:solidFill>
                <a:latin typeface="Arial"/>
              </a:rPr>
              <a:t>Charging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−24 mV/°C compensation, derate above 45 °C, stop at 58 °C, 2 s heartbeat revert to factory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_home1_insid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96085"/>
            <a:ext cx="5788152" cy="366582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00010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760720" cy="2377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FDC300"/>
                </a:solidFill>
                <a:latin typeface="Arial"/>
              </a:rPr>
              <a:t>Coil off means loads on.</a:t>
            </a:r>
          </a:p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FDC300"/>
                </a:solidFill>
                <a:latin typeface="Arial"/>
              </a:rPr>
              <a:t>A window, never a date.</a:t>
            </a:r>
          </a:p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FDC300"/>
                </a:solidFill>
                <a:latin typeface="Arial"/>
              </a:rPr>
              <a:t>Offline first, fleet second.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77639"/>
            <a:ext cx="1097280" cy="54864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54864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Thank you — we'd love your questions.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Team Codey Tingle (TI3271)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60720"/>
            <a:ext cx="21107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3518</Words>
  <Application>Microsoft Office PowerPoint</Application>
  <PresentationFormat>Widescreen</PresentationFormat>
  <Paragraphs>242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Manoj Garg</cp:lastModifiedBy>
  <cp:revision>3</cp:revision>
  <dcterms:created xsi:type="dcterms:W3CDTF">2013-01-27T09:14:16Z</dcterms:created>
  <dcterms:modified xsi:type="dcterms:W3CDTF">2026-09-23T22:52:13Z</dcterms:modified>
  <cp:category/>
</cp:coreProperties>
</file>