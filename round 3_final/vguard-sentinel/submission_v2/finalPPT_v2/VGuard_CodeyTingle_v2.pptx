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6" r:id="rId24"/>
    <p:sldId id="277" r:id="rId25"/>
    <p:sldId id="270" r:id="rId16"/>
    <p:sldId id="275"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540"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manualLayout>
          <c:layoutTarget val="inner"/>
          <c:xMode val="edge"/>
          <c:yMode val="edge"/>
          <c:x val="7.0000000000000007E-2"/>
          <c:y val="0.11"/>
          <c:w val="0.91"/>
          <c:h val="0.77"/>
        </c:manualLayout>
      </c:layout>
      <c:lineChart>
        <c:grouping val="standard"/>
        <c:varyColors val="0"/>
        <c:ser>
          <c:idx val="0"/>
          <c:order val="0"/>
          <c:tx>
            <c:strRef>
              <c:f>Sheet1!$B$1</c:f>
              <c:strCache>
                <c:ptCount val="1"/>
                <c:pt idx="0">
                  <c:v>Home 1 — with Sentinel</c:v>
                </c:pt>
              </c:strCache>
            </c:strRef>
          </c:tx>
          <c:spPr>
            <a:ln w="44450">
              <a:solidFill>
                <a:srgbClr val="F39200"/>
              </a:solidFill>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Sheet1!$B$2:$B$64</c:f>
              <c:numCache>
                <c:formatCode>General</c:formatCode>
                <c:ptCount val="63"/>
                <c:pt idx="0">
                  <c:v>94</c:v>
                </c:pt>
                <c:pt idx="1">
                  <c:v>94</c:v>
                </c:pt>
                <c:pt idx="2">
                  <c:v>94.1</c:v>
                </c:pt>
                <c:pt idx="3">
                  <c:v>94.1</c:v>
                </c:pt>
                <c:pt idx="4">
                  <c:v>94.1</c:v>
                </c:pt>
                <c:pt idx="5">
                  <c:v>94.1</c:v>
                </c:pt>
                <c:pt idx="6">
                  <c:v>94.2</c:v>
                </c:pt>
                <c:pt idx="7">
                  <c:v>94.2</c:v>
                </c:pt>
                <c:pt idx="8">
                  <c:v>94.2</c:v>
                </c:pt>
                <c:pt idx="9">
                  <c:v>92.5</c:v>
                </c:pt>
                <c:pt idx="10">
                  <c:v>90.8</c:v>
                </c:pt>
                <c:pt idx="11">
                  <c:v>89.1</c:v>
                </c:pt>
                <c:pt idx="12">
                  <c:v>85.1</c:v>
                </c:pt>
                <c:pt idx="13">
                  <c:v>81.2</c:v>
                </c:pt>
                <c:pt idx="14">
                  <c:v>77.2</c:v>
                </c:pt>
                <c:pt idx="15">
                  <c:v>72.2</c:v>
                </c:pt>
                <c:pt idx="16">
                  <c:v>70.099999999999994</c:v>
                </c:pt>
                <c:pt idx="17">
                  <c:v>67.900000000000006</c:v>
                </c:pt>
                <c:pt idx="18">
                  <c:v>66.5</c:v>
                </c:pt>
                <c:pt idx="19">
                  <c:v>65.099999999999994</c:v>
                </c:pt>
                <c:pt idx="20">
                  <c:v>63.7</c:v>
                </c:pt>
                <c:pt idx="21">
                  <c:v>61.5</c:v>
                </c:pt>
                <c:pt idx="22">
                  <c:v>59.4</c:v>
                </c:pt>
                <c:pt idx="23">
                  <c:v>57.3</c:v>
                </c:pt>
                <c:pt idx="24">
                  <c:v>55.9</c:v>
                </c:pt>
                <c:pt idx="25">
                  <c:v>54.7</c:v>
                </c:pt>
                <c:pt idx="26">
                  <c:v>54.5</c:v>
                </c:pt>
                <c:pt idx="27">
                  <c:v>53.6</c:v>
                </c:pt>
                <c:pt idx="28">
                  <c:v>52.7</c:v>
                </c:pt>
                <c:pt idx="29">
                  <c:v>51.8</c:v>
                </c:pt>
                <c:pt idx="30">
                  <c:v>51.6</c:v>
                </c:pt>
                <c:pt idx="31">
                  <c:v>51.4</c:v>
                </c:pt>
                <c:pt idx="32">
                  <c:v>51.1</c:v>
                </c:pt>
                <c:pt idx="33">
                  <c:v>50.2</c:v>
                </c:pt>
                <c:pt idx="34">
                  <c:v>49.3</c:v>
                </c:pt>
                <c:pt idx="35">
                  <c:v>48.4</c:v>
                </c:pt>
                <c:pt idx="36">
                  <c:v>48.2</c:v>
                </c:pt>
                <c:pt idx="37">
                  <c:v>48</c:v>
                </c:pt>
                <c:pt idx="38">
                  <c:v>47.8</c:v>
                </c:pt>
                <c:pt idx="39">
                  <c:v>46.9</c:v>
                </c:pt>
                <c:pt idx="40">
                  <c:v>46</c:v>
                </c:pt>
                <c:pt idx="41">
                  <c:v>45.1</c:v>
                </c:pt>
                <c:pt idx="42">
                  <c:v>44.9</c:v>
                </c:pt>
                <c:pt idx="43">
                  <c:v>44.7</c:v>
                </c:pt>
                <c:pt idx="44">
                  <c:v>44.5</c:v>
                </c:pt>
                <c:pt idx="45">
                  <c:v>43.6</c:v>
                </c:pt>
                <c:pt idx="46">
                  <c:v>42.6</c:v>
                </c:pt>
                <c:pt idx="47">
                  <c:v>41.7</c:v>
                </c:pt>
                <c:pt idx="48">
                  <c:v>41.5</c:v>
                </c:pt>
                <c:pt idx="49">
                  <c:v>41.3</c:v>
                </c:pt>
                <c:pt idx="50">
                  <c:v>41.1</c:v>
                </c:pt>
                <c:pt idx="51">
                  <c:v>40.200000000000003</c:v>
                </c:pt>
                <c:pt idx="52">
                  <c:v>39.299999999999997</c:v>
                </c:pt>
                <c:pt idx="53">
                  <c:v>38.4</c:v>
                </c:pt>
                <c:pt idx="54">
                  <c:v>38.200000000000003</c:v>
                </c:pt>
                <c:pt idx="55">
                  <c:v>38</c:v>
                </c:pt>
                <c:pt idx="56">
                  <c:v>37.799999999999997</c:v>
                </c:pt>
                <c:pt idx="57">
                  <c:v>38.6</c:v>
                </c:pt>
                <c:pt idx="58">
                  <c:v>39.4</c:v>
                </c:pt>
                <c:pt idx="59">
                  <c:v>40.200000000000003</c:v>
                </c:pt>
                <c:pt idx="60">
                  <c:v>41</c:v>
                </c:pt>
                <c:pt idx="61">
                  <c:v>41.8</c:v>
                </c:pt>
                <c:pt idx="62">
                  <c:v>42.6</c:v>
                </c:pt>
              </c:numCache>
            </c:numRef>
          </c:val>
          <c:smooth val="0"/>
          <c:extLst>
            <c:ext xmlns:c16="http://schemas.microsoft.com/office/drawing/2014/chart" uri="{C3380CC4-5D6E-409C-BE32-E72D297353CC}">
              <c16:uniqueId val="{00000000-A84F-467F-B685-7FA47FF5F03A}"/>
            </c:ext>
          </c:extLst>
        </c:ser>
        <c:ser>
          <c:idx val="1"/>
          <c:order val="1"/>
          <c:tx>
            <c:strRef>
              <c:f>Sheet1!$C$1</c:f>
              <c:strCache>
                <c:ptCount val="1"/>
                <c:pt idx="0">
                  <c:v>Home 6 — no Sentinel</c:v>
                </c:pt>
              </c:strCache>
            </c:strRef>
          </c:tx>
          <c:spPr>
            <a:ln w="44450">
              <a:solidFill>
                <a:srgbClr val="221E1F"/>
              </a:solidFill>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Sheet1!$C$2:$C$64</c:f>
              <c:numCache>
                <c:formatCode>General</c:formatCode>
                <c:ptCount val="63"/>
                <c:pt idx="0">
                  <c:v>94</c:v>
                </c:pt>
                <c:pt idx="1">
                  <c:v>94</c:v>
                </c:pt>
                <c:pt idx="2">
                  <c:v>94.1</c:v>
                </c:pt>
                <c:pt idx="3">
                  <c:v>94.1</c:v>
                </c:pt>
                <c:pt idx="4">
                  <c:v>94.1</c:v>
                </c:pt>
                <c:pt idx="5">
                  <c:v>94.1</c:v>
                </c:pt>
                <c:pt idx="6">
                  <c:v>94.2</c:v>
                </c:pt>
                <c:pt idx="7">
                  <c:v>94.2</c:v>
                </c:pt>
                <c:pt idx="8">
                  <c:v>94.2</c:v>
                </c:pt>
                <c:pt idx="9">
                  <c:v>92.5</c:v>
                </c:pt>
                <c:pt idx="10">
                  <c:v>90.8</c:v>
                </c:pt>
                <c:pt idx="11">
                  <c:v>89.1</c:v>
                </c:pt>
                <c:pt idx="12">
                  <c:v>85.1</c:v>
                </c:pt>
                <c:pt idx="13">
                  <c:v>81.2</c:v>
                </c:pt>
                <c:pt idx="14">
                  <c:v>77.2</c:v>
                </c:pt>
                <c:pt idx="15">
                  <c:v>72.2</c:v>
                </c:pt>
                <c:pt idx="16">
                  <c:v>70.099999999999994</c:v>
                </c:pt>
                <c:pt idx="17">
                  <c:v>67.900000000000006</c:v>
                </c:pt>
                <c:pt idx="18">
                  <c:v>66.5</c:v>
                </c:pt>
                <c:pt idx="19">
                  <c:v>65.099999999999994</c:v>
                </c:pt>
                <c:pt idx="20">
                  <c:v>63.7</c:v>
                </c:pt>
                <c:pt idx="21">
                  <c:v>61.5</c:v>
                </c:pt>
                <c:pt idx="22">
                  <c:v>59.4</c:v>
                </c:pt>
                <c:pt idx="23">
                  <c:v>57.3</c:v>
                </c:pt>
                <c:pt idx="24">
                  <c:v>55.9</c:v>
                </c:pt>
                <c:pt idx="25">
                  <c:v>54.4</c:v>
                </c:pt>
                <c:pt idx="26">
                  <c:v>53</c:v>
                </c:pt>
                <c:pt idx="27">
                  <c:v>50.9</c:v>
                </c:pt>
                <c:pt idx="28">
                  <c:v>48.8</c:v>
                </c:pt>
                <c:pt idx="29">
                  <c:v>46.6</c:v>
                </c:pt>
                <c:pt idx="30">
                  <c:v>45.2</c:v>
                </c:pt>
                <c:pt idx="31">
                  <c:v>43.8</c:v>
                </c:pt>
                <c:pt idx="32">
                  <c:v>42.4</c:v>
                </c:pt>
                <c:pt idx="33">
                  <c:v>40.200000000000003</c:v>
                </c:pt>
                <c:pt idx="34">
                  <c:v>38.1</c:v>
                </c:pt>
                <c:pt idx="35">
                  <c:v>36</c:v>
                </c:pt>
                <c:pt idx="36">
                  <c:v>34.6</c:v>
                </c:pt>
                <c:pt idx="37">
                  <c:v>33.299999999999997</c:v>
                </c:pt>
                <c:pt idx="38">
                  <c:v>31.9</c:v>
                </c:pt>
                <c:pt idx="39">
                  <c:v>29.8</c:v>
                </c:pt>
                <c:pt idx="40">
                  <c:v>27.7</c:v>
                </c:pt>
                <c:pt idx="41">
                  <c:v>25.7</c:v>
                </c:pt>
                <c:pt idx="42">
                  <c:v>24.3</c:v>
                </c:pt>
                <c:pt idx="43">
                  <c:v>22.9</c:v>
                </c:pt>
                <c:pt idx="44">
                  <c:v>21.6</c:v>
                </c:pt>
                <c:pt idx="45">
                  <c:v>20</c:v>
                </c:pt>
                <c:pt idx="46">
                  <c:v>20</c:v>
                </c:pt>
                <c:pt idx="47">
                  <c:v>20</c:v>
                </c:pt>
                <c:pt idx="48">
                  <c:v>20</c:v>
                </c:pt>
                <c:pt idx="49">
                  <c:v>20</c:v>
                </c:pt>
                <c:pt idx="50">
                  <c:v>20</c:v>
                </c:pt>
                <c:pt idx="51">
                  <c:v>20</c:v>
                </c:pt>
                <c:pt idx="52">
                  <c:v>20</c:v>
                </c:pt>
                <c:pt idx="53">
                  <c:v>20</c:v>
                </c:pt>
                <c:pt idx="54">
                  <c:v>20</c:v>
                </c:pt>
                <c:pt idx="55">
                  <c:v>20</c:v>
                </c:pt>
                <c:pt idx="56">
                  <c:v>20</c:v>
                </c:pt>
                <c:pt idx="57">
                  <c:v>20.8</c:v>
                </c:pt>
                <c:pt idx="58">
                  <c:v>21.6</c:v>
                </c:pt>
                <c:pt idx="59">
                  <c:v>22.4</c:v>
                </c:pt>
                <c:pt idx="60">
                  <c:v>23.2</c:v>
                </c:pt>
                <c:pt idx="61">
                  <c:v>24</c:v>
                </c:pt>
                <c:pt idx="62">
                  <c:v>24.8</c:v>
                </c:pt>
              </c:numCache>
            </c:numRef>
          </c:val>
          <c:smooth val="0"/>
          <c:extLst>
            <c:ext xmlns:c16="http://schemas.microsoft.com/office/drawing/2014/chart" uri="{C3380CC4-5D6E-409C-BE32-E72D297353CC}">
              <c16:uniqueId val="{00000001-A84F-467F-B685-7FA47FF5F03A}"/>
            </c:ext>
          </c:extLst>
        </c:ser>
        <c:ser>
          <c:idx val="2"/>
          <c:order val="2"/>
          <c:tx>
            <c:strRef>
              <c:f>Sheet1!$D$1</c:f>
              <c:strCache>
                <c:ptCount val="1"/>
                <c:pt idx="0">
                  <c:v>T2 defer 55 %</c:v>
                </c:pt>
              </c:strCache>
            </c:strRef>
          </c:tx>
          <c:spPr>
            <a:ln w="15875">
              <a:solidFill>
                <a:srgbClr val="E0A800"/>
              </a:solidFill>
              <a:prstDash val="dash"/>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Sheet1!$D$2:$D$64</c:f>
              <c:numCache>
                <c:formatCode>General</c:formatCode>
                <c:ptCount val="63"/>
                <c:pt idx="0">
                  <c:v>55</c:v>
                </c:pt>
                <c:pt idx="1">
                  <c:v>55</c:v>
                </c:pt>
                <c:pt idx="2">
                  <c:v>55</c:v>
                </c:pt>
                <c:pt idx="3">
                  <c:v>55</c:v>
                </c:pt>
                <c:pt idx="4">
                  <c:v>55</c:v>
                </c:pt>
                <c:pt idx="5">
                  <c:v>55</c:v>
                </c:pt>
                <c:pt idx="6">
                  <c:v>55</c:v>
                </c:pt>
                <c:pt idx="7">
                  <c:v>55</c:v>
                </c:pt>
                <c:pt idx="8">
                  <c:v>55</c:v>
                </c:pt>
                <c:pt idx="9">
                  <c:v>55</c:v>
                </c:pt>
                <c:pt idx="10">
                  <c:v>55</c:v>
                </c:pt>
                <c:pt idx="11">
                  <c:v>55</c:v>
                </c:pt>
                <c:pt idx="12">
                  <c:v>55</c:v>
                </c:pt>
                <c:pt idx="13">
                  <c:v>55</c:v>
                </c:pt>
                <c:pt idx="14">
                  <c:v>55</c:v>
                </c:pt>
                <c:pt idx="15">
                  <c:v>55</c:v>
                </c:pt>
                <c:pt idx="16">
                  <c:v>55</c:v>
                </c:pt>
                <c:pt idx="17">
                  <c:v>55</c:v>
                </c:pt>
                <c:pt idx="18">
                  <c:v>55</c:v>
                </c:pt>
                <c:pt idx="19">
                  <c:v>55</c:v>
                </c:pt>
                <c:pt idx="20">
                  <c:v>55</c:v>
                </c:pt>
                <c:pt idx="21">
                  <c:v>55</c:v>
                </c:pt>
                <c:pt idx="22">
                  <c:v>55</c:v>
                </c:pt>
                <c:pt idx="23">
                  <c:v>55</c:v>
                </c:pt>
                <c:pt idx="24">
                  <c:v>55</c:v>
                </c:pt>
                <c:pt idx="25">
                  <c:v>55</c:v>
                </c:pt>
                <c:pt idx="26">
                  <c:v>55</c:v>
                </c:pt>
                <c:pt idx="27">
                  <c:v>55</c:v>
                </c:pt>
                <c:pt idx="28">
                  <c:v>55</c:v>
                </c:pt>
                <c:pt idx="29">
                  <c:v>55</c:v>
                </c:pt>
                <c:pt idx="30">
                  <c:v>55</c:v>
                </c:pt>
                <c:pt idx="31">
                  <c:v>55</c:v>
                </c:pt>
                <c:pt idx="32">
                  <c:v>55</c:v>
                </c:pt>
                <c:pt idx="33">
                  <c:v>55</c:v>
                </c:pt>
                <c:pt idx="34">
                  <c:v>55</c:v>
                </c:pt>
                <c:pt idx="35">
                  <c:v>55</c:v>
                </c:pt>
                <c:pt idx="36">
                  <c:v>55</c:v>
                </c:pt>
                <c:pt idx="37">
                  <c:v>55</c:v>
                </c:pt>
                <c:pt idx="38">
                  <c:v>55</c:v>
                </c:pt>
                <c:pt idx="39">
                  <c:v>55</c:v>
                </c:pt>
                <c:pt idx="40">
                  <c:v>55</c:v>
                </c:pt>
                <c:pt idx="41">
                  <c:v>55</c:v>
                </c:pt>
                <c:pt idx="42">
                  <c:v>55</c:v>
                </c:pt>
                <c:pt idx="43">
                  <c:v>55</c:v>
                </c:pt>
                <c:pt idx="44">
                  <c:v>55</c:v>
                </c:pt>
                <c:pt idx="45">
                  <c:v>55</c:v>
                </c:pt>
                <c:pt idx="46">
                  <c:v>55</c:v>
                </c:pt>
                <c:pt idx="47">
                  <c:v>55</c:v>
                </c:pt>
                <c:pt idx="48">
                  <c:v>55</c:v>
                </c:pt>
                <c:pt idx="49">
                  <c:v>55</c:v>
                </c:pt>
                <c:pt idx="50">
                  <c:v>55</c:v>
                </c:pt>
                <c:pt idx="51">
                  <c:v>55</c:v>
                </c:pt>
                <c:pt idx="52">
                  <c:v>55</c:v>
                </c:pt>
                <c:pt idx="53">
                  <c:v>55</c:v>
                </c:pt>
                <c:pt idx="54">
                  <c:v>55</c:v>
                </c:pt>
                <c:pt idx="55">
                  <c:v>55</c:v>
                </c:pt>
                <c:pt idx="56">
                  <c:v>55</c:v>
                </c:pt>
                <c:pt idx="57">
                  <c:v>55</c:v>
                </c:pt>
                <c:pt idx="58">
                  <c:v>55</c:v>
                </c:pt>
                <c:pt idx="59">
                  <c:v>55</c:v>
                </c:pt>
                <c:pt idx="60">
                  <c:v>55</c:v>
                </c:pt>
                <c:pt idx="61">
                  <c:v>55</c:v>
                </c:pt>
                <c:pt idx="62">
                  <c:v>55</c:v>
                </c:pt>
              </c:numCache>
            </c:numRef>
          </c:val>
          <c:smooth val="0"/>
          <c:extLst>
            <c:ext xmlns:c16="http://schemas.microsoft.com/office/drawing/2014/chart" uri="{C3380CC4-5D6E-409C-BE32-E72D297353CC}">
              <c16:uniqueId val="{00000002-A84F-467F-B685-7FA47FF5F03A}"/>
            </c:ext>
          </c:extLst>
        </c:ser>
        <c:ser>
          <c:idx val="3"/>
          <c:order val="3"/>
          <c:tx>
            <c:strRef>
              <c:f>Sheet1!$E$1</c:f>
              <c:strCache>
                <c:ptCount val="1"/>
                <c:pt idx="0">
                  <c:v>T3 shed 40 %</c:v>
                </c:pt>
              </c:strCache>
            </c:strRef>
          </c:tx>
          <c:spPr>
            <a:ln w="15875">
              <a:solidFill>
                <a:srgbClr val="D63A4F"/>
              </a:solidFill>
              <a:prstDash val="dash"/>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Sheet1!$E$2:$E$64</c:f>
              <c:numCache>
                <c:formatCode>General</c:formatCode>
                <c:ptCount val="63"/>
                <c:pt idx="0">
                  <c:v>40</c:v>
                </c:pt>
                <c:pt idx="1">
                  <c:v>40</c:v>
                </c:pt>
                <c:pt idx="2">
                  <c:v>40</c:v>
                </c:pt>
                <c:pt idx="3">
                  <c:v>40</c:v>
                </c:pt>
                <c:pt idx="4">
                  <c:v>40</c:v>
                </c:pt>
                <c:pt idx="5">
                  <c:v>40</c:v>
                </c:pt>
                <c:pt idx="6">
                  <c:v>40</c:v>
                </c:pt>
                <c:pt idx="7">
                  <c:v>40</c:v>
                </c:pt>
                <c:pt idx="8">
                  <c:v>40</c:v>
                </c:pt>
                <c:pt idx="9">
                  <c:v>40</c:v>
                </c:pt>
                <c:pt idx="10">
                  <c:v>40</c:v>
                </c:pt>
                <c:pt idx="11">
                  <c:v>40</c:v>
                </c:pt>
                <c:pt idx="12">
                  <c:v>40</c:v>
                </c:pt>
                <c:pt idx="13">
                  <c:v>40</c:v>
                </c:pt>
                <c:pt idx="14">
                  <c:v>40</c:v>
                </c:pt>
                <c:pt idx="15">
                  <c:v>40</c:v>
                </c:pt>
                <c:pt idx="16">
                  <c:v>40</c:v>
                </c:pt>
                <c:pt idx="17">
                  <c:v>40</c:v>
                </c:pt>
                <c:pt idx="18">
                  <c:v>40</c:v>
                </c:pt>
                <c:pt idx="19">
                  <c:v>40</c:v>
                </c:pt>
                <c:pt idx="20">
                  <c:v>40</c:v>
                </c:pt>
                <c:pt idx="21">
                  <c:v>40</c:v>
                </c:pt>
                <c:pt idx="22">
                  <c:v>40</c:v>
                </c:pt>
                <c:pt idx="23">
                  <c:v>40</c:v>
                </c:pt>
                <c:pt idx="24">
                  <c:v>40</c:v>
                </c:pt>
                <c:pt idx="25">
                  <c:v>40</c:v>
                </c:pt>
                <c:pt idx="26">
                  <c:v>40</c:v>
                </c:pt>
                <c:pt idx="27">
                  <c:v>40</c:v>
                </c:pt>
                <c:pt idx="28">
                  <c:v>40</c:v>
                </c:pt>
                <c:pt idx="29">
                  <c:v>40</c:v>
                </c:pt>
                <c:pt idx="30">
                  <c:v>40</c:v>
                </c:pt>
                <c:pt idx="31">
                  <c:v>40</c:v>
                </c:pt>
                <c:pt idx="32">
                  <c:v>40</c:v>
                </c:pt>
                <c:pt idx="33">
                  <c:v>40</c:v>
                </c:pt>
                <c:pt idx="34">
                  <c:v>40</c:v>
                </c:pt>
                <c:pt idx="35">
                  <c:v>40</c:v>
                </c:pt>
                <c:pt idx="36">
                  <c:v>40</c:v>
                </c:pt>
                <c:pt idx="37">
                  <c:v>40</c:v>
                </c:pt>
                <c:pt idx="38">
                  <c:v>40</c:v>
                </c:pt>
                <c:pt idx="39">
                  <c:v>40</c:v>
                </c:pt>
                <c:pt idx="40">
                  <c:v>40</c:v>
                </c:pt>
                <c:pt idx="41">
                  <c:v>40</c:v>
                </c:pt>
                <c:pt idx="42">
                  <c:v>40</c:v>
                </c:pt>
                <c:pt idx="43">
                  <c:v>40</c:v>
                </c:pt>
                <c:pt idx="44">
                  <c:v>40</c:v>
                </c:pt>
                <c:pt idx="45">
                  <c:v>40</c:v>
                </c:pt>
                <c:pt idx="46">
                  <c:v>40</c:v>
                </c:pt>
                <c:pt idx="47">
                  <c:v>40</c:v>
                </c:pt>
                <c:pt idx="48">
                  <c:v>40</c:v>
                </c:pt>
                <c:pt idx="49">
                  <c:v>40</c:v>
                </c:pt>
                <c:pt idx="50">
                  <c:v>40</c:v>
                </c:pt>
                <c:pt idx="51">
                  <c:v>40</c:v>
                </c:pt>
                <c:pt idx="52">
                  <c:v>40</c:v>
                </c:pt>
                <c:pt idx="53">
                  <c:v>40</c:v>
                </c:pt>
                <c:pt idx="54">
                  <c:v>40</c:v>
                </c:pt>
                <c:pt idx="55">
                  <c:v>40</c:v>
                </c:pt>
                <c:pt idx="56">
                  <c:v>40</c:v>
                </c:pt>
                <c:pt idx="57">
                  <c:v>40</c:v>
                </c:pt>
                <c:pt idx="58">
                  <c:v>40</c:v>
                </c:pt>
                <c:pt idx="59">
                  <c:v>40</c:v>
                </c:pt>
                <c:pt idx="60">
                  <c:v>40</c:v>
                </c:pt>
                <c:pt idx="61">
                  <c:v>40</c:v>
                </c:pt>
                <c:pt idx="62">
                  <c:v>40</c:v>
                </c:pt>
              </c:numCache>
            </c:numRef>
          </c:val>
          <c:smooth val="0"/>
          <c:extLst>
            <c:ext xmlns:c16="http://schemas.microsoft.com/office/drawing/2014/chart" uri="{C3380CC4-5D6E-409C-BE32-E72D297353CC}">
              <c16:uniqueId val="{00000003-A84F-467F-B685-7FA47FF5F03A}"/>
            </c:ext>
          </c:extLst>
        </c:ser>
        <c:ser>
          <c:idx val="4"/>
          <c:order val="4"/>
          <c:tx>
            <c:strRef>
              <c:f>Sheet1!$F$1</c:f>
              <c:strCache>
                <c:ptCount val="1"/>
                <c:pt idx="0">
                  <c:v>cut-off 20 %</c:v>
                </c:pt>
              </c:strCache>
            </c:strRef>
          </c:tx>
          <c:spPr>
            <a:ln w="15875">
              <a:solidFill>
                <a:srgbClr val="6C757D"/>
              </a:solidFill>
              <a:prstDash val="sysDot"/>
            </a:ln>
          </c:spPr>
          <c:marker>
            <c:symbol val="none"/>
          </c:marker>
          <c:cat>
            <c:strRef>
              <c:f>Sheet1!$A$2:$A$64</c:f>
              <c:strCache>
                <c:ptCount val="63"/>
                <c:pt idx="0">
                  <c:v>18:20</c:v>
                </c:pt>
                <c:pt idx="1">
                  <c:v>18:25</c:v>
                </c:pt>
                <c:pt idx="2">
                  <c:v>18:30</c:v>
                </c:pt>
                <c:pt idx="3">
                  <c:v>18:35</c:v>
                </c:pt>
                <c:pt idx="4">
                  <c:v>18:40</c:v>
                </c:pt>
                <c:pt idx="5">
                  <c:v>18:45</c:v>
                </c:pt>
                <c:pt idx="6">
                  <c:v>18:50</c:v>
                </c:pt>
                <c:pt idx="7">
                  <c:v>18:55</c:v>
                </c:pt>
                <c:pt idx="8">
                  <c:v>19:00</c:v>
                </c:pt>
                <c:pt idx="9">
                  <c:v>19:05</c:v>
                </c:pt>
                <c:pt idx="10">
                  <c:v>19:10</c:v>
                </c:pt>
                <c:pt idx="11">
                  <c:v>19:15</c:v>
                </c:pt>
                <c:pt idx="12">
                  <c:v>19:20</c:v>
                </c:pt>
                <c:pt idx="13">
                  <c:v>19:25</c:v>
                </c:pt>
                <c:pt idx="14">
                  <c:v>19:30</c:v>
                </c:pt>
                <c:pt idx="15">
                  <c:v>19:35</c:v>
                </c:pt>
                <c:pt idx="16">
                  <c:v>19:40</c:v>
                </c:pt>
                <c:pt idx="17">
                  <c:v>19:45</c:v>
                </c:pt>
                <c:pt idx="18">
                  <c:v>19:50</c:v>
                </c:pt>
                <c:pt idx="19">
                  <c:v>19:55</c:v>
                </c:pt>
                <c:pt idx="20">
                  <c:v>20:00</c:v>
                </c:pt>
                <c:pt idx="21">
                  <c:v>20:05</c:v>
                </c:pt>
                <c:pt idx="22">
                  <c:v>20:10</c:v>
                </c:pt>
                <c:pt idx="23">
                  <c:v>20:15</c:v>
                </c:pt>
                <c:pt idx="24">
                  <c:v>20:20</c:v>
                </c:pt>
                <c:pt idx="25">
                  <c:v>20:25</c:v>
                </c:pt>
                <c:pt idx="26">
                  <c:v>20:30</c:v>
                </c:pt>
                <c:pt idx="27">
                  <c:v>20:35</c:v>
                </c:pt>
                <c:pt idx="28">
                  <c:v>20:40</c:v>
                </c:pt>
                <c:pt idx="29">
                  <c:v>20:45</c:v>
                </c:pt>
                <c:pt idx="30">
                  <c:v>20:50</c:v>
                </c:pt>
                <c:pt idx="31">
                  <c:v>20:55</c:v>
                </c:pt>
                <c:pt idx="32">
                  <c:v>21:00</c:v>
                </c:pt>
                <c:pt idx="33">
                  <c:v>21:05</c:v>
                </c:pt>
                <c:pt idx="34">
                  <c:v>21:10</c:v>
                </c:pt>
                <c:pt idx="35">
                  <c:v>21:15</c:v>
                </c:pt>
                <c:pt idx="36">
                  <c:v>21:20</c:v>
                </c:pt>
                <c:pt idx="37">
                  <c:v>21:25</c:v>
                </c:pt>
                <c:pt idx="38">
                  <c:v>21:30</c:v>
                </c:pt>
                <c:pt idx="39">
                  <c:v>21:35</c:v>
                </c:pt>
                <c:pt idx="40">
                  <c:v>21:40</c:v>
                </c:pt>
                <c:pt idx="41">
                  <c:v>21:45</c:v>
                </c:pt>
                <c:pt idx="42">
                  <c:v>21:50</c:v>
                </c:pt>
                <c:pt idx="43">
                  <c:v>21:55</c:v>
                </c:pt>
                <c:pt idx="44">
                  <c:v>22:00</c:v>
                </c:pt>
                <c:pt idx="45">
                  <c:v>22:05</c:v>
                </c:pt>
                <c:pt idx="46">
                  <c:v>22:10</c:v>
                </c:pt>
                <c:pt idx="47">
                  <c:v>22:15</c:v>
                </c:pt>
                <c:pt idx="48">
                  <c:v>22:20</c:v>
                </c:pt>
                <c:pt idx="49">
                  <c:v>22:25</c:v>
                </c:pt>
                <c:pt idx="50">
                  <c:v>22:30</c:v>
                </c:pt>
                <c:pt idx="51">
                  <c:v>22:35</c:v>
                </c:pt>
                <c:pt idx="52">
                  <c:v>22:40</c:v>
                </c:pt>
                <c:pt idx="53">
                  <c:v>22:45</c:v>
                </c:pt>
                <c:pt idx="54">
                  <c:v>22:50</c:v>
                </c:pt>
                <c:pt idx="55">
                  <c:v>22:55</c:v>
                </c:pt>
                <c:pt idx="56">
                  <c:v>23:00</c:v>
                </c:pt>
                <c:pt idx="57">
                  <c:v>23:05</c:v>
                </c:pt>
                <c:pt idx="58">
                  <c:v>23:10</c:v>
                </c:pt>
                <c:pt idx="59">
                  <c:v>23:15</c:v>
                </c:pt>
                <c:pt idx="60">
                  <c:v>23:20</c:v>
                </c:pt>
                <c:pt idx="61">
                  <c:v>23:25</c:v>
                </c:pt>
                <c:pt idx="62">
                  <c:v>23:30</c:v>
                </c:pt>
              </c:strCache>
            </c:strRef>
          </c:cat>
          <c:val>
            <c:numRef>
              <c:f>Sheet1!$F$2:$F$64</c:f>
              <c:numCache>
                <c:formatCode>General</c:formatCode>
                <c:ptCount val="63"/>
                <c:pt idx="0">
                  <c:v>20</c:v>
                </c:pt>
                <c:pt idx="1">
                  <c:v>20</c:v>
                </c:pt>
                <c:pt idx="2">
                  <c:v>20</c:v>
                </c:pt>
                <c:pt idx="3">
                  <c:v>20</c:v>
                </c:pt>
                <c:pt idx="4">
                  <c:v>20</c:v>
                </c:pt>
                <c:pt idx="5">
                  <c:v>20</c:v>
                </c:pt>
                <c:pt idx="6">
                  <c:v>20</c:v>
                </c:pt>
                <c:pt idx="7">
                  <c:v>20</c:v>
                </c:pt>
                <c:pt idx="8">
                  <c:v>20</c:v>
                </c:pt>
                <c:pt idx="9">
                  <c:v>20</c:v>
                </c:pt>
                <c:pt idx="10">
                  <c:v>20</c:v>
                </c:pt>
                <c:pt idx="11">
                  <c:v>20</c:v>
                </c:pt>
                <c:pt idx="12">
                  <c:v>20</c:v>
                </c:pt>
                <c:pt idx="13">
                  <c:v>20</c:v>
                </c:pt>
                <c:pt idx="14">
                  <c:v>20</c:v>
                </c:pt>
                <c:pt idx="15">
                  <c:v>20</c:v>
                </c:pt>
                <c:pt idx="16">
                  <c:v>20</c:v>
                </c:pt>
                <c:pt idx="17">
                  <c:v>20</c:v>
                </c:pt>
                <c:pt idx="18">
                  <c:v>20</c:v>
                </c:pt>
                <c:pt idx="19">
                  <c:v>20</c:v>
                </c:pt>
                <c:pt idx="20">
                  <c:v>20</c:v>
                </c:pt>
                <c:pt idx="21">
                  <c:v>20</c:v>
                </c:pt>
                <c:pt idx="22">
                  <c:v>20</c:v>
                </c:pt>
                <c:pt idx="23">
                  <c:v>20</c:v>
                </c:pt>
                <c:pt idx="24">
                  <c:v>20</c:v>
                </c:pt>
                <c:pt idx="25">
                  <c:v>20</c:v>
                </c:pt>
                <c:pt idx="26">
                  <c:v>20</c:v>
                </c:pt>
                <c:pt idx="27">
                  <c:v>20</c:v>
                </c:pt>
                <c:pt idx="28">
                  <c:v>20</c:v>
                </c:pt>
                <c:pt idx="29">
                  <c:v>20</c:v>
                </c:pt>
                <c:pt idx="30">
                  <c:v>20</c:v>
                </c:pt>
                <c:pt idx="31">
                  <c:v>20</c:v>
                </c:pt>
                <c:pt idx="32">
                  <c:v>20</c:v>
                </c:pt>
                <c:pt idx="33">
                  <c:v>20</c:v>
                </c:pt>
                <c:pt idx="34">
                  <c:v>20</c:v>
                </c:pt>
                <c:pt idx="35">
                  <c:v>20</c:v>
                </c:pt>
                <c:pt idx="36">
                  <c:v>20</c:v>
                </c:pt>
                <c:pt idx="37">
                  <c:v>20</c:v>
                </c:pt>
                <c:pt idx="38">
                  <c:v>20</c:v>
                </c:pt>
                <c:pt idx="39">
                  <c:v>20</c:v>
                </c:pt>
                <c:pt idx="40">
                  <c:v>20</c:v>
                </c:pt>
                <c:pt idx="41">
                  <c:v>20</c:v>
                </c:pt>
                <c:pt idx="42">
                  <c:v>20</c:v>
                </c:pt>
                <c:pt idx="43">
                  <c:v>20</c:v>
                </c:pt>
                <c:pt idx="44">
                  <c:v>20</c:v>
                </c:pt>
                <c:pt idx="45">
                  <c:v>20</c:v>
                </c:pt>
                <c:pt idx="46">
                  <c:v>20</c:v>
                </c:pt>
                <c:pt idx="47">
                  <c:v>20</c:v>
                </c:pt>
                <c:pt idx="48">
                  <c:v>20</c:v>
                </c:pt>
                <c:pt idx="49">
                  <c:v>20</c:v>
                </c:pt>
                <c:pt idx="50">
                  <c:v>20</c:v>
                </c:pt>
                <c:pt idx="51">
                  <c:v>20</c:v>
                </c:pt>
                <c:pt idx="52">
                  <c:v>20</c:v>
                </c:pt>
                <c:pt idx="53">
                  <c:v>20</c:v>
                </c:pt>
                <c:pt idx="54">
                  <c:v>20</c:v>
                </c:pt>
                <c:pt idx="55">
                  <c:v>20</c:v>
                </c:pt>
                <c:pt idx="56">
                  <c:v>20</c:v>
                </c:pt>
                <c:pt idx="57">
                  <c:v>20</c:v>
                </c:pt>
                <c:pt idx="58">
                  <c:v>20</c:v>
                </c:pt>
                <c:pt idx="59">
                  <c:v>20</c:v>
                </c:pt>
                <c:pt idx="60">
                  <c:v>20</c:v>
                </c:pt>
                <c:pt idx="61">
                  <c:v>20</c:v>
                </c:pt>
                <c:pt idx="62">
                  <c:v>20</c:v>
                </c:pt>
              </c:numCache>
            </c:numRef>
          </c:val>
          <c:smooth val="0"/>
          <c:extLst>
            <c:ext xmlns:c16="http://schemas.microsoft.com/office/drawing/2014/chart" uri="{C3380CC4-5D6E-409C-BE32-E72D297353CC}">
              <c16:uniqueId val="{00000004-A84F-467F-B685-7FA47FF5F03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100">
                <a:latin typeface="Arial"/>
              </a:defRPr>
            </a:pPr>
            <a:endParaRPr lang="en-US"/>
          </a:p>
        </c:txPr>
        <c:crossAx val="2140495176"/>
        <c:crosses val="autoZero"/>
        <c:auto val="1"/>
        <c:lblAlgn val="ctr"/>
        <c:lblOffset val="100"/>
        <c:tickLblSkip val="6"/>
        <c:tickMarkSkip val="6"/>
        <c:noMultiLvlLbl val="0"/>
      </c:catAx>
      <c:valAx>
        <c:axId val="2140495176"/>
        <c:scaling>
          <c:orientation val="minMax"/>
          <c:max val="100"/>
          <c:min val="0"/>
        </c:scaling>
        <c:delete val="0"/>
        <c:axPos val="l"/>
        <c:majorGridlines>
          <c:spPr>
            <a:ln>
              <a:solidFill>
                <a:srgbClr val="E4E4E4"/>
              </a:solidFill>
            </a:ln>
          </c:spPr>
        </c:majorGridlines>
        <c:numFmt formatCode="General" sourceLinked="1"/>
        <c:majorTickMark val="out"/>
        <c:minorTickMark val="none"/>
        <c:tickLblPos val="nextTo"/>
        <c:spPr>
          <a:ln>
            <a:noFill/>
          </a:ln>
        </c:spPr>
        <c:txPr>
          <a:bodyPr/>
          <a:lstStyle/>
          <a:p>
            <a:pPr>
              <a:defRPr sz="1100">
                <a:latin typeface="Arial"/>
              </a:defRPr>
            </a:pPr>
            <a:endParaRPr lang="en-US"/>
          </a:p>
        </c:txPr>
        <c:crossAx val="2118791784"/>
        <c:crosses val="autoZero"/>
        <c:crossBetween val="between"/>
        <c:majorUnit val="20"/>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
          <c:w val="0.96"/>
          <c:h val="0.7"/>
        </c:manualLayout>
      </c:layout>
      <c:barChart>
        <c:barDir val="col"/>
        <c:grouping val="clustered"/>
        <c:ser>
          <c:idx val="0"/>
          <c:order val="0"/>
          <c:tx>
            <c:strRef>
              <c:f>Sheet1!$B$1</c:f>
              <c:strCache>
                <c:ptCount val="1"/>
                <c:pt idx="0">
                  <c:v>rev</c:v>
                </c:pt>
              </c:strCache>
            </c:strRef>
          </c:tx>
          <c:dPt>
            <c:idx val="0"/>
            <c:spPr>
              <a:solidFill>
                <a:srgbClr val="000104"/>
              </a:solidFill>
              <a:ln w="15875">
                <a:solidFill>
                  <a:srgbClr val="000104"/>
                </a:solidFill>
              </a:ln>
            </c:spPr>
          </c:dPt>
          <c:dPt>
            <c:idx val="1"/>
            <c:spPr>
              <a:solidFill>
                <a:srgbClr val="FFFFFF"/>
              </a:solidFill>
              <a:ln w="15875">
                <a:solidFill>
                  <a:srgbClr val="000104"/>
                </a:solidFill>
              </a:ln>
            </c:spPr>
          </c:dPt>
          <c:dPt>
            <c:idx val="2"/>
            <c:spPr>
              <a:solidFill>
                <a:srgbClr val="FDC300"/>
              </a:solidFill>
              <a:ln w="15875">
                <a:solidFill>
                  <a:srgbClr val="000104"/>
                </a:solidFill>
              </a:ln>
            </c:spPr>
          </c:dPt>
          <c:dPt>
            <c:idx val="3"/>
            <c:spPr>
              <a:solidFill>
                <a:srgbClr val="FDC300"/>
              </a:solidFill>
              <a:ln w="15875">
                <a:solidFill>
                  <a:srgbClr val="000104"/>
                </a:solidFill>
              </a:ln>
            </c:spPr>
          </c:dPt>
          <c:cat>
            <c:strRef>
              <c:f>Sheet1!$A$2:$A$5</c:f>
              <c:strCache>
                <c:ptCount val="4"/>
                <c:pt idx="0">
                  <c:v>Today</c:v>
                </c:pt>
                <c:pt idx="1">
                  <c:v>Longer life,
same share</c:v>
                </c:pt>
                <c:pt idx="2">
                  <c:v>48 % share</c:v>
                </c:pt>
                <c:pt idx="3">
                  <c:v>55 % share</c:v>
                </c:pt>
              </c:strCache>
            </c:strRef>
          </c:cat>
          <c:val>
            <c:numRef>
              <c:f>Sheet1!$B$2:$B$5</c:f>
              <c:numCache>
                <c:formatCode>General</c:formatCode>
                <c:ptCount val="4"/>
                <c:pt idx="0">
                  <c:v>15.0</c:v>
                </c:pt>
                <c:pt idx="1">
                  <c:v>12.5</c:v>
                </c:pt>
                <c:pt idx="2">
                  <c:v>15.0</c:v>
                </c:pt>
                <c:pt idx="3">
                  <c:v>17.2</c:v>
                </c:pt>
              </c:numCache>
            </c:numRef>
          </c:val>
        </c:ser>
        <c:dLbls>
          <c:numFmt formatCode="&quot;₹&quot;0.0&quot; cr&quot;" sourceLinked="0"/>
          <c:txPr>
            <a:bodyPr/>
            <a:lstStyle/>
            <a:p>
              <a:pPr>
                <a:defRPr sz="1400" b="1">
                  <a:solidFill>
                    <a:srgbClr val="000104"/>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200">
                <a:latin typeface="Arial"/>
              </a:defRPr>
            </a:pPr>
          </a:p>
        </c:txPr>
        <c:crossAx val="-2113994440"/>
        <c:crosses val="autoZero"/>
        <c:auto val="1"/>
        <c:lblAlgn val="ctr"/>
        <c:lblOffset val="100"/>
        <c:noMultiLvlLbl val="0"/>
      </c:catAx>
      <c:valAx>
        <c:axId val="-2113994440"/>
        <c:scaling>
          <c:max val="2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5308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[0:00–0:20] Good morning. We're Team Codey Tingle. In the next ten minutes we'll show you Sentinel — first the idea, then the working prototype live, then what's proven and what isn't. Behind us is our simulated village; you'll see it in action in a few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[0:20–0:50] Picture a family in Kochi. The evening power cut starts at seven. The inverter switches over in under ten milliseconds — it's fast. But nobody knows how much the battery has left, or how healthy it is. At three minutes past ten it simply dies: fridge, Wi-Fi, lights, all gone. Eighty-five percent of Indian homes face cuts daily. Heat halves lead-acid life every ten degrees. And for V-Guard, those surprise failures land in the warranty bill — about one and a half percent of revenue. The inverter is fast. The battery is blind. That's the gap.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[0:50–1:10] Our idea in one sentence: Sentinel turns V-Guard's smart inverter into an intelligent one. Today's products take commands. Sentinel predicts when the battery will fail, decides which loads to keep alive, and acts on its own — even with no internet, which in India is a feature, not a compromise. It ships two ways: built into new inverters, or retrofitted by an electrician in half an hour.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[1:10–1:35] Physically, Sentinel is a box the size of a deck of cards beside the inverter. This is the 'power corner' of Home 1 in our simulation. Five touch points: a shunt in the battery's negative cable for current, a temperature probe on the battery post, a current transformer on the inverter output, four fail-safe contactors in the distribution board — and the ESP32 core itself. Gold dots are mains power, cyan is battery power, violet is Sentinel sensing.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[1:35–1:50] Four jobs, one board. One: battery health — a warning window, not a guess. Two: the autopilot that keeps essentials alive. Three: the energy coach and grid shield — which appliances use what, and what the grid did to your home. Four: a signed health log, so warranty is decided by evidence, not argument. Let me take them one at a time, quickly.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[1:50–2:25] How does a small microcontroller predict battery life? Physics first. A Kalman filter turns current, voltage and temperature into charge and internal resistance. Each outage becomes 20 features the lead-acid literature says drive wear — resistance growth, heat stress, depth of discharge. A tiny int8 network — 28 thousand parameters, 16 KB of RAM — outputs a band, and we show a window: replace in 6 to 14 weeks, plan for 6. Honest numbers: on three batteries the model has never seen, the error is 8.2 points — on synthetic data. The band is calibrated but wide; real tubular aging data from the Kochi lab is what narrows it. And quantising to int8 cost us one hundredth of a point.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[2:25–3:00] This is the heart of it, and it isn't a drawing — it's the output of our simulation engine. Home 1 and Home 6 have the identical 150 Ah battery and identical appliances. Only Home 1 has Sentinel. At 8:24 pm Home 1 drops to 55 percent and defers the fans and TV; its curve flattens. Home 6 keeps burning everything, and at 10:03 pm hits the cut-off — fridge, router, lights, all off for 57 minutes. Home 1 sheds the heavy sockets at 40 percent and keeps its essentials on till mains returns. The rule is a readable ladder — 55 and 40 percent with hysteresis — not a black box. And every contactor is normally-closed: if Sentinel crashes, every load comes back 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[3:00–3:25] Engine three. We added a real metering chip on the inverter output — the kind inside a smart meter. On the left, three hours of a home's power: every orange line is an appliance switching on, gold is off — 123 events, each turned into a signature so the app can ask 'what just turned on?'. On the right, the grid shield: the chip computes RMS every half cycle, catches a 120-millisecond sag and a swell, and writes them into the signed log — evidence for the owner when a fluctuation damages an appliance. We're honest about scope: big appliances, not two identical fans.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[3:25–3:45] For new V-Guard inverters Sentinel isn't a box — it's a daughter-board inside. This is our 3D proof of concept with the lid off: transformer, MOSFET bridge, changeover relay, control board, and our board on standoffs. It taps five things the inverter already has: its current shunt, its mode line, the charger's feedback node — which is how Sentinel does temperature-compensated charging, only on the embedded version — the output rail, and four coil outputs to the contactors.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[3:45–4:00] It's designed to be built. Enclosure 90 by 70 by 35, board 80 by 60, flame-retardant plastic. Two things we'd point an engineer to: the battery's 30-plus amps never touch our board — only the shunt's millivolts do — and the mains-side sensing sits behind an isolation moat that the isolated amplifier and optocoupler straddle. On the right, the same board as a 3D render with every chip where the drawing puts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[4:00–4:10] And the simplest version — our bench sketch. Mains through a 6-amp MCB into a Prime-class inverter, a 150 Ah tubular battery with the shunt in its negative lead, an ESP32, and three normally-closed relays for the three tiers. Flipping that MCB is our outage. Let's do exactly that, live.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[4:10–8:10] LIVE DEMO (about 4 minutes). Switch to Sentinel-Live.html, full screen.</a:t>
            </a:r>
          </a:p>
          <a:p>
            <a:r>
              <a:t>1) Village tab: press ⏭ 18:58 at 180×. Feeder drops at 19:00 — flows turn cyan, street lights go out. Click Home 1 → Power corner: point at shunt, NTC, CT, Sentinel, contactors. ⏭ 20:20: T2 deferred (bedroom dark). ⏭ 21:55: at 22:03 Home 6 goes DARK; Home 1 still lit. Press Reset MCU on Home 1: all loads back, re-shed after reboot.</a:t>
            </a:r>
          </a:p>
          <a:p>
            <a:r>
              <a:t>2) Inverter + Sentinel tab: switch the iron on. Click MAINS MCB → slow motion: relay swings, scope shows the 8 ms gap gold→cyan, timeline +0.0 / +8.0 ms, Sentinel confirms at ~1.5 s. Hover the board: C1 ESP32, C6 metering, C13 DAC.</a:t>
            </a:r>
          </a:p>
          <a:p>
            <a:r>
              <a:t>3) Drag SoC to 38 % → CH3 opens, iron goes cold; fan deferred. Reset MCU → everything back, charger reverts to factory. Restore MCB → S6 then bulk charging. Temp slider to 45 °C → setpoints drop, current derates. Verify chain → alter one byte → broken.</a:t>
            </a:r>
          </a:p>
          <a:p>
            <a:r>
              <a:t>Back to slides.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[8:10–8:40] Credibility is the whole game with R&amp;D judges, so here it is plainly. Proven in code: 245 tests, six C modules that match Python bit for bit, an int8 model that self-tests in C, and a signed log that catches tampering — you just saw it break. Synthetic only: the battery-health accuracy and the appliance numbers, because no real tubular aging data exists yet. Needs hardware: flashing to the ESP32, the physical bench, and the aging campaign. We also cut federated learning from this prototype on purpose — it's designed, not built.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[9:25–9:45] Our roadmap is written as gates, not dates. Gate one: a proper aging campaign in V-Guard's Kochi reliability lab — that's what turns our synthetic accuracy into real accuracy. Gate two: a hundred retrofit homes for six months with hard pass criteria. Gate three: the embedded version inside the Smart Pro family, which already has Wi-Fi and the app. What V-Guard gets: well-timed battery sales, evidence-based warranty, a premium tier, and data no competitor can buy. What we ask for: one opened Prime inverter with its charger schematic, the bench parts, and lab time.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about safety certification: we target IS 13252 / IEC 62368-1 as the BIS gate; PQ is 'Class-S-like', never claimed Class 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[9:45–10:00] Three lines to remember. Coil off means loads on — it fails safe. A window, never a date — it's honest about uncertainty. Offline first, fleet second — it works in the village before it ever talks to the cloud. Thank you — we'd love your questions. (Appendix slides follow for Q&amp;A.)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[8:40–9:00] For the family: the essentials last about two and a half times longer, because they draw about 40 percent of the full load. The battery gives six to fourteen weeks' warning instead of dying without notice. And if the embedded version's charging adds the 20 percent life we're targeting, that's about 6,250 rupees less on batteries per decade. For V-Guard, per 1 lakh homes: longer life means fewer purchases, 15 crore drops to 12.5. But the warning tells V-Guard who will buy a battery and when. Win 48 percent of those replacements and it breaks even; at 55 percent it's 17.2 crore a year. And every 1 percent of warranty cost settled by signed evidence is about 70 lakh a year.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[9:00–9:20] Why it's worth building. The home-UPS market heads to about 487 million dollars by 2030, and over half of inverter batteries are still lead-acid, exactly what Sentinel is for. Nobody in India sells predictive battery intelligence yet. And 60 to 80 percent of used lead-acid batteries end up with informal recyclers. Sentinel's warning window turns a surprise failure into a planned V-Guard sale, and the same moment is a take-back: the old battery goes to an authorised recycler. Longer life means about 42 thousand fewer batteries per lakh homes per decade. And the retrofit upgrades inverters already on the wall instead of replacing them.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itle_right.png"/>
          <p:cNvPicPr>
            <a:picLocks noChangeAspect="1"/>
          </p:cNvPicPr>
          <p:nvPr/>
        </p:nvPicPr>
        <p:blipFill>
          <a:blip r:embed="rId3"/>
          <a:stretch>
            <a:fillRect/>
          </a:stretch>
        </p:blipFill>
        <p:spPr>
          <a:xfrm>
            <a:off x="6949440" y="0"/>
            <a:ext cx="5242255" cy="6858000"/>
          </a:xfrm>
          <a:prstGeom prst="rect">
            <a:avLst/>
          </a:prstGeom>
        </p:spPr>
      </p:pic>
      <p:sp>
        <p:nvSpPr>
          <p:cNvPr id="4" name="Rectangle 3"/>
          <p:cNvSpPr/>
          <p:nvPr/>
        </p:nvSpPr>
        <p:spPr>
          <a:xfrm>
            <a:off x="6949440" y="0"/>
            <a:ext cx="5242255" cy="6858000"/>
          </a:xfrm>
          <a:prstGeom prst="rect">
            <a:avLst/>
          </a:prstGeom>
          <a:solidFill>
            <a:srgbClr val="000104">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5394960"/>
            <a:ext cx="12191695" cy="73152"/>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go.png"/>
          <p:cNvPicPr>
            <a:picLocks noChangeAspect="1"/>
          </p:cNvPicPr>
          <p:nvPr/>
        </p:nvPicPr>
        <p:blipFill>
          <a:blip r:embed="rId4"/>
          <a:stretch>
            <a:fillRect/>
          </a:stretch>
        </p:blipFill>
        <p:spPr>
          <a:xfrm>
            <a:off x="640080" y="502920"/>
            <a:ext cx="2462530" cy="640080"/>
          </a:xfrm>
          <a:prstGeom prst="rect">
            <a:avLst/>
          </a:prstGeom>
        </p:spPr>
      </p:pic>
      <p:sp>
        <p:nvSpPr>
          <p:cNvPr id="7" name="TextBox 6"/>
          <p:cNvSpPr txBox="1"/>
          <p:nvPr/>
        </p:nvSpPr>
        <p:spPr>
          <a:xfrm>
            <a:off x="640080" y="1737360"/>
            <a:ext cx="6217920" cy="1005840"/>
          </a:xfrm>
          <a:prstGeom prst="rect">
            <a:avLst/>
          </a:prstGeom>
          <a:noFill/>
        </p:spPr>
        <p:txBody>
          <a:bodyPr wrap="square" lIns="36576" tIns="18288" rIns="36576" bIns="18288" anchor="t">
            <a:spAutoFit/>
          </a:bodyPr>
          <a:lstStyle/>
          <a:p>
            <a:pPr algn="l">
              <a:spcAft>
                <a:spcPts val="400"/>
              </a:spcAft>
            </a:pPr>
            <a:r>
              <a:rPr sz="5000" b="1" i="0">
                <a:solidFill>
                  <a:srgbClr val="FDC300"/>
                </a:solidFill>
                <a:latin typeface="Arial"/>
              </a:rPr>
              <a:t>V-Guard Sentinel</a:t>
            </a:r>
          </a:p>
        </p:txBody>
      </p:sp>
      <p:sp>
        <p:nvSpPr>
          <p:cNvPr id="8" name="TextBox 7"/>
          <p:cNvSpPr txBox="1"/>
          <p:nvPr/>
        </p:nvSpPr>
        <p:spPr>
          <a:xfrm>
            <a:off x="640080" y="2743200"/>
            <a:ext cx="5943600" cy="1463040"/>
          </a:xfrm>
          <a:prstGeom prst="rect">
            <a:avLst/>
          </a:prstGeom>
          <a:noFill/>
        </p:spPr>
        <p:txBody>
          <a:bodyPr wrap="square" lIns="36576" tIns="18288" rIns="36576" bIns="18288" anchor="t">
            <a:spAutoFit/>
          </a:bodyPr>
          <a:lstStyle/>
          <a:p>
            <a:pPr algn="l">
              <a:spcAft>
                <a:spcPts val="400"/>
              </a:spcAft>
            </a:pPr>
            <a:r>
              <a:rPr sz="2200" b="0" i="0">
                <a:solidFill>
                  <a:srgbClr val="FFFFFF"/>
                </a:solidFill>
                <a:latin typeface="Arial"/>
              </a:rPr>
              <a:t>The inverter already knows when the power goes. Sentinel teaches it what to keep on — and when its battery will quit.</a:t>
            </a:r>
          </a:p>
        </p:txBody>
      </p:sp>
      <p:sp>
        <p:nvSpPr>
          <p:cNvPr id="9" name="TextBox 8"/>
          <p:cNvSpPr txBox="1"/>
          <p:nvPr/>
        </p:nvSpPr>
        <p:spPr>
          <a:xfrm>
            <a:off x="640080" y="4343400"/>
            <a:ext cx="6400800" cy="457200"/>
          </a:xfrm>
          <a:prstGeom prst="rect">
            <a:avLst/>
          </a:prstGeom>
          <a:noFill/>
        </p:spPr>
        <p:txBody>
          <a:bodyPr wrap="square" lIns="36576" tIns="18288" rIns="36576" bIns="18288" anchor="t">
            <a:spAutoFit/>
          </a:bodyPr>
          <a:lstStyle/>
          <a:p>
            <a:pPr algn="l">
              <a:spcAft>
                <a:spcPts val="400"/>
              </a:spcAft>
            </a:pPr>
            <a:r>
              <a:rPr sz="1500" b="0" i="0">
                <a:solidFill>
                  <a:srgbClr val="FDC300"/>
                </a:solidFill>
                <a:latin typeface="Arial"/>
              </a:rPr>
              <a:t>Track 4 · From Smart Products to Intelligent Products</a:t>
            </a:r>
          </a:p>
        </p:txBody>
      </p:sp>
      <p:sp>
        <p:nvSpPr>
          <p:cNvPr id="10" name="TextBox 9"/>
          <p:cNvSpPr txBox="1"/>
          <p:nvPr/>
        </p:nvSpPr>
        <p:spPr>
          <a:xfrm>
            <a:off x="640080" y="5623560"/>
            <a:ext cx="10972800" cy="8229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Team Codey Tingle (TI3271)  ·  Ayush Manoj Garg · Eshan Shukla · Tanay Chaplot</a:t>
            </a:r>
          </a:p>
          <a:p>
            <a:pPr algn="l">
              <a:spcAft>
                <a:spcPts val="400"/>
              </a:spcAft>
            </a:pPr>
            <a:r>
              <a:rPr sz="1400" b="0" i="0">
                <a:solidFill>
                  <a:srgbClr val="FFFFFF"/>
                </a:solidFill>
                <a:latin typeface="Arial"/>
              </a:rPr>
              <a:t>Finale · Kochi · 24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10:03 pm. The battery dies — with no warning.</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Three hours into a power cut, Home 6 in our village goes dark. Home 1 has the same battery and appliances — and stays lit.</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2</a:t>
            </a:r>
          </a:p>
        </p:txBody>
      </p:sp>
      <p:pic>
        <p:nvPicPr>
          <p:cNvPr id="9" name="Picture 8" descr="v_home6_dark_c.png"/>
          <p:cNvPicPr>
            <a:picLocks noChangeAspect="1"/>
          </p:cNvPicPr>
          <p:nvPr/>
        </p:nvPicPr>
        <p:blipFill>
          <a:blip r:embed="rId3"/>
          <a:stretch>
            <a:fillRect/>
          </a:stretch>
        </p:blipFill>
        <p:spPr>
          <a:xfrm>
            <a:off x="548640" y="2125980"/>
            <a:ext cx="7315200" cy="3383280"/>
          </a:xfrm>
          <a:prstGeom prst="rect">
            <a:avLst/>
          </a:prstGeom>
          <a:ln w="19050">
            <a:solidFill>
              <a:srgbClr val="FDC300"/>
            </a:solidFill>
          </a:ln>
        </p:spPr>
      </p:pic>
      <p:sp>
        <p:nvSpPr>
          <p:cNvPr id="10" name="TextBox 9"/>
          <p:cNvSpPr txBox="1"/>
          <p:nvPr/>
        </p:nvSpPr>
        <p:spPr>
          <a:xfrm>
            <a:off x="8229600" y="1508760"/>
            <a:ext cx="3566160" cy="731520"/>
          </a:xfrm>
          <a:prstGeom prst="rect">
            <a:avLst/>
          </a:prstGeom>
          <a:noFill/>
        </p:spPr>
        <p:txBody>
          <a:bodyPr wrap="square" lIns="36576" tIns="18288" rIns="36576" bIns="18288" anchor="t">
            <a:spAutoFit/>
          </a:bodyPr>
          <a:lstStyle/>
          <a:p>
            <a:pPr algn="l">
              <a:spcAft>
                <a:spcPts val="400"/>
              </a:spcAft>
            </a:pPr>
            <a:r>
              <a:rPr sz="4000" b="1" i="0">
                <a:solidFill>
                  <a:srgbClr val="F39200"/>
                </a:solidFill>
                <a:latin typeface="Arial"/>
              </a:rPr>
              <a:t>85 %</a:t>
            </a:r>
          </a:p>
        </p:txBody>
      </p:sp>
      <p:sp>
        <p:nvSpPr>
          <p:cNvPr id="11" name="TextBox 10"/>
          <p:cNvSpPr txBox="1"/>
          <p:nvPr/>
        </p:nvSpPr>
        <p:spPr>
          <a:xfrm>
            <a:off x="8229600" y="2221992"/>
            <a:ext cx="35661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of Indian households face a power cut every day (LocalCircles, 2023)</a:t>
            </a:r>
          </a:p>
        </p:txBody>
      </p:sp>
      <p:sp>
        <p:nvSpPr>
          <p:cNvPr id="12" name="TextBox 11"/>
          <p:cNvSpPr txBox="1"/>
          <p:nvPr/>
        </p:nvSpPr>
        <p:spPr>
          <a:xfrm>
            <a:off x="8229600" y="3063240"/>
            <a:ext cx="3566160" cy="731520"/>
          </a:xfrm>
          <a:prstGeom prst="rect">
            <a:avLst/>
          </a:prstGeom>
          <a:noFill/>
        </p:spPr>
        <p:txBody>
          <a:bodyPr wrap="square" lIns="36576" tIns="18288" rIns="36576" bIns="18288" anchor="t">
            <a:spAutoFit/>
          </a:bodyPr>
          <a:lstStyle/>
          <a:p>
            <a:pPr algn="l">
              <a:spcAft>
                <a:spcPts val="400"/>
              </a:spcAft>
            </a:pPr>
            <a:r>
              <a:rPr sz="4000" b="1" i="0">
                <a:solidFill>
                  <a:srgbClr val="D63A4F"/>
                </a:solidFill>
                <a:latin typeface="Arial"/>
              </a:rPr>
              <a:t>×2 wear</a:t>
            </a:r>
          </a:p>
        </p:txBody>
      </p:sp>
      <p:sp>
        <p:nvSpPr>
          <p:cNvPr id="13" name="TextBox 12"/>
          <p:cNvSpPr txBox="1"/>
          <p:nvPr/>
        </p:nvSpPr>
        <p:spPr>
          <a:xfrm>
            <a:off x="8229600" y="3776472"/>
            <a:ext cx="35661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every +10 °C: lead-acid life halves with heat — the Indian summer is the battery's enemy</a:t>
            </a:r>
          </a:p>
        </p:txBody>
      </p:sp>
      <p:sp>
        <p:nvSpPr>
          <p:cNvPr id="14" name="TextBox 13"/>
          <p:cNvSpPr txBox="1"/>
          <p:nvPr/>
        </p:nvSpPr>
        <p:spPr>
          <a:xfrm>
            <a:off x="8229600" y="4617720"/>
            <a:ext cx="3566160" cy="731520"/>
          </a:xfrm>
          <a:prstGeom prst="rect">
            <a:avLst/>
          </a:prstGeom>
          <a:noFill/>
        </p:spPr>
        <p:txBody>
          <a:bodyPr wrap="square" lIns="36576" tIns="18288" rIns="36576" bIns="18288" anchor="t">
            <a:spAutoFit/>
          </a:bodyPr>
          <a:lstStyle/>
          <a:p>
            <a:pPr algn="l">
              <a:spcAft>
                <a:spcPts val="400"/>
              </a:spcAft>
            </a:pPr>
            <a:r>
              <a:rPr sz="4000" b="1" i="0">
                <a:solidFill>
                  <a:srgbClr val="FDC300"/>
                </a:solidFill>
                <a:latin typeface="Arial"/>
              </a:rPr>
              <a:t>≈ 1.5 %</a:t>
            </a:r>
          </a:p>
        </p:txBody>
      </p:sp>
      <p:sp>
        <p:nvSpPr>
          <p:cNvPr id="15" name="TextBox 14"/>
          <p:cNvSpPr txBox="1"/>
          <p:nvPr/>
        </p:nvSpPr>
        <p:spPr>
          <a:xfrm>
            <a:off x="8229600" y="5330952"/>
            <a:ext cx="35661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of V-Guard revenue goes to warranty (≈ ₹69 cr, FY24)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Sentinel turns a smart inverter into an intelligent one.</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Smart products take commands. Intelligent products predict, decide and act — without the cloud.</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3</a:t>
            </a:r>
          </a:p>
        </p:txBody>
      </p:sp>
      <p:sp>
        <p:nvSpPr>
          <p:cNvPr id="9" name="Rounded Rectangle 8"/>
          <p:cNvSpPr/>
          <p:nvPr/>
        </p:nvSpPr>
        <p:spPr>
          <a:xfrm>
            <a:off x="822960" y="2011680"/>
            <a:ext cx="3154680" cy="192024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2200" b="1">
                <a:solidFill>
                  <a:srgbClr val="221E1F"/>
                </a:solidFill>
                <a:latin typeface="Arial"/>
              </a:rPr>
              <a:t>CONNECTED</a:t>
            </a:r>
          </a:p>
          <a:p>
            <a:pPr algn="ctr"/>
            <a:r>
              <a:rPr sz="2000" b="0">
                <a:solidFill>
                  <a:srgbClr val="221E1F"/>
                </a:solidFill>
                <a:latin typeface="Arial"/>
              </a:rPr>
              <a:t>app on / off</a:t>
            </a:r>
          </a:p>
        </p:txBody>
      </p:sp>
      <p:sp>
        <p:nvSpPr>
          <p:cNvPr id="10" name="Right Arrow 9"/>
          <p:cNvSpPr/>
          <p:nvPr/>
        </p:nvSpPr>
        <p:spPr>
          <a:xfrm>
            <a:off x="4069080" y="2834640"/>
            <a:ext cx="457200"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617720" y="2011680"/>
            <a:ext cx="3154680" cy="192024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2200" b="1">
                <a:solidFill>
                  <a:srgbClr val="221E1F"/>
                </a:solidFill>
                <a:latin typeface="Arial"/>
              </a:rPr>
              <a:t>SMART</a:t>
            </a:r>
          </a:p>
          <a:p>
            <a:pPr algn="ctr"/>
            <a:r>
              <a:rPr sz="2000" b="0">
                <a:solidFill>
                  <a:srgbClr val="221E1F"/>
                </a:solidFill>
                <a:latin typeface="Arial"/>
              </a:rPr>
              <a:t>schedules · alerts · usage</a:t>
            </a:r>
          </a:p>
        </p:txBody>
      </p:sp>
      <p:sp>
        <p:nvSpPr>
          <p:cNvPr id="12" name="Right Arrow 11"/>
          <p:cNvSpPr/>
          <p:nvPr/>
        </p:nvSpPr>
        <p:spPr>
          <a:xfrm>
            <a:off x="7863840" y="2834640"/>
            <a:ext cx="457200"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12480" y="2011680"/>
            <a:ext cx="3154680" cy="192024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2200" b="1">
                <a:solidFill>
                  <a:srgbClr val="000104"/>
                </a:solidFill>
                <a:latin typeface="Arial"/>
              </a:rPr>
              <a:t>INTELLIGENT</a:t>
            </a:r>
          </a:p>
          <a:p>
            <a:pPr algn="ctr"/>
            <a:r>
              <a:rPr sz="2000" b="0">
                <a:solidFill>
                  <a:srgbClr val="000104"/>
                </a:solidFill>
                <a:latin typeface="Arial"/>
              </a:rPr>
              <a:t>predicts failure · learns the home</a:t>
            </a:r>
          </a:p>
          <a:p>
            <a:pPr algn="ctr"/>
            <a:r>
              <a:rPr sz="2000" b="0">
                <a:solidFill>
                  <a:srgbClr val="000104"/>
                </a:solidFill>
                <a:latin typeface="Arial"/>
              </a:rPr>
              <a:t>acts on its own — offline</a:t>
            </a:r>
          </a:p>
        </p:txBody>
      </p:sp>
      <p:sp>
        <p:nvSpPr>
          <p:cNvPr id="14" name="TextBox 13"/>
          <p:cNvSpPr txBox="1"/>
          <p:nvPr/>
        </p:nvSpPr>
        <p:spPr>
          <a:xfrm>
            <a:off x="8412480" y="4069080"/>
            <a:ext cx="3108960" cy="457200"/>
          </a:xfrm>
          <a:prstGeom prst="rect">
            <a:avLst/>
          </a:prstGeom>
          <a:noFill/>
        </p:spPr>
        <p:txBody>
          <a:bodyPr wrap="square" lIns="36576" tIns="18288" rIns="36576" bIns="18288" anchor="t">
            <a:spAutoFit/>
          </a:bodyPr>
          <a:lstStyle/>
          <a:p>
            <a:pPr algn="l">
              <a:spcAft>
                <a:spcPts val="400"/>
              </a:spcAft>
            </a:pPr>
            <a:r>
              <a:rPr sz="1800" b="1" i="0">
                <a:solidFill>
                  <a:srgbClr val="F39200"/>
                </a:solidFill>
                <a:latin typeface="Arial"/>
              </a:rPr>
              <a:t>← Sentinel</a:t>
            </a:r>
          </a:p>
        </p:txBody>
      </p:sp>
      <p:sp>
        <p:nvSpPr>
          <p:cNvPr id="15" name="Oval 14"/>
          <p:cNvSpPr/>
          <p:nvPr/>
        </p:nvSpPr>
        <p:spPr>
          <a:xfrm>
            <a:off x="822960" y="4800600"/>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16" name="TextBox 15"/>
          <p:cNvSpPr txBox="1"/>
          <p:nvPr/>
        </p:nvSpPr>
        <p:spPr>
          <a:xfrm>
            <a:off x="1417320" y="4754880"/>
            <a:ext cx="3017520" cy="1005840"/>
          </a:xfrm>
          <a:prstGeom prst="rect">
            <a:avLst/>
          </a:prstGeom>
          <a:noFill/>
        </p:spPr>
        <p:txBody>
          <a:bodyPr wrap="square" lIns="36576" tIns="18288" rIns="36576" bIns="18288" anchor="t">
            <a:spAutoFit/>
          </a:bodyPr>
          <a:lstStyle/>
          <a:p>
            <a:pPr algn="l">
              <a:spcAft>
                <a:spcPts val="400"/>
              </a:spcAft>
            </a:pPr>
            <a:r>
              <a:rPr sz="1600" b="1" i="0">
                <a:solidFill>
                  <a:srgbClr val="221E1F"/>
                </a:solidFill>
                <a:latin typeface="Arial"/>
              </a:rPr>
              <a:t>Embedded  </a:t>
            </a:r>
            <a:r>
              <a:rPr sz="1500" b="0" i="0">
                <a:solidFill>
                  <a:srgbClr val="221E1F"/>
                </a:solidFill>
                <a:latin typeface="Arial"/>
              </a:rPr>
              <a:t>a daughter-board inside new V-Guard inverters</a:t>
            </a:r>
          </a:p>
        </p:txBody>
      </p:sp>
      <p:sp>
        <p:nvSpPr>
          <p:cNvPr id="17" name="Oval 16"/>
          <p:cNvSpPr/>
          <p:nvPr/>
        </p:nvSpPr>
        <p:spPr>
          <a:xfrm>
            <a:off x="4617720" y="4800600"/>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8" name="TextBox 17"/>
          <p:cNvSpPr txBox="1"/>
          <p:nvPr/>
        </p:nvSpPr>
        <p:spPr>
          <a:xfrm>
            <a:off x="5212080" y="4754880"/>
            <a:ext cx="3017520" cy="1005840"/>
          </a:xfrm>
          <a:prstGeom prst="rect">
            <a:avLst/>
          </a:prstGeom>
          <a:noFill/>
        </p:spPr>
        <p:txBody>
          <a:bodyPr wrap="square" lIns="36576" tIns="18288" rIns="36576" bIns="18288" anchor="t">
            <a:spAutoFit/>
          </a:bodyPr>
          <a:lstStyle/>
          <a:p>
            <a:pPr algn="l">
              <a:spcAft>
                <a:spcPts val="400"/>
              </a:spcAft>
            </a:pPr>
            <a:r>
              <a:rPr sz="1600" b="1" i="0">
                <a:solidFill>
                  <a:srgbClr val="221E1F"/>
                </a:solidFill>
                <a:latin typeface="Arial"/>
              </a:rPr>
              <a:t>Retrofit  </a:t>
            </a:r>
            <a:r>
              <a:rPr sz="1500" b="0" i="0">
                <a:solidFill>
                  <a:srgbClr val="221E1F"/>
                </a:solidFill>
                <a:latin typeface="Arial"/>
              </a:rPr>
              <a:t>a 30-minute electrician fit on the installed base</a:t>
            </a:r>
          </a:p>
        </p:txBody>
      </p:sp>
      <p:sp>
        <p:nvSpPr>
          <p:cNvPr id="19" name="Oval 18"/>
          <p:cNvSpPr/>
          <p:nvPr/>
        </p:nvSpPr>
        <p:spPr>
          <a:xfrm>
            <a:off x="8412480" y="4800600"/>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20" name="TextBox 19"/>
          <p:cNvSpPr txBox="1"/>
          <p:nvPr/>
        </p:nvSpPr>
        <p:spPr>
          <a:xfrm>
            <a:off x="9006840" y="4754880"/>
            <a:ext cx="3017520" cy="1005840"/>
          </a:xfrm>
          <a:prstGeom prst="rect">
            <a:avLst/>
          </a:prstGeom>
          <a:noFill/>
        </p:spPr>
        <p:txBody>
          <a:bodyPr wrap="square" lIns="36576" tIns="18288" rIns="36576" bIns="18288" anchor="t">
            <a:spAutoFit/>
          </a:bodyPr>
          <a:lstStyle/>
          <a:p>
            <a:pPr algn="l">
              <a:spcAft>
                <a:spcPts val="400"/>
              </a:spcAft>
            </a:pPr>
            <a:r>
              <a:rPr sz="1600" b="1" i="0">
                <a:solidFill>
                  <a:srgbClr val="221E1F"/>
                </a:solidFill>
                <a:latin typeface="Arial"/>
              </a:rPr>
              <a:t>Offline-first  </a:t>
            </a:r>
            <a:r>
              <a:rPr sz="1500" b="0" i="0">
                <a:solidFill>
                  <a:srgbClr val="221E1F"/>
                </a:solidFill>
                <a:latin typeface="Arial"/>
              </a:rPr>
              <a:t>every core function works with zero internet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One small box reads the battery and switches the loads.</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Nothing on the battery or the inverter is modified on the retrofit — only the negative cable passes through a shunt.</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4</a:t>
            </a:r>
          </a:p>
        </p:txBody>
      </p:sp>
      <p:pic>
        <p:nvPicPr>
          <p:cNvPr id="9" name="Picture 8" descr="v_home1_corner_c.png"/>
          <p:cNvPicPr>
            <a:picLocks noChangeAspect="1"/>
          </p:cNvPicPr>
          <p:nvPr/>
        </p:nvPicPr>
        <p:blipFill>
          <a:blip r:embed="rId3"/>
          <a:stretch>
            <a:fillRect/>
          </a:stretch>
        </p:blipFill>
        <p:spPr>
          <a:xfrm>
            <a:off x="548640" y="1616964"/>
            <a:ext cx="6949440" cy="4401312"/>
          </a:xfrm>
          <a:prstGeom prst="rect">
            <a:avLst/>
          </a:prstGeom>
          <a:ln w="19050">
            <a:solidFill>
              <a:srgbClr val="FDC300"/>
            </a:solidFill>
          </a:ln>
        </p:spPr>
      </p:pic>
      <p:sp>
        <p:nvSpPr>
          <p:cNvPr id="10" name="Oval 9"/>
          <p:cNvSpPr/>
          <p:nvPr/>
        </p:nvSpPr>
        <p:spPr>
          <a:xfrm>
            <a:off x="7818120" y="15544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11" name="TextBox 10"/>
          <p:cNvSpPr txBox="1"/>
          <p:nvPr/>
        </p:nvSpPr>
        <p:spPr>
          <a:xfrm>
            <a:off x="8366760" y="15087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Shunt in the battery − lead</a:t>
            </a:r>
          </a:p>
          <a:p>
            <a:pPr algn="l">
              <a:spcAft>
                <a:spcPts val="100"/>
              </a:spcAft>
            </a:pPr>
            <a:r>
              <a:rPr sz="1300" b="0" i="0">
                <a:solidFill>
                  <a:srgbClr val="6C757D"/>
                </a:solidFill>
                <a:latin typeface="Arial"/>
              </a:rPr>
              <a:t>battery current → INA228</a:t>
            </a:r>
          </a:p>
        </p:txBody>
      </p:sp>
      <p:sp>
        <p:nvSpPr>
          <p:cNvPr id="12" name="Oval 11"/>
          <p:cNvSpPr/>
          <p:nvPr/>
        </p:nvSpPr>
        <p:spPr>
          <a:xfrm>
            <a:off x="7818120" y="24688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3" name="TextBox 12"/>
          <p:cNvSpPr txBox="1"/>
          <p:nvPr/>
        </p:nvSpPr>
        <p:spPr>
          <a:xfrm>
            <a:off x="8366760" y="24231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NTC on the battery post</a:t>
            </a:r>
          </a:p>
          <a:p>
            <a:pPr algn="l">
              <a:spcAft>
                <a:spcPts val="100"/>
              </a:spcAft>
            </a:pPr>
            <a:r>
              <a:rPr sz="1300" b="0" i="0">
                <a:solidFill>
                  <a:srgbClr val="6C757D"/>
                </a:solidFill>
                <a:latin typeface="Arial"/>
              </a:rPr>
              <a:t>temperature: the #1 ageing driver</a:t>
            </a:r>
          </a:p>
        </p:txBody>
      </p:sp>
      <p:sp>
        <p:nvSpPr>
          <p:cNvPr id="14" name="Oval 13"/>
          <p:cNvSpPr/>
          <p:nvPr/>
        </p:nvSpPr>
        <p:spPr>
          <a:xfrm>
            <a:off x="7818120" y="33832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15" name="TextBox 14"/>
          <p:cNvSpPr txBox="1"/>
          <p:nvPr/>
        </p:nvSpPr>
        <p:spPr>
          <a:xfrm>
            <a:off x="8366760" y="33375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CT + voltage tap on AC-OUT</a:t>
            </a:r>
          </a:p>
          <a:p>
            <a:pPr algn="l">
              <a:spcAft>
                <a:spcPts val="100"/>
              </a:spcAft>
            </a:pPr>
            <a:r>
              <a:rPr sz="1300" b="0" i="0">
                <a:solidFill>
                  <a:srgbClr val="6C757D"/>
                </a:solidFill>
                <a:latin typeface="Arial"/>
              </a:rPr>
              <a:t>real &amp; reactive power → ATM90E32AS</a:t>
            </a:r>
          </a:p>
        </p:txBody>
      </p:sp>
      <p:sp>
        <p:nvSpPr>
          <p:cNvPr id="16" name="Oval 15"/>
          <p:cNvSpPr/>
          <p:nvPr/>
        </p:nvSpPr>
        <p:spPr>
          <a:xfrm>
            <a:off x="7818120" y="42976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4</a:t>
            </a:r>
          </a:p>
        </p:txBody>
      </p:sp>
      <p:sp>
        <p:nvSpPr>
          <p:cNvPr id="17" name="TextBox 16"/>
          <p:cNvSpPr txBox="1"/>
          <p:nvPr/>
        </p:nvSpPr>
        <p:spPr>
          <a:xfrm>
            <a:off x="8366760" y="42519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4 NC contactors in the DB</a:t>
            </a:r>
          </a:p>
          <a:p>
            <a:pPr algn="l">
              <a:spcAft>
                <a:spcPts val="100"/>
              </a:spcAft>
            </a:pPr>
            <a:r>
              <a:rPr sz="1300" b="0" i="0">
                <a:solidFill>
                  <a:srgbClr val="6C757D"/>
                </a:solidFill>
                <a:latin typeface="Arial"/>
              </a:rPr>
              <a:t>coil off = load ON, always</a:t>
            </a:r>
          </a:p>
        </p:txBody>
      </p:sp>
      <p:sp>
        <p:nvSpPr>
          <p:cNvPr id="18" name="Oval 17"/>
          <p:cNvSpPr/>
          <p:nvPr/>
        </p:nvSpPr>
        <p:spPr>
          <a:xfrm>
            <a:off x="7818120" y="521208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5</a:t>
            </a:r>
          </a:p>
        </p:txBody>
      </p:sp>
      <p:sp>
        <p:nvSpPr>
          <p:cNvPr id="19" name="TextBox 18"/>
          <p:cNvSpPr txBox="1"/>
          <p:nvPr/>
        </p:nvSpPr>
        <p:spPr>
          <a:xfrm>
            <a:off x="8366760" y="516636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221E1F"/>
                </a:solidFill>
                <a:latin typeface="Arial"/>
              </a:rPr>
              <a:t>ESP32-S3 Sentinel Core</a:t>
            </a:r>
          </a:p>
          <a:p>
            <a:pPr algn="l">
              <a:spcAft>
                <a:spcPts val="100"/>
              </a:spcAft>
            </a:pPr>
            <a:r>
              <a:rPr sz="1300" b="0" i="0">
                <a:solidFill>
                  <a:srgbClr val="6C757D"/>
                </a:solidFill>
                <a:latin typeface="Arial"/>
              </a:rPr>
              <a:t>90 × 70 × 35 mm, powered by the battery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Four jobs, one board — all on the ESP32, no cloud needed.</a:t>
            </a:r>
          </a:p>
        </p:txBody>
      </p:sp>
      <p:sp>
        <p:nvSpPr>
          <p:cNvPr id="5" name="Rectangle 4"/>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7" name="TextBox 6"/>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5</a:t>
            </a:r>
          </a:p>
        </p:txBody>
      </p:sp>
      <p:sp>
        <p:nvSpPr>
          <p:cNvPr id="8" name="Rounded Rectangle 7"/>
          <p:cNvSpPr/>
          <p:nvPr/>
        </p:nvSpPr>
        <p:spPr>
          <a:xfrm>
            <a:off x="548640" y="1417320"/>
            <a:ext cx="2606040" cy="384048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1</a:t>
            </a:r>
          </a:p>
        </p:txBody>
      </p:sp>
      <p:sp>
        <p:nvSpPr>
          <p:cNvPr id="10" name="TextBox 9"/>
          <p:cNvSpPr txBox="1"/>
          <p:nvPr/>
        </p:nvSpPr>
        <p:spPr>
          <a:xfrm>
            <a:off x="77724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Battery health</a:t>
            </a:r>
          </a:p>
        </p:txBody>
      </p:sp>
      <p:sp>
        <p:nvSpPr>
          <p:cNvPr id="11" name="TextBox 10"/>
          <p:cNvSpPr txBox="1"/>
          <p:nvPr/>
        </p:nvSpPr>
        <p:spPr>
          <a:xfrm>
            <a:off x="777240" y="3749039"/>
            <a:ext cx="2194560" cy="1371600"/>
          </a:xfrm>
          <a:prstGeom prst="rect">
            <a:avLst/>
          </a:prstGeom>
          <a:noFill/>
        </p:spPr>
        <p:txBody>
          <a:bodyPr wrap="square" lIns="36576" tIns="18288" rIns="36576" bIns="18288" anchor="t">
            <a:spAutoFit/>
          </a:bodyPr>
          <a:lstStyle/>
          <a:p>
            <a:pPr algn="l">
              <a:spcAft>
                <a:spcPts val="400"/>
              </a:spcAft>
            </a:pPr>
            <a:r>
              <a:rPr sz="1500" b="0" i="0">
                <a:solidFill>
                  <a:srgbClr val="221E1F"/>
                </a:solidFill>
                <a:latin typeface="Arial"/>
              </a:rPr>
              <a:t>Predicts a replacement window — 'replace in 6–14 weeks'</a:t>
            </a:r>
          </a:p>
        </p:txBody>
      </p:sp>
      <p:sp>
        <p:nvSpPr>
          <p:cNvPr id="12" name="Rounded Rectangle 11"/>
          <p:cNvSpPr/>
          <p:nvPr/>
        </p:nvSpPr>
        <p:spPr>
          <a:xfrm>
            <a:off x="3383280" y="1417320"/>
            <a:ext cx="2606040" cy="3840480"/>
          </a:xfrm>
          <a:prstGeom prst="roundRect">
            <a:avLst>
              <a:gd name="adj" fmla="val 8000"/>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2</a:t>
            </a:r>
          </a:p>
        </p:txBody>
      </p:sp>
      <p:sp>
        <p:nvSpPr>
          <p:cNvPr id="14" name="TextBox 13"/>
          <p:cNvSpPr txBox="1"/>
          <p:nvPr/>
        </p:nvSpPr>
        <p:spPr>
          <a:xfrm>
            <a:off x="361188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Habit autopilot</a:t>
            </a:r>
          </a:p>
        </p:txBody>
      </p:sp>
      <p:sp>
        <p:nvSpPr>
          <p:cNvPr id="15" name="TextBox 14"/>
          <p:cNvSpPr txBox="1"/>
          <p:nvPr/>
        </p:nvSpPr>
        <p:spPr>
          <a:xfrm>
            <a:off x="3611880" y="3749039"/>
            <a:ext cx="2194560" cy="1371600"/>
          </a:xfrm>
          <a:prstGeom prst="rect">
            <a:avLst/>
          </a:prstGeom>
          <a:noFill/>
        </p:spPr>
        <p:txBody>
          <a:bodyPr wrap="square" lIns="36576" tIns="18288" rIns="36576" bIns="18288" anchor="t">
            <a:spAutoFit/>
          </a:bodyPr>
          <a:lstStyle/>
          <a:p>
            <a:pPr algn="l">
              <a:spcAft>
                <a:spcPts val="400"/>
              </a:spcAft>
            </a:pPr>
            <a:r>
              <a:rPr sz="1500" b="0" i="0">
                <a:solidFill>
                  <a:srgbClr val="221E1F"/>
                </a:solidFill>
                <a:latin typeface="Arial"/>
              </a:rPr>
              <a:t>Keeps the fridge, lights and router alive during a cut</a:t>
            </a:r>
          </a:p>
        </p:txBody>
      </p:sp>
      <p:sp>
        <p:nvSpPr>
          <p:cNvPr id="16" name="Rounded Rectangle 15"/>
          <p:cNvSpPr/>
          <p:nvPr/>
        </p:nvSpPr>
        <p:spPr>
          <a:xfrm>
            <a:off x="6217920" y="1417320"/>
            <a:ext cx="2606040" cy="384048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3</a:t>
            </a:r>
          </a:p>
        </p:txBody>
      </p:sp>
      <p:sp>
        <p:nvSpPr>
          <p:cNvPr id="18" name="TextBox 17"/>
          <p:cNvSpPr txBox="1"/>
          <p:nvPr/>
        </p:nvSpPr>
        <p:spPr>
          <a:xfrm>
            <a:off x="644652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Energy coach + grid shield</a:t>
            </a:r>
          </a:p>
        </p:txBody>
      </p:sp>
      <p:sp>
        <p:nvSpPr>
          <p:cNvPr id="19" name="TextBox 18"/>
          <p:cNvSpPr txBox="1"/>
          <p:nvPr/>
        </p:nvSpPr>
        <p:spPr>
          <a:xfrm>
            <a:off x="6446520" y="3749039"/>
            <a:ext cx="2194560" cy="1371600"/>
          </a:xfrm>
          <a:prstGeom prst="rect">
            <a:avLst/>
          </a:prstGeom>
          <a:noFill/>
        </p:spPr>
        <p:txBody>
          <a:bodyPr wrap="square" lIns="36576" tIns="18288" rIns="36576" bIns="18288" anchor="t">
            <a:spAutoFit/>
          </a:bodyPr>
          <a:lstStyle/>
          <a:p>
            <a:pPr algn="l">
              <a:spcAft>
                <a:spcPts val="400"/>
              </a:spcAft>
            </a:pPr>
            <a:r>
              <a:rPr sz="1500" b="0" i="0">
                <a:solidFill>
                  <a:srgbClr val="221E1F"/>
                </a:solidFill>
                <a:latin typeface="Arial"/>
              </a:rPr>
              <a:t>Names the big appliances; logs every sag and swell</a:t>
            </a:r>
          </a:p>
        </p:txBody>
      </p:sp>
      <p:sp>
        <p:nvSpPr>
          <p:cNvPr id="20" name="Rounded Rectangle 19"/>
          <p:cNvSpPr/>
          <p:nvPr/>
        </p:nvSpPr>
        <p:spPr>
          <a:xfrm>
            <a:off x="9052560" y="1417320"/>
            <a:ext cx="2606040" cy="384048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81160" y="1600200"/>
            <a:ext cx="2194560" cy="1097280"/>
          </a:xfrm>
          <a:prstGeom prst="rect">
            <a:avLst/>
          </a:prstGeom>
          <a:noFill/>
        </p:spPr>
        <p:txBody>
          <a:bodyPr wrap="square" lIns="36576" tIns="18288" rIns="36576" bIns="18288" anchor="t">
            <a:spAutoFit/>
          </a:bodyPr>
          <a:lstStyle/>
          <a:p>
            <a:pPr algn="l">
              <a:spcAft>
                <a:spcPts val="400"/>
              </a:spcAft>
            </a:pPr>
            <a:r>
              <a:rPr sz="6000" b="1" i="0">
                <a:solidFill>
                  <a:srgbClr val="000104"/>
                </a:solidFill>
                <a:latin typeface="Arial"/>
              </a:rPr>
              <a:t>4</a:t>
            </a:r>
          </a:p>
        </p:txBody>
      </p:sp>
      <p:sp>
        <p:nvSpPr>
          <p:cNvPr id="22" name="TextBox 21"/>
          <p:cNvSpPr txBox="1"/>
          <p:nvPr/>
        </p:nvSpPr>
        <p:spPr>
          <a:xfrm>
            <a:off x="9281160" y="2788920"/>
            <a:ext cx="2194560" cy="822960"/>
          </a:xfrm>
          <a:prstGeom prst="rect">
            <a:avLst/>
          </a:prstGeom>
          <a:noFill/>
        </p:spPr>
        <p:txBody>
          <a:bodyPr wrap="square" lIns="36576" tIns="18288" rIns="36576" bIns="18288" anchor="t">
            <a:spAutoFit/>
          </a:bodyPr>
          <a:lstStyle/>
          <a:p>
            <a:pPr algn="l">
              <a:spcAft>
                <a:spcPts val="400"/>
              </a:spcAft>
            </a:pPr>
            <a:r>
              <a:rPr sz="2000" b="1" i="0">
                <a:solidFill>
                  <a:srgbClr val="000104"/>
                </a:solidFill>
                <a:latin typeface="Arial"/>
              </a:rPr>
              <a:t>Signed health log</a:t>
            </a:r>
          </a:p>
        </p:txBody>
      </p:sp>
      <p:sp>
        <p:nvSpPr>
          <p:cNvPr id="23" name="TextBox 22"/>
          <p:cNvSpPr txBox="1"/>
          <p:nvPr/>
        </p:nvSpPr>
        <p:spPr>
          <a:xfrm>
            <a:off x="9281160" y="3749039"/>
            <a:ext cx="2194560" cy="1371600"/>
          </a:xfrm>
          <a:prstGeom prst="rect">
            <a:avLst/>
          </a:prstGeom>
          <a:noFill/>
        </p:spPr>
        <p:txBody>
          <a:bodyPr wrap="square" lIns="36576" tIns="18288" rIns="36576" bIns="18288" anchor="t">
            <a:spAutoFit/>
          </a:bodyPr>
          <a:lstStyle/>
          <a:p>
            <a:pPr algn="l">
              <a:spcAft>
                <a:spcPts val="400"/>
              </a:spcAft>
            </a:pPr>
            <a:r>
              <a:rPr sz="1500" b="0" i="0">
                <a:solidFill>
                  <a:srgbClr val="221E1F"/>
                </a:solidFill>
                <a:latin typeface="Arial"/>
              </a:rPr>
              <a:t>Tamper-proof record — warranty decided by evidence</a:t>
            </a:r>
          </a:p>
        </p:txBody>
      </p:sp>
      <p:sp>
        <p:nvSpPr>
          <p:cNvPr id="24" name="TextBox 23"/>
          <p:cNvSpPr txBox="1"/>
          <p:nvPr/>
        </p:nvSpPr>
        <p:spPr>
          <a:xfrm>
            <a:off x="548640" y="5532120"/>
            <a:ext cx="10972800" cy="54864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Same core, same sensors, different models → the platform extends to pumps, stabilisers and water heaters.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It gives a window, not a date: "replace in 6–14 weeks".</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Physics first, learning second — every step runs on the ESP32.</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6</a:t>
            </a:r>
          </a:p>
        </p:txBody>
      </p:sp>
      <p:sp>
        <p:nvSpPr>
          <p:cNvPr id="9" name="Rounded Rectangle 8"/>
          <p:cNvSpPr/>
          <p:nvPr/>
        </p:nvSpPr>
        <p:spPr>
          <a:xfrm>
            <a:off x="548640" y="1463040"/>
            <a:ext cx="1920240" cy="96012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1 Hz sensing</a:t>
            </a:r>
          </a:p>
          <a:p>
            <a:pPr algn="ctr"/>
            <a:r>
              <a:rPr sz="1300" b="0">
                <a:solidFill>
                  <a:srgbClr val="221E1F"/>
                </a:solidFill>
                <a:latin typeface="Arial"/>
              </a:rPr>
              <a:t>I · V · T</a:t>
            </a:r>
          </a:p>
        </p:txBody>
      </p:sp>
      <p:sp>
        <p:nvSpPr>
          <p:cNvPr id="10" name="Right Arrow 9"/>
          <p:cNvSpPr/>
          <p:nvPr/>
        </p:nvSpPr>
        <p:spPr>
          <a:xfrm>
            <a:off x="2496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834640" y="1463040"/>
            <a:ext cx="1920240" cy="96012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Kalman filter</a:t>
            </a:r>
          </a:p>
          <a:p>
            <a:pPr algn="ctr"/>
            <a:r>
              <a:rPr sz="1300" b="0">
                <a:solidFill>
                  <a:srgbClr val="221E1F"/>
                </a:solidFill>
                <a:latin typeface="Arial"/>
              </a:rPr>
              <a:t>SoC · R_int</a:t>
            </a:r>
          </a:p>
        </p:txBody>
      </p:sp>
      <p:sp>
        <p:nvSpPr>
          <p:cNvPr id="12" name="Right Arrow 11"/>
          <p:cNvSpPr/>
          <p:nvPr/>
        </p:nvSpPr>
        <p:spPr>
          <a:xfrm>
            <a:off x="4782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120640" y="1463040"/>
            <a:ext cx="1920240" cy="96012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14 + 6 features</a:t>
            </a:r>
          </a:p>
          <a:p>
            <a:pPr algn="ctr"/>
            <a:r>
              <a:rPr sz="1300" b="0">
                <a:solidFill>
                  <a:srgbClr val="221E1F"/>
                </a:solidFill>
                <a:latin typeface="Arial"/>
              </a:rPr>
              <a:t>per outage cycle</a:t>
            </a:r>
          </a:p>
        </p:txBody>
      </p:sp>
      <p:sp>
        <p:nvSpPr>
          <p:cNvPr id="14" name="Right Arrow 13"/>
          <p:cNvSpPr/>
          <p:nvPr/>
        </p:nvSpPr>
        <p:spPr>
          <a:xfrm>
            <a:off x="7068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406640" y="1463040"/>
            <a:ext cx="1920240" cy="96012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221E1F"/>
                </a:solidFill>
                <a:latin typeface="Arial"/>
              </a:rPr>
              <a:t>int8 CNN × 3</a:t>
            </a:r>
          </a:p>
          <a:p>
            <a:pPr algn="ctr"/>
            <a:r>
              <a:rPr sz="1300" b="0">
                <a:solidFill>
                  <a:srgbClr val="221E1F"/>
                </a:solidFill>
                <a:latin typeface="Arial"/>
              </a:rPr>
              <a:t>28 k params · 16 KB</a:t>
            </a:r>
          </a:p>
        </p:txBody>
      </p:sp>
      <p:sp>
        <p:nvSpPr>
          <p:cNvPr id="16" name="Right Arrow 15"/>
          <p:cNvSpPr/>
          <p:nvPr/>
        </p:nvSpPr>
        <p:spPr>
          <a:xfrm>
            <a:off x="9354312" y="1801368"/>
            <a:ext cx="301752" cy="274320"/>
          </a:xfrm>
          <a:prstGeom prst="rightArrow">
            <a:avLst/>
          </a:prstGeom>
          <a:solidFill>
            <a:srgbClr val="221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692640" y="1463040"/>
            <a:ext cx="1920240" cy="960120"/>
          </a:xfrm>
          <a:prstGeom prst="roundRect">
            <a:avLst>
              <a:gd name="adj" fmla="val 8000"/>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500" b="1">
                <a:solidFill>
                  <a:srgbClr val="FFFFFF"/>
                </a:solidFill>
                <a:latin typeface="Arial"/>
              </a:rPr>
              <a:t>Grade</a:t>
            </a:r>
          </a:p>
          <a:p>
            <a:pPr algn="ctr"/>
            <a:r>
              <a:rPr sz="1300" b="0">
                <a:solidFill>
                  <a:srgbClr val="FFFFFF"/>
                </a:solidFill>
                <a:latin typeface="Arial"/>
              </a:rPr>
              <a:t>window, never a date</a:t>
            </a:r>
          </a:p>
        </p:txBody>
      </p:sp>
      <p:pic>
        <p:nvPicPr>
          <p:cNvPr id="18" name="Picture 17" descr="soh_band_c.png"/>
          <p:cNvPicPr>
            <a:picLocks noChangeAspect="1"/>
          </p:cNvPicPr>
          <p:nvPr/>
        </p:nvPicPr>
        <p:blipFill>
          <a:blip r:embed="rId3"/>
          <a:stretch>
            <a:fillRect/>
          </a:stretch>
        </p:blipFill>
        <p:spPr>
          <a:xfrm>
            <a:off x="548640" y="2997501"/>
            <a:ext cx="7863840" cy="2920397"/>
          </a:xfrm>
          <a:prstGeom prst="rect">
            <a:avLst/>
          </a:prstGeom>
        </p:spPr>
      </p:pic>
      <p:sp>
        <p:nvSpPr>
          <p:cNvPr id="19" name="TextBox 18"/>
          <p:cNvSpPr txBox="1"/>
          <p:nvPr/>
        </p:nvSpPr>
        <p:spPr>
          <a:xfrm>
            <a:off x="8732520" y="2743200"/>
            <a:ext cx="3017520" cy="731520"/>
          </a:xfrm>
          <a:prstGeom prst="rect">
            <a:avLst/>
          </a:prstGeom>
          <a:noFill/>
        </p:spPr>
        <p:txBody>
          <a:bodyPr wrap="square" lIns="36576" tIns="18288" rIns="36576" bIns="18288" anchor="t">
            <a:spAutoFit/>
          </a:bodyPr>
          <a:lstStyle/>
          <a:p>
            <a:pPr algn="l">
              <a:spcAft>
                <a:spcPts val="400"/>
              </a:spcAft>
            </a:pPr>
            <a:r>
              <a:rPr sz="3400" b="1" i="0">
                <a:solidFill>
                  <a:srgbClr val="F39200"/>
                </a:solidFill>
                <a:latin typeface="Arial"/>
              </a:rPr>
              <a:t>8.2 pt</a:t>
            </a:r>
          </a:p>
        </p:txBody>
      </p:sp>
      <p:sp>
        <p:nvSpPr>
          <p:cNvPr id="20" name="TextBox 19"/>
          <p:cNvSpPr txBox="1"/>
          <p:nvPr/>
        </p:nvSpPr>
        <p:spPr>
          <a:xfrm>
            <a:off x="8732520" y="3456432"/>
            <a:ext cx="3017520" cy="731520"/>
          </a:xfrm>
          <a:prstGeom prst="rect">
            <a:avLst/>
          </a:prstGeom>
          <a:noFill/>
        </p:spPr>
        <p:txBody>
          <a:bodyPr wrap="square" lIns="36576" tIns="18288" rIns="36576" bIns="18288" anchor="t">
            <a:spAutoFit/>
          </a:bodyPr>
          <a:lstStyle/>
          <a:p>
            <a:pPr algn="l">
              <a:spcAft>
                <a:spcPts val="400"/>
              </a:spcAft>
            </a:pPr>
            <a:r>
              <a:rPr sz="1300" b="0" i="0" dirty="0" err="1">
                <a:solidFill>
                  <a:srgbClr val="221E1F"/>
                </a:solidFill>
                <a:latin typeface="Arial"/>
              </a:rPr>
              <a:t>SoH</a:t>
            </a:r>
            <a:r>
              <a:rPr sz="1300" b="0" i="0" dirty="0">
                <a:solidFill>
                  <a:srgbClr val="221E1F"/>
                </a:solidFill>
                <a:latin typeface="Arial"/>
              </a:rPr>
              <a:t> error on 3 never-seen test batteries (synthetic data — honest, not flattering)</a:t>
            </a:r>
          </a:p>
        </p:txBody>
      </p:sp>
      <p:sp>
        <p:nvSpPr>
          <p:cNvPr id="21" name="TextBox 20"/>
          <p:cNvSpPr txBox="1"/>
          <p:nvPr/>
        </p:nvSpPr>
        <p:spPr>
          <a:xfrm>
            <a:off x="8732520" y="4160520"/>
            <a:ext cx="3017520" cy="731520"/>
          </a:xfrm>
          <a:prstGeom prst="rect">
            <a:avLst/>
          </a:prstGeom>
          <a:noFill/>
        </p:spPr>
        <p:txBody>
          <a:bodyPr wrap="square" lIns="36576" tIns="18288" rIns="36576" bIns="18288" anchor="t">
            <a:spAutoFit/>
          </a:bodyPr>
          <a:lstStyle/>
          <a:p>
            <a:pPr algn="l">
              <a:spcAft>
                <a:spcPts val="400"/>
              </a:spcAft>
            </a:pPr>
            <a:r>
              <a:rPr sz="3400" b="1" i="0">
                <a:solidFill>
                  <a:srgbClr val="FDC300"/>
                </a:solidFill>
                <a:latin typeface="Arial"/>
              </a:rPr>
              <a:t>+0.01 pt</a:t>
            </a:r>
          </a:p>
        </p:txBody>
      </p:sp>
      <p:sp>
        <p:nvSpPr>
          <p:cNvPr id="22" name="TextBox 21"/>
          <p:cNvSpPr txBox="1"/>
          <p:nvPr/>
        </p:nvSpPr>
        <p:spPr>
          <a:xfrm>
            <a:off x="8732520" y="4873752"/>
            <a:ext cx="3017520" cy="731520"/>
          </a:xfrm>
          <a:prstGeom prst="rect">
            <a:avLst/>
          </a:prstGeom>
          <a:noFill/>
        </p:spPr>
        <p:txBody>
          <a:bodyPr wrap="square" lIns="36576" tIns="18288" rIns="36576" bIns="18288" anchor="t">
            <a:spAutoFit/>
          </a:bodyPr>
          <a:lstStyle/>
          <a:p>
            <a:pPr algn="l">
              <a:spcAft>
                <a:spcPts val="400"/>
              </a:spcAft>
            </a:pPr>
            <a:r>
              <a:rPr sz="1300" b="0" i="0" dirty="0">
                <a:solidFill>
                  <a:srgbClr val="221E1F"/>
                </a:solidFill>
                <a:latin typeface="Arial"/>
              </a:rPr>
              <a:t>accuracy lost going float → int8 — it fits on the chip for free</a:t>
            </a:r>
          </a:p>
        </p:txBody>
      </p:sp>
      <p:sp>
        <p:nvSpPr>
          <p:cNvPr id="23" name="TextBox 22"/>
          <p:cNvSpPr txBox="1"/>
          <p:nvPr/>
        </p:nvSpPr>
        <p:spPr>
          <a:xfrm>
            <a:off x="8732520" y="5577840"/>
            <a:ext cx="3108960" cy="640080"/>
          </a:xfrm>
          <a:prstGeom prst="rect">
            <a:avLst/>
          </a:prstGeom>
          <a:noFill/>
        </p:spPr>
        <p:txBody>
          <a:bodyPr wrap="square" lIns="36576" tIns="18288" rIns="36576" bIns="18288" anchor="t">
            <a:spAutoFit/>
          </a:bodyPr>
          <a:lstStyle/>
          <a:p>
            <a:pPr algn="l">
              <a:spcAft>
                <a:spcPts val="400"/>
              </a:spcAft>
            </a:pPr>
            <a:r>
              <a:rPr sz="1200" b="0" i="1">
                <a:solidFill>
                  <a:srgbClr val="6C757D"/>
                </a:solidFill>
                <a:latin typeface="Arial"/>
              </a:rPr>
              <a:t>Band is calibrated but wide today; the Kochi aging campaign narrows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Same outage, same battery: only Home 1 keeps its fridge on.</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Battery charge through the 7–11 pm cut, straight from our simulation engine, using our specified shed thresholds.</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7</a:t>
            </a:r>
          </a:p>
        </p:txBody>
      </p:sp>
      <p:graphicFrame>
        <p:nvGraphicFramePr>
          <p:cNvPr id="9" name="Chart 8"/>
          <p:cNvGraphicFramePr>
            <a:graphicFrameLocks noGrp="1"/>
          </p:cNvGraphicFramePr>
          <p:nvPr/>
        </p:nvGraphicFramePr>
        <p:xfrm>
          <a:off x="548640" y="1417320"/>
          <a:ext cx="813816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Oval 9"/>
          <p:cNvSpPr/>
          <p:nvPr/>
        </p:nvSpPr>
        <p:spPr>
          <a:xfrm>
            <a:off x="4042714" y="3535641"/>
            <a:ext cx="146304" cy="146304"/>
          </a:xfrm>
          <a:prstGeom prst="ellipse">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7306" y="2740113"/>
            <a:ext cx="2057400" cy="640080"/>
          </a:xfrm>
          <a:prstGeom prst="rect">
            <a:avLst/>
          </a:prstGeom>
          <a:noFill/>
        </p:spPr>
        <p:txBody>
          <a:bodyPr wrap="square" lIns="36576" tIns="18288" rIns="36576" bIns="18288" anchor="t">
            <a:spAutoFit/>
          </a:bodyPr>
          <a:lstStyle/>
          <a:p>
            <a:pPr algn="l">
              <a:spcAft>
                <a:spcPts val="400"/>
              </a:spcAft>
            </a:pPr>
            <a:r>
              <a:rPr sz="1200" b="1" i="0">
                <a:solidFill>
                  <a:srgbClr val="B8860B"/>
                </a:solidFill>
                <a:latin typeface="Arial"/>
              </a:rPr>
              <a:t>8:24 pm · fans &amp; TV deferred
(T2 at 55 %)</a:t>
            </a:r>
          </a:p>
        </p:txBody>
      </p:sp>
      <p:sp>
        <p:nvSpPr>
          <p:cNvPr id="12" name="Oval 11"/>
          <p:cNvSpPr/>
          <p:nvPr/>
        </p:nvSpPr>
        <p:spPr>
          <a:xfrm>
            <a:off x="6393738" y="4829403"/>
            <a:ext cx="146304" cy="146304"/>
          </a:xfrm>
          <a:prstGeom prst="ellipse">
            <a:avLst/>
          </a:prstGeom>
          <a:solidFill>
            <a:srgbClr val="D6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18050" y="5039715"/>
            <a:ext cx="2194560" cy="640080"/>
          </a:xfrm>
          <a:prstGeom prst="rect">
            <a:avLst/>
          </a:prstGeom>
          <a:noFill/>
        </p:spPr>
        <p:txBody>
          <a:bodyPr wrap="square" lIns="36576" tIns="18288" rIns="36576" bIns="18288" anchor="t">
            <a:spAutoFit/>
          </a:bodyPr>
          <a:lstStyle/>
          <a:p>
            <a:pPr algn="l">
              <a:spcAft>
                <a:spcPts val="400"/>
              </a:spcAft>
            </a:pPr>
            <a:r>
              <a:rPr sz="1200" b="1" i="0">
                <a:solidFill>
                  <a:srgbClr val="D63A4F"/>
                </a:solidFill>
                <a:latin typeface="Arial"/>
              </a:rPr>
              <a:t>10:03 pm · Home 6 cut-off:
fridge, router, lights OFF</a:t>
            </a:r>
          </a:p>
        </p:txBody>
      </p:sp>
      <p:sp>
        <p:nvSpPr>
          <p:cNvPr id="14" name="Oval 13"/>
          <p:cNvSpPr/>
          <p:nvPr/>
        </p:nvSpPr>
        <p:spPr>
          <a:xfrm>
            <a:off x="7216597" y="4090111"/>
            <a:ext cx="146304" cy="146304"/>
          </a:xfrm>
          <a:prstGeom prst="ellipse">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192469" y="4346143"/>
            <a:ext cx="2377440" cy="640080"/>
          </a:xfrm>
          <a:prstGeom prst="rect">
            <a:avLst/>
          </a:prstGeom>
          <a:noFill/>
        </p:spPr>
        <p:txBody>
          <a:bodyPr wrap="square" lIns="36576" tIns="18288" rIns="36576" bIns="18288" anchor="t">
            <a:spAutoFit/>
          </a:bodyPr>
          <a:lstStyle/>
          <a:p>
            <a:pPr algn="l">
              <a:spcAft>
                <a:spcPts val="400"/>
              </a:spcAft>
            </a:pPr>
            <a:r>
              <a:rPr sz="1200" b="1" i="0">
                <a:solidFill>
                  <a:srgbClr val="F39200"/>
                </a:solidFill>
                <a:latin typeface="Arial"/>
              </a:rPr>
              <a:t>10:37 pm · heavy sockets shed
(T3 at 40 %)</a:t>
            </a:r>
          </a:p>
        </p:txBody>
      </p:sp>
      <p:sp>
        <p:nvSpPr>
          <p:cNvPr id="16" name="TextBox 15"/>
          <p:cNvSpPr txBox="1"/>
          <p:nvPr/>
        </p:nvSpPr>
        <p:spPr>
          <a:xfrm>
            <a:off x="8961120" y="1463040"/>
            <a:ext cx="2834640" cy="731520"/>
          </a:xfrm>
          <a:prstGeom prst="rect">
            <a:avLst/>
          </a:prstGeom>
          <a:noFill/>
        </p:spPr>
        <p:txBody>
          <a:bodyPr wrap="square" lIns="36576" tIns="18288" rIns="36576" bIns="18288" anchor="t">
            <a:spAutoFit/>
          </a:bodyPr>
          <a:lstStyle/>
          <a:p>
            <a:pPr algn="l">
              <a:spcAft>
                <a:spcPts val="400"/>
              </a:spcAft>
            </a:pPr>
            <a:r>
              <a:rPr sz="3600" b="1" i="0">
                <a:solidFill>
                  <a:srgbClr val="D63A4F"/>
                </a:solidFill>
                <a:latin typeface="Arial"/>
              </a:rPr>
              <a:t>57 min</a:t>
            </a:r>
          </a:p>
        </p:txBody>
      </p:sp>
      <p:sp>
        <p:nvSpPr>
          <p:cNvPr id="17" name="TextBox 16"/>
          <p:cNvSpPr txBox="1"/>
          <p:nvPr/>
        </p:nvSpPr>
        <p:spPr>
          <a:xfrm>
            <a:off x="8961120" y="2176272"/>
            <a:ext cx="283464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Home 6 sat in the dark until mains returned at 11 pm</a:t>
            </a:r>
          </a:p>
        </p:txBody>
      </p:sp>
      <p:sp>
        <p:nvSpPr>
          <p:cNvPr id="18" name="TextBox 17"/>
          <p:cNvSpPr txBox="1"/>
          <p:nvPr/>
        </p:nvSpPr>
        <p:spPr>
          <a:xfrm>
            <a:off x="8961120" y="2926080"/>
            <a:ext cx="2834640" cy="731520"/>
          </a:xfrm>
          <a:prstGeom prst="rect">
            <a:avLst/>
          </a:prstGeom>
          <a:noFill/>
        </p:spPr>
        <p:txBody>
          <a:bodyPr wrap="square" lIns="36576" tIns="18288" rIns="36576" bIns="18288" anchor="t">
            <a:spAutoFit/>
          </a:bodyPr>
          <a:lstStyle/>
          <a:p>
            <a:pPr algn="l">
              <a:spcAft>
                <a:spcPts val="400"/>
              </a:spcAft>
            </a:pPr>
            <a:r>
              <a:rPr sz="3600" b="1" i="0">
                <a:solidFill>
                  <a:srgbClr val="1E9E5A"/>
                </a:solidFill>
                <a:latin typeface="Arial"/>
              </a:rPr>
              <a:t>0 min</a:t>
            </a:r>
          </a:p>
        </p:txBody>
      </p:sp>
      <p:sp>
        <p:nvSpPr>
          <p:cNvPr id="19" name="TextBox 18"/>
          <p:cNvSpPr txBox="1"/>
          <p:nvPr/>
        </p:nvSpPr>
        <p:spPr>
          <a:xfrm>
            <a:off x="8961120" y="3639312"/>
            <a:ext cx="283464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Home 1's fridge, router and hall light were never off</a:t>
            </a:r>
          </a:p>
        </p:txBody>
      </p:sp>
      <p:sp>
        <p:nvSpPr>
          <p:cNvPr id="20" name="TextBox 19"/>
          <p:cNvSpPr txBox="1"/>
          <p:nvPr/>
        </p:nvSpPr>
        <p:spPr>
          <a:xfrm>
            <a:off x="8961120" y="4434840"/>
            <a:ext cx="2834640" cy="1828800"/>
          </a:xfrm>
          <a:prstGeom prst="rect">
            <a:avLst/>
          </a:prstGeom>
          <a:noFill/>
        </p:spPr>
        <p:txBody>
          <a:bodyPr wrap="square" lIns="36576" tIns="18288" rIns="36576" bIns="18288" anchor="t">
            <a:spAutoFit/>
          </a:bodyPr>
          <a:lstStyle/>
          <a:p>
            <a:pPr algn="l">
              <a:spcAft>
                <a:spcPts val="400"/>
              </a:spcAft>
            </a:pPr>
            <a:r>
              <a:rPr sz="1500" b="1" i="0">
                <a:solidFill>
                  <a:srgbClr val="221E1F"/>
                </a:solidFill>
                <a:latin typeface="Arial"/>
              </a:rPr>
              <a:t>Coil off = load on.</a:t>
            </a:r>
          </a:p>
          <a:p>
            <a:pPr algn="l">
              <a:spcAft>
                <a:spcPts val="400"/>
              </a:spcAft>
            </a:pPr>
            <a:r>
              <a:rPr sz="1300" b="0" i="0">
                <a:solidFill>
                  <a:srgbClr val="6C757D"/>
                </a:solidFill>
                <a:latin typeface="Arial"/>
              </a:rPr>
              <a:t>NC contactors, a hardware supervisory timer and a medical jumper: any crash or reset brings every load 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One sensor saves energy and catches a misbehaving grid.</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Both run on the metering front-end (ATM90E32AS) and the isolated voltage tap (AMC1311) — outputs of the team's own detector code.</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8</a:t>
            </a:r>
          </a:p>
        </p:txBody>
      </p:sp>
      <p:pic>
        <p:nvPicPr>
          <p:cNvPr id="9" name="Picture 8" descr="nilm_events.png"/>
          <p:cNvPicPr>
            <a:picLocks noChangeAspect="1"/>
          </p:cNvPicPr>
          <p:nvPr/>
        </p:nvPicPr>
        <p:blipFill>
          <a:blip r:embed="rId3"/>
          <a:stretch>
            <a:fillRect/>
          </a:stretch>
        </p:blipFill>
        <p:spPr>
          <a:xfrm>
            <a:off x="548640" y="1886271"/>
            <a:ext cx="5577840" cy="2262497"/>
          </a:xfrm>
          <a:prstGeom prst="rect">
            <a:avLst/>
          </a:prstGeom>
        </p:spPr>
      </p:pic>
      <p:pic>
        <p:nvPicPr>
          <p:cNvPr id="10" name="Picture 9" descr="pq_dip.png"/>
          <p:cNvPicPr>
            <a:picLocks noChangeAspect="1"/>
          </p:cNvPicPr>
          <p:nvPr/>
        </p:nvPicPr>
        <p:blipFill>
          <a:blip r:embed="rId4"/>
          <a:stretch>
            <a:fillRect/>
          </a:stretch>
        </p:blipFill>
        <p:spPr>
          <a:xfrm>
            <a:off x="6172200" y="1918277"/>
            <a:ext cx="5577840" cy="2198485"/>
          </a:xfrm>
          <a:prstGeom prst="rect">
            <a:avLst/>
          </a:prstGeom>
        </p:spPr>
      </p:pic>
      <p:sp>
        <p:nvSpPr>
          <p:cNvPr id="11" name="TextBox 10"/>
          <p:cNvSpPr txBox="1"/>
          <p:nvPr/>
        </p:nvSpPr>
        <p:spPr>
          <a:xfrm>
            <a:off x="640080" y="4709160"/>
            <a:ext cx="5394960" cy="1463040"/>
          </a:xfrm>
          <a:prstGeom prst="rect">
            <a:avLst/>
          </a:prstGeom>
          <a:noFill/>
        </p:spPr>
        <p:txBody>
          <a:bodyPr wrap="square" lIns="36576" tIns="18288" rIns="36576" bIns="18288" anchor="t">
            <a:spAutoFit/>
          </a:bodyPr>
          <a:lstStyle/>
          <a:p>
            <a:pPr algn="l">
              <a:spcAft>
                <a:spcPts val="400"/>
              </a:spcAft>
            </a:pPr>
            <a:r>
              <a:rPr sz="1600" b="1" i="0">
                <a:solidFill>
                  <a:srgbClr val="F39200"/>
                </a:solidFill>
                <a:latin typeface="Arial"/>
              </a:rPr>
              <a:t>Energy Coach  </a:t>
            </a:r>
            <a:r>
              <a:rPr sz="1400" b="0" i="0">
                <a:solidFill>
                  <a:srgbClr val="221E1F"/>
                </a:solidFill>
                <a:latin typeface="Arial"/>
              </a:rPr>
              <a:t>123 switch-ON/OFF events found in 3 h of whole-home power; each becomes a 13-number signature. Fridge F1 0.97, iron 1.00.</a:t>
            </a:r>
          </a:p>
        </p:txBody>
      </p:sp>
      <p:sp>
        <p:nvSpPr>
          <p:cNvPr id="12" name="TextBox 11"/>
          <p:cNvSpPr txBox="1"/>
          <p:nvPr/>
        </p:nvSpPr>
        <p:spPr>
          <a:xfrm>
            <a:off x="6263640" y="4709160"/>
            <a:ext cx="5394960" cy="1463040"/>
          </a:xfrm>
          <a:prstGeom prst="rect">
            <a:avLst/>
          </a:prstGeom>
          <a:noFill/>
        </p:spPr>
        <p:txBody>
          <a:bodyPr wrap="square" lIns="36576" tIns="18288" rIns="36576" bIns="18288" anchor="t">
            <a:spAutoFit/>
          </a:bodyPr>
          <a:lstStyle/>
          <a:p>
            <a:pPr algn="l">
              <a:spcAft>
                <a:spcPts val="400"/>
              </a:spcAft>
            </a:pPr>
            <a:r>
              <a:rPr sz="1600" b="1" i="0">
                <a:solidFill>
                  <a:srgbClr val="D63A4F"/>
                </a:solidFill>
                <a:latin typeface="Arial"/>
              </a:rPr>
              <a:t>Grid Shield  </a:t>
            </a:r>
            <a:r>
              <a:rPr sz="1400" b="0" i="0">
                <a:solidFill>
                  <a:srgbClr val="221E1F"/>
                </a:solidFill>
                <a:latin typeface="Arial"/>
              </a:rPr>
              <a:t>a 120 ms sag to 0.55 pu measured as 0.54; a 100 ms swell to 1.15 pu as 1.16. 13 / 13 dips caught. Logged, dated, signed.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FFFFFF"/>
                </a:solidFill>
                <a:latin typeface="Arial"/>
              </a:rPr>
              <a:t>Inside the inverter, Sentinel taps what's already there.</a:t>
            </a:r>
          </a:p>
        </p:txBody>
      </p:sp>
      <p:sp>
        <p:nvSpPr>
          <p:cNvPr id="6" name="TextBox 5"/>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A9B0BC"/>
                </a:solidFill>
                <a:latin typeface="Arial"/>
              </a:rPr>
              <a:t>Our 3D proof of concept of the Embedded SKU: lid off, every part clickable, live power flow.</a:t>
            </a:r>
          </a:p>
        </p:txBody>
      </p:sp>
      <p:sp>
        <p:nvSpPr>
          <p:cNvPr id="7" name="Rectangle 6"/>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9" name="TextBox 8"/>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9</a:t>
            </a:r>
          </a:p>
        </p:txBody>
      </p:sp>
      <p:pic>
        <p:nvPicPr>
          <p:cNvPr id="10" name="Picture 9" descr="b_inside_c.png"/>
          <p:cNvPicPr>
            <a:picLocks noChangeAspect="1"/>
          </p:cNvPicPr>
          <p:nvPr/>
        </p:nvPicPr>
        <p:blipFill>
          <a:blip r:embed="rId3"/>
          <a:stretch>
            <a:fillRect/>
          </a:stretch>
        </p:blipFill>
        <p:spPr>
          <a:xfrm>
            <a:off x="548640" y="1513515"/>
            <a:ext cx="7040880" cy="4562490"/>
          </a:xfrm>
          <a:prstGeom prst="rect">
            <a:avLst/>
          </a:prstGeom>
          <a:ln w="19050">
            <a:solidFill>
              <a:srgbClr val="FDC300"/>
            </a:solidFill>
          </a:ln>
        </p:spPr>
      </p:pic>
      <p:sp>
        <p:nvSpPr>
          <p:cNvPr id="11" name="Oval 10"/>
          <p:cNvSpPr/>
          <p:nvPr/>
        </p:nvSpPr>
        <p:spPr>
          <a:xfrm>
            <a:off x="7863840" y="1508760"/>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12" name="TextBox 11"/>
          <p:cNvSpPr txBox="1"/>
          <p:nvPr/>
        </p:nvSpPr>
        <p:spPr>
          <a:xfrm>
            <a:off x="8412480" y="1463040"/>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Inverter's own shunt (I8)</a:t>
            </a:r>
          </a:p>
          <a:p>
            <a:pPr algn="l">
              <a:spcAft>
                <a:spcPts val="100"/>
              </a:spcAft>
            </a:pPr>
            <a:r>
              <a:rPr sz="1300" b="0" i="0">
                <a:solidFill>
                  <a:srgbClr val="C9CED6"/>
                </a:solidFill>
                <a:latin typeface="Arial"/>
              </a:rPr>
              <a:t>→ INA228 · battery current</a:t>
            </a:r>
          </a:p>
        </p:txBody>
      </p:sp>
      <p:sp>
        <p:nvSpPr>
          <p:cNvPr id="13" name="Oval 12"/>
          <p:cNvSpPr/>
          <p:nvPr/>
        </p:nvSpPr>
        <p:spPr>
          <a:xfrm>
            <a:off x="7863840" y="2441448"/>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4" name="TextBox 13"/>
          <p:cNvSpPr txBox="1"/>
          <p:nvPr/>
        </p:nvSpPr>
        <p:spPr>
          <a:xfrm>
            <a:off x="8412480" y="2395728"/>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Mode / mains line</a:t>
            </a:r>
          </a:p>
          <a:p>
            <a:pPr algn="l">
              <a:spcAft>
                <a:spcPts val="100"/>
              </a:spcAft>
            </a:pPr>
            <a:r>
              <a:rPr sz="1300" b="0" i="0">
                <a:solidFill>
                  <a:srgbClr val="C9CED6"/>
                </a:solidFill>
                <a:latin typeface="Arial"/>
              </a:rPr>
              <a:t>→ PC817 opto · outage vote s2</a:t>
            </a:r>
          </a:p>
        </p:txBody>
      </p:sp>
      <p:sp>
        <p:nvSpPr>
          <p:cNvPr id="15" name="Oval 14"/>
          <p:cNvSpPr/>
          <p:nvPr/>
        </p:nvSpPr>
        <p:spPr>
          <a:xfrm>
            <a:off x="7863840" y="3374136"/>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16" name="TextBox 15"/>
          <p:cNvSpPr txBox="1"/>
          <p:nvPr/>
        </p:nvSpPr>
        <p:spPr>
          <a:xfrm>
            <a:off x="8412480" y="3328416"/>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SG3525 charge feedback</a:t>
            </a:r>
          </a:p>
          <a:p>
            <a:pPr algn="l">
              <a:spcAft>
                <a:spcPts val="100"/>
              </a:spcAft>
            </a:pPr>
            <a:r>
              <a:rPr sz="1300" b="0" i="0">
                <a:solidFill>
                  <a:srgbClr val="C9CED6"/>
                </a:solidFill>
                <a:latin typeface="Arial"/>
              </a:rPr>
              <a:t>→ MCP4725 DAC · temperature-compensated charging</a:t>
            </a:r>
          </a:p>
        </p:txBody>
      </p:sp>
      <p:sp>
        <p:nvSpPr>
          <p:cNvPr id="17" name="Oval 16"/>
          <p:cNvSpPr/>
          <p:nvPr/>
        </p:nvSpPr>
        <p:spPr>
          <a:xfrm>
            <a:off x="7863840" y="4306824"/>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4</a:t>
            </a:r>
          </a:p>
        </p:txBody>
      </p:sp>
      <p:sp>
        <p:nvSpPr>
          <p:cNvPr id="18" name="TextBox 17"/>
          <p:cNvSpPr txBox="1"/>
          <p:nvPr/>
        </p:nvSpPr>
        <p:spPr>
          <a:xfrm>
            <a:off x="8412480" y="4261104"/>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AC-OUT rail</a:t>
            </a:r>
          </a:p>
          <a:p>
            <a:pPr algn="l">
              <a:spcAft>
                <a:spcPts val="100"/>
              </a:spcAft>
            </a:pPr>
            <a:r>
              <a:rPr sz="1300" b="0" i="0">
                <a:solidFill>
                  <a:srgbClr val="C9CED6"/>
                </a:solidFill>
                <a:latin typeface="Arial"/>
              </a:rPr>
              <a:t>→ AMC1311 + ATM90E32AS · V, P, Q</a:t>
            </a:r>
          </a:p>
        </p:txBody>
      </p:sp>
      <p:sp>
        <p:nvSpPr>
          <p:cNvPr id="19" name="Oval 18"/>
          <p:cNvSpPr/>
          <p:nvPr/>
        </p:nvSpPr>
        <p:spPr>
          <a:xfrm>
            <a:off x="7863840" y="5239512"/>
            <a:ext cx="411480" cy="41148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5</a:t>
            </a:r>
          </a:p>
        </p:txBody>
      </p:sp>
      <p:sp>
        <p:nvSpPr>
          <p:cNvPr id="20" name="TextBox 19"/>
          <p:cNvSpPr txBox="1"/>
          <p:nvPr/>
        </p:nvSpPr>
        <p:spPr>
          <a:xfrm>
            <a:off x="8412480" y="5193792"/>
            <a:ext cx="3383280" cy="868680"/>
          </a:xfrm>
          <a:prstGeom prst="rect">
            <a:avLst/>
          </a:prstGeom>
          <a:noFill/>
        </p:spPr>
        <p:txBody>
          <a:bodyPr wrap="square" lIns="36576" tIns="18288" rIns="36576" bIns="18288" anchor="t">
            <a:spAutoFit/>
          </a:bodyPr>
          <a:lstStyle/>
          <a:p>
            <a:pPr algn="l">
              <a:spcAft>
                <a:spcPts val="100"/>
              </a:spcAft>
            </a:pPr>
            <a:r>
              <a:rPr sz="1500" b="1" i="0">
                <a:solidFill>
                  <a:srgbClr val="FFFFFF"/>
                </a:solidFill>
                <a:latin typeface="Arial"/>
              </a:rPr>
              <a:t>4 coil outputs</a:t>
            </a:r>
          </a:p>
          <a:p>
            <a:pPr algn="l">
              <a:spcAft>
                <a:spcPts val="100"/>
              </a:spcAft>
            </a:pPr>
            <a:r>
              <a:rPr sz="1300" b="0" i="0">
                <a:solidFill>
                  <a:srgbClr val="C9CED6"/>
                </a:solidFill>
                <a:latin typeface="Arial"/>
              </a:rPr>
              <a:t>→ NC contactor panel · T1 / T2 / T3 / medical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FFFFFF"/>
                </a:solidFill>
                <a:latin typeface="Arial"/>
              </a:rPr>
              <a:t>Designed to be built: 90 × 70 × 35 mm, HV zone fenced off.</a:t>
            </a:r>
          </a:p>
        </p:txBody>
      </p:sp>
      <p:sp>
        <p:nvSpPr>
          <p:cNvPr id="6" name="TextBox 5"/>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A9B0BC"/>
                </a:solidFill>
                <a:latin typeface="Arial"/>
              </a:rPr>
              <a:t>Mechanical drawing from our final spec, and the same board as a 3D render in the simulation.</a:t>
            </a:r>
          </a:p>
        </p:txBody>
      </p:sp>
      <p:sp>
        <p:nvSpPr>
          <p:cNvPr id="7" name="Rectangle 6"/>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9" name="TextBox 8"/>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10</a:t>
            </a:r>
          </a:p>
        </p:txBody>
      </p:sp>
      <p:pic>
        <p:nvPicPr>
          <p:cNvPr id="10" name="Picture 9" descr="cad_sheet.png"/>
          <p:cNvPicPr>
            <a:picLocks noChangeAspect="1"/>
          </p:cNvPicPr>
          <p:nvPr/>
        </p:nvPicPr>
        <p:blipFill>
          <a:blip r:embed="rId3"/>
          <a:stretch>
            <a:fillRect/>
          </a:stretch>
        </p:blipFill>
        <p:spPr>
          <a:xfrm>
            <a:off x="457200" y="1683067"/>
            <a:ext cx="7589520" cy="4269105"/>
          </a:xfrm>
          <a:prstGeom prst="rect">
            <a:avLst/>
          </a:prstGeom>
        </p:spPr>
      </p:pic>
      <p:pic>
        <p:nvPicPr>
          <p:cNvPr id="11" name="Picture 10" descr="b_board_c.png"/>
          <p:cNvPicPr>
            <a:picLocks noChangeAspect="1"/>
          </p:cNvPicPr>
          <p:nvPr/>
        </p:nvPicPr>
        <p:blipFill>
          <a:blip r:embed="rId4"/>
          <a:stretch>
            <a:fillRect/>
          </a:stretch>
        </p:blipFill>
        <p:spPr>
          <a:xfrm>
            <a:off x="8183879" y="1488277"/>
            <a:ext cx="3520440" cy="2281245"/>
          </a:xfrm>
          <a:prstGeom prst="rect">
            <a:avLst/>
          </a:prstGeom>
          <a:ln w="19050">
            <a:solidFill>
              <a:srgbClr val="FDC300"/>
            </a:solidFill>
          </a:ln>
        </p:spPr>
      </p:pic>
      <p:sp>
        <p:nvSpPr>
          <p:cNvPr id="12" name="TextBox 11"/>
          <p:cNvSpPr txBox="1"/>
          <p:nvPr/>
        </p:nvSpPr>
        <p:spPr>
          <a:xfrm>
            <a:off x="8183879" y="3931920"/>
            <a:ext cx="3566160" cy="2194560"/>
          </a:xfrm>
          <a:prstGeom prst="rect">
            <a:avLst/>
          </a:prstGeom>
          <a:noFill/>
        </p:spPr>
        <p:txBody>
          <a:bodyPr wrap="square" lIns="36576" tIns="18288" rIns="36576" bIns="18288" anchor="t">
            <a:spAutoFit/>
          </a:bodyPr>
          <a:lstStyle/>
          <a:p>
            <a:pPr algn="l">
              <a:spcAft>
                <a:spcPts val="200"/>
              </a:spcAft>
            </a:pPr>
            <a:r>
              <a:rPr sz="1400" b="1" i="0">
                <a:solidFill>
                  <a:srgbClr val="FDC300"/>
                </a:solidFill>
                <a:latin typeface="Arial"/>
              </a:rPr>
              <a:t>Battery current never enters the PCB</a:t>
            </a:r>
          </a:p>
          <a:p>
            <a:pPr algn="l">
              <a:spcAft>
                <a:spcPts val="200"/>
              </a:spcAft>
            </a:pPr>
            <a:r>
              <a:rPr sz="1300" b="0" i="0">
                <a:solidFill>
                  <a:srgbClr val="C9CED6"/>
                </a:solidFill>
                <a:latin typeface="Arial"/>
              </a:rPr>
              <a:t>only the shunt's millivolts do.</a:t>
            </a:r>
          </a:p>
          <a:p>
            <a:pPr algn="l">
              <a:spcAft>
                <a:spcPts val="200"/>
              </a:spcAft>
            </a:pPr>
            <a:r>
              <a:rPr sz="1400" b="1" i="0">
                <a:solidFill>
                  <a:srgbClr val="FDC300"/>
                </a:solidFill>
                <a:latin typeface="Arial"/>
              </a:rPr>
              <a:t>Isolation moat</a:t>
            </a:r>
          </a:p>
          <a:p>
            <a:pPr algn="l">
              <a:spcAft>
                <a:spcPts val="200"/>
              </a:spcAft>
            </a:pPr>
            <a:r>
              <a:rPr sz="1300" b="0" i="0">
                <a:solidFill>
                  <a:srgbClr val="C9CED6"/>
                </a:solidFill>
                <a:latin typeface="Arial"/>
              </a:rPr>
              <a:t>AMC1311 and PC817 straddle the HV zone.</a:t>
            </a:r>
          </a:p>
          <a:p>
            <a:pPr algn="l">
              <a:spcAft>
                <a:spcPts val="200"/>
              </a:spcAft>
            </a:pPr>
            <a:r>
              <a:rPr sz="1400" b="1" i="0">
                <a:solidFill>
                  <a:srgbClr val="FDC300"/>
                </a:solidFill>
                <a:latin typeface="Arial"/>
              </a:rPr>
              <a:t>UL94 V-0 PC/ABS, 4× M3</a:t>
            </a:r>
          </a:p>
          <a:p>
            <a:pPr algn="l">
              <a:spcAft>
                <a:spcPts val="200"/>
              </a:spcAft>
            </a:pPr>
            <a:r>
              <a:rPr sz="1300" b="0" i="0">
                <a:solidFill>
                  <a:srgbClr val="C9CED6"/>
                </a:solidFill>
                <a:latin typeface="Arial"/>
              </a:rPr>
              <a:t>DIN or screw mount beside the inverter.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And this is exactly how the bench is wired.</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Real battery, real inverter, off-the-shelf parts. Every component is available from Indian distributors today.</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11</a:t>
            </a:r>
          </a:p>
        </p:txBody>
      </p:sp>
      <p:pic>
        <p:nvPicPr>
          <p:cNvPr id="9" name="Picture 8" descr="bench_sketch.png"/>
          <p:cNvPicPr>
            <a:picLocks noChangeAspect="1"/>
          </p:cNvPicPr>
          <p:nvPr/>
        </p:nvPicPr>
        <p:blipFill>
          <a:blip r:embed="rId4"/>
          <a:stretch>
            <a:fillRect/>
          </a:stretch>
        </p:blipFill>
        <p:spPr>
          <a:xfrm>
            <a:off x="1610360" y="1325880"/>
            <a:ext cx="8940800"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FFFFFF"/>
                </a:solidFill>
                <a:latin typeface="Arial"/>
              </a:rPr>
              <a:t>Let's watch it happen — live.</a:t>
            </a:r>
          </a:p>
        </p:txBody>
      </p:sp>
      <p:sp>
        <p:nvSpPr>
          <p:cNvPr id="6" name="TextBox 5"/>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A9B0BC"/>
                </a:solidFill>
                <a:latin typeface="Arial"/>
              </a:rPr>
              <a:t>Sentinel Live runs offline in one HTML file. Three moments to watch for:</a:t>
            </a:r>
          </a:p>
        </p:txBody>
      </p:sp>
      <p:sp>
        <p:nvSpPr>
          <p:cNvPr id="7" name="Rectangle 6"/>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9" name="TextBox 8"/>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12</a:t>
            </a:r>
          </a:p>
        </p:txBody>
      </p:sp>
      <p:pic>
        <p:nvPicPr>
          <p:cNvPr id="10" name="Picture 9" descr="v_overview_outage.png"/>
          <p:cNvPicPr>
            <a:picLocks noChangeAspect="1"/>
          </p:cNvPicPr>
          <p:nvPr/>
        </p:nvPicPr>
        <p:blipFill>
          <a:blip r:embed="rId3"/>
          <a:stretch>
            <a:fillRect/>
          </a:stretch>
        </p:blipFill>
        <p:spPr>
          <a:xfrm>
            <a:off x="548640" y="1740217"/>
            <a:ext cx="3566160" cy="2005965"/>
          </a:xfrm>
          <a:prstGeom prst="rect">
            <a:avLst/>
          </a:prstGeom>
          <a:ln w="19050">
            <a:solidFill>
              <a:srgbClr val="FDC300"/>
            </a:solidFill>
          </a:ln>
        </p:spPr>
      </p:pic>
      <p:sp>
        <p:nvSpPr>
          <p:cNvPr id="11" name="TextBox 10"/>
          <p:cNvSpPr txBox="1"/>
          <p:nvPr/>
        </p:nvSpPr>
        <p:spPr>
          <a:xfrm>
            <a:off x="548640" y="4114800"/>
            <a:ext cx="3566160" cy="457200"/>
          </a:xfrm>
          <a:prstGeom prst="rect">
            <a:avLst/>
          </a:prstGeom>
          <a:noFill/>
        </p:spPr>
        <p:txBody>
          <a:bodyPr wrap="square" lIns="36576" tIns="18288" rIns="36576" bIns="18288" anchor="t">
            <a:spAutoFit/>
          </a:bodyPr>
          <a:lstStyle/>
          <a:p>
            <a:pPr algn="l">
              <a:spcAft>
                <a:spcPts val="400"/>
              </a:spcAft>
            </a:pPr>
            <a:r>
              <a:rPr sz="1900" b="1" i="0">
                <a:solidFill>
                  <a:srgbClr val="FDC300"/>
                </a:solidFill>
                <a:latin typeface="Arial"/>
              </a:rPr>
              <a:t>1 · The village</a:t>
            </a:r>
          </a:p>
        </p:txBody>
      </p:sp>
      <p:sp>
        <p:nvSpPr>
          <p:cNvPr id="12" name="TextBox 11"/>
          <p:cNvSpPr txBox="1"/>
          <p:nvPr/>
        </p:nvSpPr>
        <p:spPr>
          <a:xfrm>
            <a:off x="548640" y="4617720"/>
            <a:ext cx="3566160" cy="12801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Feeder cuts at 7 pm. Watch Home 6 go dark at 10:03 while its twin stays lit.</a:t>
            </a:r>
          </a:p>
        </p:txBody>
      </p:sp>
      <p:pic>
        <p:nvPicPr>
          <p:cNvPr id="13" name="Picture 12" descr="b_transfer_slowmo.png"/>
          <p:cNvPicPr>
            <a:picLocks noChangeAspect="1"/>
          </p:cNvPicPr>
          <p:nvPr/>
        </p:nvPicPr>
        <p:blipFill>
          <a:blip r:embed="rId4"/>
          <a:stretch>
            <a:fillRect/>
          </a:stretch>
        </p:blipFill>
        <p:spPr>
          <a:xfrm>
            <a:off x="4343400" y="1740217"/>
            <a:ext cx="3566160" cy="2005965"/>
          </a:xfrm>
          <a:prstGeom prst="rect">
            <a:avLst/>
          </a:prstGeom>
          <a:ln w="19050">
            <a:solidFill>
              <a:srgbClr val="FDC300"/>
            </a:solidFill>
          </a:ln>
        </p:spPr>
      </p:pic>
      <p:sp>
        <p:nvSpPr>
          <p:cNvPr id="14" name="TextBox 13"/>
          <p:cNvSpPr txBox="1"/>
          <p:nvPr/>
        </p:nvSpPr>
        <p:spPr>
          <a:xfrm>
            <a:off x="4343400" y="4114800"/>
            <a:ext cx="3566160" cy="457200"/>
          </a:xfrm>
          <a:prstGeom prst="rect">
            <a:avLst/>
          </a:prstGeom>
          <a:noFill/>
        </p:spPr>
        <p:txBody>
          <a:bodyPr wrap="square" lIns="36576" tIns="18288" rIns="36576" bIns="18288" anchor="t">
            <a:spAutoFit/>
          </a:bodyPr>
          <a:lstStyle/>
          <a:p>
            <a:pPr algn="l">
              <a:spcAft>
                <a:spcPts val="400"/>
              </a:spcAft>
            </a:pPr>
            <a:r>
              <a:rPr sz="1900" b="1" i="0">
                <a:solidFill>
                  <a:srgbClr val="FDC300"/>
                </a:solidFill>
                <a:latin typeface="Arial"/>
              </a:rPr>
              <a:t>2 · Flip the MCB</a:t>
            </a:r>
          </a:p>
        </p:txBody>
      </p:sp>
      <p:sp>
        <p:nvSpPr>
          <p:cNvPr id="15" name="TextBox 14"/>
          <p:cNvSpPr txBox="1"/>
          <p:nvPr/>
        </p:nvSpPr>
        <p:spPr>
          <a:xfrm>
            <a:off x="4343400" y="4617720"/>
            <a:ext cx="3566160" cy="12801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Relay swings in slow motion: 8 ms gap on the scope, outage confirmed in 1.5 s.</a:t>
            </a:r>
          </a:p>
        </p:txBody>
      </p:sp>
      <p:pic>
        <p:nvPicPr>
          <p:cNvPr id="16" name="Picture 15" descr="b_failsafe_reset.png"/>
          <p:cNvPicPr>
            <a:picLocks noChangeAspect="1"/>
          </p:cNvPicPr>
          <p:nvPr/>
        </p:nvPicPr>
        <p:blipFill>
          <a:blip r:embed="rId5"/>
          <a:stretch>
            <a:fillRect/>
          </a:stretch>
        </p:blipFill>
        <p:spPr>
          <a:xfrm>
            <a:off x="8138160" y="1740217"/>
            <a:ext cx="3566160" cy="2005965"/>
          </a:xfrm>
          <a:prstGeom prst="rect">
            <a:avLst/>
          </a:prstGeom>
          <a:ln w="19050">
            <a:solidFill>
              <a:srgbClr val="FDC300"/>
            </a:solidFill>
          </a:ln>
        </p:spPr>
      </p:pic>
      <p:sp>
        <p:nvSpPr>
          <p:cNvPr id="17" name="TextBox 16"/>
          <p:cNvSpPr txBox="1"/>
          <p:nvPr/>
        </p:nvSpPr>
        <p:spPr>
          <a:xfrm>
            <a:off x="8138160" y="4114800"/>
            <a:ext cx="3566160" cy="457200"/>
          </a:xfrm>
          <a:prstGeom prst="rect">
            <a:avLst/>
          </a:prstGeom>
          <a:noFill/>
        </p:spPr>
        <p:txBody>
          <a:bodyPr wrap="square" lIns="36576" tIns="18288" rIns="36576" bIns="18288" anchor="t">
            <a:spAutoFit/>
          </a:bodyPr>
          <a:lstStyle/>
          <a:p>
            <a:pPr algn="l">
              <a:spcAft>
                <a:spcPts val="400"/>
              </a:spcAft>
            </a:pPr>
            <a:r>
              <a:rPr sz="1900" b="1" i="0">
                <a:solidFill>
                  <a:srgbClr val="FDC300"/>
                </a:solidFill>
                <a:latin typeface="Arial"/>
              </a:rPr>
              <a:t>3 · Crash it</a:t>
            </a:r>
          </a:p>
        </p:txBody>
      </p:sp>
      <p:sp>
        <p:nvSpPr>
          <p:cNvPr id="18" name="TextBox 17"/>
          <p:cNvSpPr txBox="1"/>
          <p:nvPr/>
        </p:nvSpPr>
        <p:spPr>
          <a:xfrm>
            <a:off x="8138160" y="4617720"/>
            <a:ext cx="3566160" cy="1280160"/>
          </a:xfrm>
          <a:prstGeom prst="rect">
            <a:avLst/>
          </a:prstGeom>
          <a:noFill/>
        </p:spPr>
        <p:txBody>
          <a:bodyPr wrap="square" lIns="36576" tIns="18288" rIns="36576" bIns="18288" anchor="t">
            <a:spAutoFit/>
          </a:bodyPr>
          <a:lstStyle/>
          <a:p>
            <a:pPr algn="l">
              <a:spcAft>
                <a:spcPts val="400"/>
              </a:spcAft>
            </a:pPr>
            <a:r>
              <a:rPr sz="1400" b="0" i="0">
                <a:solidFill>
                  <a:srgbClr val="FFFFFF"/>
                </a:solidFill>
                <a:latin typeface="Arial"/>
              </a:rPr>
              <a:t>Drop SoC below 40 % → the iron sheds. Reset the chip → every load comes back.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What's proven, what's synthetic, and what still needs hardware.</a:t>
            </a:r>
          </a:p>
        </p:txBody>
      </p:sp>
      <p:sp>
        <p:nvSpPr>
          <p:cNvPr id="5" name="TextBox 4"/>
          <p:cNvSpPr txBox="1"/>
          <p:nvPr/>
        </p:nvSpPr>
        <p:spPr>
          <a:xfrm>
            <a:off x="795528" y="914400"/>
            <a:ext cx="10789920" cy="411480"/>
          </a:xfrm>
          <a:prstGeom prst="rect">
            <a:avLst/>
          </a:prstGeom>
          <a:noFill/>
        </p:spPr>
        <p:txBody>
          <a:bodyPr wrap="square" lIns="36576" tIns="18288" rIns="36576" bIns="18288" anchor="t">
            <a:spAutoFit/>
          </a:bodyPr>
          <a:lstStyle/>
          <a:p>
            <a:pPr algn="l">
              <a:spcAft>
                <a:spcPts val="400"/>
              </a:spcAft>
            </a:pPr>
            <a:r>
              <a:rPr sz="1400" b="0" i="1">
                <a:solidFill>
                  <a:srgbClr val="6C757D"/>
                </a:solidFill>
                <a:latin typeface="Arial"/>
              </a:rPr>
              <a:t>We'd rather you trust three honest columns than one shiny number.</a:t>
            </a:r>
          </a:p>
        </p:txBody>
      </p:sp>
      <p:sp>
        <p:nvSpPr>
          <p:cNvPr id="6" name="Rectangle 5"/>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13</a:t>
            </a:r>
          </a:p>
        </p:txBody>
      </p:sp>
      <p:sp>
        <p:nvSpPr>
          <p:cNvPr id="9" name="TextBox 8"/>
          <p:cNvSpPr txBox="1"/>
          <p:nvPr/>
        </p:nvSpPr>
        <p:spPr>
          <a:xfrm>
            <a:off x="640080" y="1371600"/>
            <a:ext cx="2651760" cy="731520"/>
          </a:xfrm>
          <a:prstGeom prst="rect">
            <a:avLst/>
          </a:prstGeom>
          <a:noFill/>
        </p:spPr>
        <p:txBody>
          <a:bodyPr wrap="square" lIns="36576" tIns="18288" rIns="36576" bIns="18288" anchor="t">
            <a:spAutoFit/>
          </a:bodyPr>
          <a:lstStyle/>
          <a:p>
            <a:pPr algn="l">
              <a:spcAft>
                <a:spcPts val="400"/>
              </a:spcAft>
            </a:pPr>
            <a:r>
              <a:rPr sz="3800" b="1" i="0">
                <a:solidFill>
                  <a:srgbClr val="F39200"/>
                </a:solidFill>
                <a:latin typeface="Arial"/>
              </a:rPr>
              <a:t>245</a:t>
            </a:r>
          </a:p>
        </p:txBody>
      </p:sp>
      <p:sp>
        <p:nvSpPr>
          <p:cNvPr id="10" name="TextBox 9"/>
          <p:cNvSpPr txBox="1"/>
          <p:nvPr/>
        </p:nvSpPr>
        <p:spPr>
          <a:xfrm>
            <a:off x="640080" y="2084832"/>
            <a:ext cx="26517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automated tests, all passing</a:t>
            </a:r>
          </a:p>
        </p:txBody>
      </p:sp>
      <p:sp>
        <p:nvSpPr>
          <p:cNvPr id="11" name="TextBox 10"/>
          <p:cNvSpPr txBox="1"/>
          <p:nvPr/>
        </p:nvSpPr>
        <p:spPr>
          <a:xfrm>
            <a:off x="3474720" y="1371600"/>
            <a:ext cx="2651760" cy="731520"/>
          </a:xfrm>
          <a:prstGeom prst="rect">
            <a:avLst/>
          </a:prstGeom>
          <a:noFill/>
        </p:spPr>
        <p:txBody>
          <a:bodyPr wrap="square" lIns="36576" tIns="18288" rIns="36576" bIns="18288" anchor="t">
            <a:spAutoFit/>
          </a:bodyPr>
          <a:lstStyle/>
          <a:p>
            <a:pPr algn="l">
              <a:spcAft>
                <a:spcPts val="400"/>
              </a:spcAft>
            </a:pPr>
            <a:r>
              <a:rPr sz="3800" b="1" i="0">
                <a:solidFill>
                  <a:srgbClr val="F39200"/>
                </a:solidFill>
                <a:latin typeface="Arial"/>
              </a:rPr>
              <a:t>6</a:t>
            </a:r>
          </a:p>
        </p:txBody>
      </p:sp>
      <p:sp>
        <p:nvSpPr>
          <p:cNvPr id="12" name="TextBox 11"/>
          <p:cNvSpPr txBox="1"/>
          <p:nvPr/>
        </p:nvSpPr>
        <p:spPr>
          <a:xfrm>
            <a:off x="3474720" y="2084832"/>
            <a:ext cx="26517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C modules bit-identical to Python</a:t>
            </a:r>
          </a:p>
        </p:txBody>
      </p:sp>
      <p:sp>
        <p:nvSpPr>
          <p:cNvPr id="13" name="TextBox 12"/>
          <p:cNvSpPr txBox="1"/>
          <p:nvPr/>
        </p:nvSpPr>
        <p:spPr>
          <a:xfrm>
            <a:off x="6309360" y="1371600"/>
            <a:ext cx="2651760" cy="731520"/>
          </a:xfrm>
          <a:prstGeom prst="rect">
            <a:avLst/>
          </a:prstGeom>
          <a:noFill/>
        </p:spPr>
        <p:txBody>
          <a:bodyPr wrap="square" lIns="36576" tIns="18288" rIns="36576" bIns="18288" anchor="t">
            <a:spAutoFit/>
          </a:bodyPr>
          <a:lstStyle/>
          <a:p>
            <a:pPr algn="l">
              <a:spcAft>
                <a:spcPts val="400"/>
              </a:spcAft>
            </a:pPr>
            <a:r>
              <a:rPr sz="3800" b="1" i="0">
                <a:solidFill>
                  <a:srgbClr val="F39200"/>
                </a:solidFill>
                <a:latin typeface="Arial"/>
              </a:rPr>
              <a:t>3 %</a:t>
            </a:r>
          </a:p>
        </p:txBody>
      </p:sp>
      <p:sp>
        <p:nvSpPr>
          <p:cNvPr id="14" name="TextBox 13"/>
          <p:cNvSpPr txBox="1"/>
          <p:nvPr/>
        </p:nvSpPr>
        <p:spPr>
          <a:xfrm>
            <a:off x="6309360" y="2084832"/>
            <a:ext cx="26517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Kalman SoC error vs 7.2 %/week naive</a:t>
            </a:r>
          </a:p>
        </p:txBody>
      </p:sp>
      <p:sp>
        <p:nvSpPr>
          <p:cNvPr id="15" name="TextBox 14"/>
          <p:cNvSpPr txBox="1"/>
          <p:nvPr/>
        </p:nvSpPr>
        <p:spPr>
          <a:xfrm>
            <a:off x="9144000" y="1371600"/>
            <a:ext cx="2651760" cy="731520"/>
          </a:xfrm>
          <a:prstGeom prst="rect">
            <a:avLst/>
          </a:prstGeom>
          <a:noFill/>
        </p:spPr>
        <p:txBody>
          <a:bodyPr wrap="square" lIns="36576" tIns="18288" rIns="36576" bIns="18288" anchor="t">
            <a:spAutoFit/>
          </a:bodyPr>
          <a:lstStyle/>
          <a:p>
            <a:pPr algn="l">
              <a:spcAft>
                <a:spcPts val="400"/>
              </a:spcAft>
            </a:pPr>
            <a:r>
              <a:rPr sz="3800" b="1" i="0">
                <a:solidFill>
                  <a:srgbClr val="F39200"/>
                </a:solidFill>
                <a:latin typeface="Arial"/>
              </a:rPr>
              <a:t>13 / 13</a:t>
            </a:r>
          </a:p>
        </p:txBody>
      </p:sp>
      <p:sp>
        <p:nvSpPr>
          <p:cNvPr id="16" name="TextBox 15"/>
          <p:cNvSpPr txBox="1"/>
          <p:nvPr/>
        </p:nvSpPr>
        <p:spPr>
          <a:xfrm>
            <a:off x="9144000" y="2084832"/>
            <a:ext cx="2651760" cy="731520"/>
          </a:xfrm>
          <a:prstGeom prst="rect">
            <a:avLst/>
          </a:prstGeom>
          <a:noFill/>
        </p:spPr>
        <p:txBody>
          <a:bodyPr wrap="square" lIns="36576" tIns="18288" rIns="36576" bIns="18288" anchor="t">
            <a:spAutoFit/>
          </a:bodyPr>
          <a:lstStyle/>
          <a:p>
            <a:pPr algn="l">
              <a:spcAft>
                <a:spcPts val="400"/>
              </a:spcAft>
            </a:pPr>
            <a:r>
              <a:rPr sz="1300" b="0" i="0">
                <a:solidFill>
                  <a:srgbClr val="221E1F"/>
                </a:solidFill>
                <a:latin typeface="Arial"/>
              </a:rPr>
              <a:t>grid dips detected</a:t>
            </a:r>
          </a:p>
        </p:txBody>
      </p:sp>
      <p:sp>
        <p:nvSpPr>
          <p:cNvPr id="17" name="Rounded Rectangle 16"/>
          <p:cNvSpPr/>
          <p:nvPr/>
        </p:nvSpPr>
        <p:spPr>
          <a:xfrm>
            <a:off x="548640" y="3063240"/>
            <a:ext cx="3566160" cy="3063240"/>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3200400"/>
            <a:ext cx="3200400" cy="457200"/>
          </a:xfrm>
          <a:prstGeom prst="rect">
            <a:avLst/>
          </a:prstGeom>
          <a:noFill/>
        </p:spPr>
        <p:txBody>
          <a:bodyPr wrap="square" lIns="36576" tIns="18288" rIns="36576" bIns="18288" anchor="t">
            <a:spAutoFit/>
          </a:bodyPr>
          <a:lstStyle/>
          <a:p>
            <a:pPr algn="l">
              <a:spcAft>
                <a:spcPts val="400"/>
              </a:spcAft>
            </a:pPr>
            <a:r>
              <a:rPr sz="1600" b="1" i="0">
                <a:solidFill>
                  <a:srgbClr val="000104"/>
                </a:solidFill>
                <a:latin typeface="Arial"/>
              </a:rPr>
              <a:t>PROVEN IN CODE</a:t>
            </a:r>
          </a:p>
        </p:txBody>
      </p:sp>
      <p:sp>
        <p:nvSpPr>
          <p:cNvPr id="19" name="TextBox 18"/>
          <p:cNvSpPr txBox="1"/>
          <p:nvPr/>
        </p:nvSpPr>
        <p:spPr>
          <a:xfrm>
            <a:off x="777240" y="3749039"/>
            <a:ext cx="3200400" cy="2286000"/>
          </a:xfrm>
          <a:prstGeom prst="rect">
            <a:avLst/>
          </a:prstGeom>
          <a:noFill/>
        </p:spPr>
        <p:txBody>
          <a:bodyPr wrap="square" lIns="36576" tIns="18288" rIns="36576" bIns="18288" anchor="t">
            <a:spAutoFit/>
          </a:bodyPr>
          <a:lstStyle/>
          <a:p>
            <a:pPr algn="l">
              <a:spcAft>
                <a:spcPts val="800"/>
              </a:spcAft>
            </a:pPr>
            <a:r>
              <a:rPr sz="1400" b="0" i="0">
                <a:solidFill>
                  <a:srgbClr val="F39200"/>
                </a:solidFill>
                <a:latin typeface="Arial"/>
              </a:rPr>
              <a:t>▪  </a:t>
            </a:r>
            <a:r>
              <a:rPr sz="1400" b="0" i="0">
                <a:solidFill>
                  <a:srgbClr val="221E1F"/>
                </a:solidFill>
                <a:latin typeface="Arial"/>
              </a:rPr>
              <a:t>int8 model exported + golden self-test in C</a:t>
            </a:r>
          </a:p>
          <a:p>
            <a:pPr algn="l">
              <a:spcAft>
                <a:spcPts val="800"/>
              </a:spcAft>
            </a:pPr>
            <a:r>
              <a:rPr sz="1400" b="0" i="0">
                <a:solidFill>
                  <a:srgbClr val="F39200"/>
                </a:solidFill>
                <a:latin typeface="Arial"/>
              </a:rPr>
              <a:t>▪  </a:t>
            </a:r>
            <a:r>
              <a:rPr sz="1400" b="0" i="0">
                <a:solidFill>
                  <a:srgbClr val="221E1F"/>
                </a:solidFill>
                <a:latin typeface="Arial"/>
              </a:rPr>
              <a:t>autopilot: 50 / 50 C scenarios, zero chatter</a:t>
            </a:r>
          </a:p>
          <a:p>
            <a:pPr algn="l">
              <a:spcAft>
                <a:spcPts val="800"/>
              </a:spcAft>
            </a:pPr>
            <a:r>
              <a:rPr sz="1400" b="0" i="0">
                <a:solidFill>
                  <a:srgbClr val="F39200"/>
                </a:solidFill>
                <a:latin typeface="Arial"/>
              </a:rPr>
              <a:t>▪  </a:t>
            </a:r>
            <a:r>
              <a:rPr sz="1400" b="0" i="0">
                <a:solidFill>
                  <a:srgbClr val="221E1F"/>
                </a:solidFill>
                <a:latin typeface="Arial"/>
              </a:rPr>
              <a:t>signed log: tamper, delete, replay caught</a:t>
            </a:r>
          </a:p>
        </p:txBody>
      </p:sp>
      <p:sp>
        <p:nvSpPr>
          <p:cNvPr id="20" name="Rounded Rectangle 19"/>
          <p:cNvSpPr/>
          <p:nvPr/>
        </p:nvSpPr>
        <p:spPr>
          <a:xfrm>
            <a:off x="4343400" y="3063240"/>
            <a:ext cx="3566160" cy="3063240"/>
          </a:xfrm>
          <a:prstGeom prst="roundRect">
            <a:avLst>
              <a:gd name="adj" fmla="val 8000"/>
            </a:avLst>
          </a:prstGeom>
          <a:solidFill>
            <a:srgbClr val="FCB8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0" y="3200400"/>
            <a:ext cx="3200400" cy="457200"/>
          </a:xfrm>
          <a:prstGeom prst="rect">
            <a:avLst/>
          </a:prstGeom>
          <a:noFill/>
        </p:spPr>
        <p:txBody>
          <a:bodyPr wrap="square" lIns="36576" tIns="18288" rIns="36576" bIns="18288" anchor="t">
            <a:spAutoFit/>
          </a:bodyPr>
          <a:lstStyle/>
          <a:p>
            <a:pPr algn="l">
              <a:spcAft>
                <a:spcPts val="400"/>
              </a:spcAft>
            </a:pPr>
            <a:r>
              <a:rPr sz="1600" b="1" i="0">
                <a:solidFill>
                  <a:srgbClr val="000104"/>
                </a:solidFill>
                <a:latin typeface="Arial"/>
              </a:rPr>
              <a:t>SYNTHETIC ONLY</a:t>
            </a:r>
          </a:p>
        </p:txBody>
      </p:sp>
      <p:sp>
        <p:nvSpPr>
          <p:cNvPr id="22" name="TextBox 21"/>
          <p:cNvSpPr txBox="1"/>
          <p:nvPr/>
        </p:nvSpPr>
        <p:spPr>
          <a:xfrm>
            <a:off x="4572000" y="3749039"/>
            <a:ext cx="3200400" cy="2286000"/>
          </a:xfrm>
          <a:prstGeom prst="rect">
            <a:avLst/>
          </a:prstGeom>
          <a:noFill/>
        </p:spPr>
        <p:txBody>
          <a:bodyPr wrap="square" lIns="36576" tIns="18288" rIns="36576" bIns="18288" anchor="t">
            <a:spAutoFit/>
          </a:bodyPr>
          <a:lstStyle/>
          <a:p>
            <a:pPr algn="l">
              <a:spcAft>
                <a:spcPts val="800"/>
              </a:spcAft>
            </a:pPr>
            <a:r>
              <a:rPr sz="1400" b="0" i="0">
                <a:solidFill>
                  <a:srgbClr val="F39200"/>
                </a:solidFill>
                <a:latin typeface="Arial"/>
              </a:rPr>
              <a:t>▪  </a:t>
            </a:r>
            <a:r>
              <a:rPr sz="1400" b="0" i="0">
                <a:solidFill>
                  <a:srgbClr val="221E1F"/>
                </a:solidFill>
                <a:latin typeface="Arial"/>
              </a:rPr>
              <a:t>SoH 8.2 pt on simulated tubular batteries</a:t>
            </a:r>
          </a:p>
          <a:p>
            <a:pPr algn="l">
              <a:spcAft>
                <a:spcPts val="800"/>
              </a:spcAft>
            </a:pPr>
            <a:r>
              <a:rPr sz="1400" b="0" i="0">
                <a:solidFill>
                  <a:srgbClr val="F39200"/>
                </a:solidFill>
                <a:latin typeface="Arial"/>
              </a:rPr>
              <a:t>▪  </a:t>
            </a:r>
            <a:r>
              <a:rPr sz="1400" b="0" i="0">
                <a:solidFill>
                  <a:srgbClr val="221E1F"/>
                </a:solidFill>
                <a:latin typeface="Arial"/>
              </a:rPr>
              <a:t>RUL band calibrated (0.99) but wide</a:t>
            </a:r>
          </a:p>
          <a:p>
            <a:pPr algn="l">
              <a:spcAft>
                <a:spcPts val="800"/>
              </a:spcAft>
            </a:pPr>
            <a:r>
              <a:rPr sz="1400" b="0" i="0">
                <a:solidFill>
                  <a:srgbClr val="F39200"/>
                </a:solidFill>
                <a:latin typeface="Arial"/>
              </a:rPr>
              <a:t>▪  </a:t>
            </a:r>
            <a:r>
              <a:rPr sz="1400" b="0" i="0">
                <a:solidFill>
                  <a:srgbClr val="221E1F"/>
                </a:solidFill>
                <a:latin typeface="Arial"/>
              </a:rPr>
              <a:t>NILM / PQ on synthetic streams</a:t>
            </a:r>
          </a:p>
        </p:txBody>
      </p:sp>
      <p:sp>
        <p:nvSpPr>
          <p:cNvPr id="23" name="Rounded Rectangle 22"/>
          <p:cNvSpPr/>
          <p:nvPr/>
        </p:nvSpPr>
        <p:spPr>
          <a:xfrm>
            <a:off x="8138160" y="3063240"/>
            <a:ext cx="3566160" cy="306324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66760" y="3200400"/>
            <a:ext cx="3200400" cy="457200"/>
          </a:xfrm>
          <a:prstGeom prst="rect">
            <a:avLst/>
          </a:prstGeom>
          <a:noFill/>
        </p:spPr>
        <p:txBody>
          <a:bodyPr wrap="square" lIns="36576" tIns="18288" rIns="36576" bIns="18288" anchor="t">
            <a:spAutoFit/>
          </a:bodyPr>
          <a:lstStyle/>
          <a:p>
            <a:pPr algn="l">
              <a:spcAft>
                <a:spcPts val="400"/>
              </a:spcAft>
            </a:pPr>
            <a:r>
              <a:rPr sz="1600" b="1" i="0">
                <a:solidFill>
                  <a:srgbClr val="000104"/>
                </a:solidFill>
                <a:latin typeface="Arial"/>
              </a:rPr>
              <a:t>NEEDS HARDWARE / DATA</a:t>
            </a:r>
          </a:p>
        </p:txBody>
      </p:sp>
      <p:sp>
        <p:nvSpPr>
          <p:cNvPr id="25" name="TextBox 24"/>
          <p:cNvSpPr txBox="1"/>
          <p:nvPr/>
        </p:nvSpPr>
        <p:spPr>
          <a:xfrm>
            <a:off x="8366760" y="3749039"/>
            <a:ext cx="3200400" cy="2286000"/>
          </a:xfrm>
          <a:prstGeom prst="rect">
            <a:avLst/>
          </a:prstGeom>
          <a:noFill/>
        </p:spPr>
        <p:txBody>
          <a:bodyPr wrap="square" lIns="36576" tIns="18288" rIns="36576" bIns="18288" anchor="t">
            <a:spAutoFit/>
          </a:bodyPr>
          <a:lstStyle/>
          <a:p>
            <a:pPr algn="l">
              <a:spcAft>
                <a:spcPts val="800"/>
              </a:spcAft>
            </a:pPr>
            <a:r>
              <a:rPr sz="1400" b="0" i="0">
                <a:solidFill>
                  <a:srgbClr val="F39200"/>
                </a:solidFill>
                <a:latin typeface="Arial"/>
              </a:rPr>
              <a:t>▪  </a:t>
            </a:r>
            <a:r>
              <a:rPr sz="1400" b="0" i="0">
                <a:solidFill>
                  <a:srgbClr val="221E1F"/>
                </a:solidFill>
                <a:latin typeface="Arial"/>
              </a:rPr>
              <a:t>ESP32 flash + latency on silicon</a:t>
            </a:r>
          </a:p>
          <a:p>
            <a:pPr algn="l">
              <a:spcAft>
                <a:spcPts val="800"/>
              </a:spcAft>
            </a:pPr>
            <a:r>
              <a:rPr sz="1400" b="0" i="0">
                <a:solidFill>
                  <a:srgbClr val="F39200"/>
                </a:solidFill>
                <a:latin typeface="Arial"/>
              </a:rPr>
              <a:t>▪  </a:t>
            </a:r>
            <a:r>
              <a:rPr sz="1400" b="0" i="0">
                <a:solidFill>
                  <a:srgbClr val="221E1F"/>
                </a:solidFill>
                <a:latin typeface="Arial"/>
              </a:rPr>
              <a:t>real bench: battery, CT, relays</a:t>
            </a:r>
          </a:p>
          <a:p>
            <a:pPr algn="l">
              <a:spcAft>
                <a:spcPts val="800"/>
              </a:spcAft>
            </a:pPr>
            <a:r>
              <a:rPr sz="1400" b="0" i="0">
                <a:solidFill>
                  <a:srgbClr val="F39200"/>
                </a:solidFill>
                <a:latin typeface="Arial"/>
              </a:rPr>
              <a:t>▪  </a:t>
            </a:r>
            <a:r>
              <a:rPr sz="1400" b="0" i="0">
                <a:solidFill>
                  <a:srgbClr val="221E1F"/>
                </a:solidFill>
                <a:latin typeface="Arial"/>
              </a:rPr>
              <a:t>aging campaign → real SoH accuracy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274320"/>
            <a:ext cx="10881360" cy="731520"/>
          </a:xfrm>
          <a:prstGeom prst="rect">
            <a:avLst/>
          </a:prstGeom>
          <a:noFill/>
        </p:spPr>
        <p:txBody>
          <a:bodyPr wrap="square" lIns="36576" tIns="18288" rIns="36576" bIns="18288" anchor="t">
            <a:spAutoFit/>
          </a:bodyPr>
          <a:lstStyle/>
          <a:p>
            <a:pPr algn="l">
              <a:spcAft>
                <a:spcPts val="400"/>
              </a:spcAft>
            </a:pPr>
            <a:r>
              <a:rPr sz="2700" b="1" i="0">
                <a:solidFill>
                  <a:srgbClr val="000104"/>
                </a:solidFill>
                <a:latin typeface="Arial"/>
              </a:rPr>
              <a:t>Three validation gates — and what we need to pass the first.</a:t>
            </a:r>
          </a:p>
        </p:txBody>
      </p:sp>
      <p:sp>
        <p:nvSpPr>
          <p:cNvPr id="5" name="Rectangle 4"/>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7" name="TextBox 6"/>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16</a:t>
            </a:r>
          </a:p>
        </p:txBody>
      </p:sp>
      <p:sp>
        <p:nvSpPr>
          <p:cNvPr id="8" name="Oval 7"/>
          <p:cNvSpPr/>
          <p:nvPr/>
        </p:nvSpPr>
        <p:spPr>
          <a:xfrm>
            <a:off x="548640" y="1417320"/>
            <a:ext cx="548640" cy="54864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1</a:t>
            </a:r>
          </a:p>
        </p:txBody>
      </p:sp>
      <p:sp>
        <p:nvSpPr>
          <p:cNvPr id="9" name="Right Arrow 8"/>
          <p:cNvSpPr/>
          <p:nvPr/>
        </p:nvSpPr>
        <p:spPr>
          <a:xfrm>
            <a:off x="1234440" y="1554480"/>
            <a:ext cx="2971800" cy="274320"/>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148840"/>
            <a:ext cx="3566160" cy="411480"/>
          </a:xfrm>
          <a:prstGeom prst="rect">
            <a:avLst/>
          </a:prstGeom>
          <a:noFill/>
        </p:spPr>
        <p:txBody>
          <a:bodyPr wrap="square" lIns="36576" tIns="18288" rIns="36576" bIns="18288" anchor="t">
            <a:spAutoFit/>
          </a:bodyPr>
          <a:lstStyle/>
          <a:p>
            <a:pPr algn="l">
              <a:spcAft>
                <a:spcPts val="400"/>
              </a:spcAft>
            </a:pPr>
            <a:r>
              <a:rPr sz="1700" b="1" i="0">
                <a:solidFill>
                  <a:srgbClr val="F39200"/>
                </a:solidFill>
                <a:latin typeface="Arial"/>
              </a:rPr>
              <a:t>GATE 1 · DATASET</a:t>
            </a:r>
          </a:p>
        </p:txBody>
      </p:sp>
      <p:sp>
        <p:nvSpPr>
          <p:cNvPr id="11" name="TextBox 10"/>
          <p:cNvSpPr txBox="1"/>
          <p:nvPr/>
        </p:nvSpPr>
        <p:spPr>
          <a:xfrm>
            <a:off x="548640" y="2560320"/>
            <a:ext cx="3566160" cy="365760"/>
          </a:xfrm>
          <a:prstGeom prst="rect">
            <a:avLst/>
          </a:prstGeom>
          <a:noFill/>
        </p:spPr>
        <p:txBody>
          <a:bodyPr wrap="square" lIns="36576" tIns="18288" rIns="36576" bIns="18288" anchor="t">
            <a:spAutoFit/>
          </a:bodyPr>
          <a:lstStyle/>
          <a:p>
            <a:pPr algn="l">
              <a:spcAft>
                <a:spcPts val="400"/>
              </a:spcAft>
            </a:pPr>
            <a:r>
              <a:rPr sz="1300" b="0" i="1">
                <a:solidFill>
                  <a:srgbClr val="6C757D"/>
                </a:solidFill>
                <a:latin typeface="Arial"/>
              </a:rPr>
              <a:t>6–8 months · Kochi reliability lab</a:t>
            </a:r>
          </a:p>
        </p:txBody>
      </p:sp>
      <p:sp>
        <p:nvSpPr>
          <p:cNvPr id="12" name="TextBox 11"/>
          <p:cNvSpPr txBox="1"/>
          <p:nvPr/>
        </p:nvSpPr>
        <p:spPr>
          <a:xfrm>
            <a:off x="548640" y="2971800"/>
            <a:ext cx="3520440" cy="1371600"/>
          </a:xfrm>
          <a:prstGeom prst="rect">
            <a:avLst/>
          </a:prstGeom>
          <a:noFill/>
        </p:spPr>
        <p:txBody>
          <a:bodyPr wrap="square" lIns="36576" tIns="18288" rIns="36576" bIns="18288" anchor="t">
            <a:spAutoFit/>
          </a:bodyPr>
          <a:lstStyle/>
          <a:p>
            <a:pPr algn="l">
              <a:spcAft>
                <a:spcPts val="400"/>
              </a:spcAft>
            </a:pPr>
            <a:r>
              <a:rPr sz="1400" b="0" i="0">
                <a:solidFill>
                  <a:srgbClr val="221E1F"/>
                </a:solidFill>
                <a:latin typeface="Arial"/>
              </a:rPr>
              <a:t>24–36 tubular batteries at 3 temperatures × 3 depths → real SoH labels and a measured life-extension number</a:t>
            </a:r>
          </a:p>
        </p:txBody>
      </p:sp>
      <p:sp>
        <p:nvSpPr>
          <p:cNvPr id="13" name="Oval 12"/>
          <p:cNvSpPr/>
          <p:nvPr/>
        </p:nvSpPr>
        <p:spPr>
          <a:xfrm>
            <a:off x="4343400" y="1417320"/>
            <a:ext cx="548640" cy="54864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2</a:t>
            </a:r>
          </a:p>
        </p:txBody>
      </p:sp>
      <p:sp>
        <p:nvSpPr>
          <p:cNvPr id="14" name="Right Arrow 13"/>
          <p:cNvSpPr/>
          <p:nvPr/>
        </p:nvSpPr>
        <p:spPr>
          <a:xfrm>
            <a:off x="5029200" y="1554480"/>
            <a:ext cx="2971800" cy="274320"/>
          </a:xfrm>
          <a:prstGeom prst="rightArrow">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43400" y="2148840"/>
            <a:ext cx="3566160" cy="411480"/>
          </a:xfrm>
          <a:prstGeom prst="rect">
            <a:avLst/>
          </a:prstGeom>
          <a:noFill/>
        </p:spPr>
        <p:txBody>
          <a:bodyPr wrap="square" lIns="36576" tIns="18288" rIns="36576" bIns="18288" anchor="t">
            <a:spAutoFit/>
          </a:bodyPr>
          <a:lstStyle/>
          <a:p>
            <a:pPr algn="l">
              <a:spcAft>
                <a:spcPts val="400"/>
              </a:spcAft>
            </a:pPr>
            <a:r>
              <a:rPr sz="1700" b="1" i="0">
                <a:solidFill>
                  <a:srgbClr val="F39200"/>
                </a:solidFill>
                <a:latin typeface="Arial"/>
              </a:rPr>
              <a:t>GATE 2 · FIELD PILOT</a:t>
            </a:r>
          </a:p>
        </p:txBody>
      </p:sp>
      <p:sp>
        <p:nvSpPr>
          <p:cNvPr id="16" name="TextBox 15"/>
          <p:cNvSpPr txBox="1"/>
          <p:nvPr/>
        </p:nvSpPr>
        <p:spPr>
          <a:xfrm>
            <a:off x="4343400" y="2560320"/>
            <a:ext cx="3566160" cy="365760"/>
          </a:xfrm>
          <a:prstGeom prst="rect">
            <a:avLst/>
          </a:prstGeom>
          <a:noFill/>
        </p:spPr>
        <p:txBody>
          <a:bodyPr wrap="square" lIns="36576" tIns="18288" rIns="36576" bIns="18288" anchor="t">
            <a:spAutoFit/>
          </a:bodyPr>
          <a:lstStyle/>
          <a:p>
            <a:pPr algn="l">
              <a:spcAft>
                <a:spcPts val="400"/>
              </a:spcAft>
            </a:pPr>
            <a:r>
              <a:rPr sz="1300" b="0" i="1">
                <a:solidFill>
                  <a:srgbClr val="6C757D"/>
                </a:solidFill>
                <a:latin typeface="Arial"/>
              </a:rPr>
              <a:t>6 months · 100 retrofit homes</a:t>
            </a:r>
          </a:p>
        </p:txBody>
      </p:sp>
      <p:sp>
        <p:nvSpPr>
          <p:cNvPr id="17" name="TextBox 16"/>
          <p:cNvSpPr txBox="1"/>
          <p:nvPr/>
        </p:nvSpPr>
        <p:spPr>
          <a:xfrm>
            <a:off x="4343400" y="2971800"/>
            <a:ext cx="3520440" cy="1371600"/>
          </a:xfrm>
          <a:prstGeom prst="rect">
            <a:avLst/>
          </a:prstGeom>
          <a:noFill/>
        </p:spPr>
        <p:txBody>
          <a:bodyPr wrap="square" lIns="36576" tIns="18288" rIns="36576" bIns="18288" anchor="t">
            <a:spAutoFit/>
          </a:bodyPr>
          <a:lstStyle/>
          <a:p>
            <a:pPr algn="l">
              <a:spcAft>
                <a:spcPts val="400"/>
              </a:spcAft>
            </a:pPr>
            <a:r>
              <a:rPr sz="1400" b="0" i="0">
                <a:solidFill>
                  <a:srgbClr val="221E1F"/>
                </a:solidFill>
                <a:latin typeface="Arial"/>
              </a:rPr>
              <a:t>SoC within 3 %, ≥ 75 % RUL-window hit rate, zero unsafe sheds, fridge/AC F1 ≥ 0.8</a:t>
            </a:r>
          </a:p>
        </p:txBody>
      </p:sp>
      <p:sp>
        <p:nvSpPr>
          <p:cNvPr id="18" name="Oval 17"/>
          <p:cNvSpPr/>
          <p:nvPr/>
        </p:nvSpPr>
        <p:spPr>
          <a:xfrm>
            <a:off x="8138160" y="1417320"/>
            <a:ext cx="548640" cy="54864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1600" b="1">
                <a:solidFill>
                  <a:srgbClr val="000104"/>
                </a:solidFill>
                <a:latin typeface="Arial"/>
              </a:rPr>
              <a:t>3</a:t>
            </a:r>
          </a:p>
        </p:txBody>
      </p:sp>
      <p:sp>
        <p:nvSpPr>
          <p:cNvPr id="19" name="TextBox 18"/>
          <p:cNvSpPr txBox="1"/>
          <p:nvPr/>
        </p:nvSpPr>
        <p:spPr>
          <a:xfrm>
            <a:off x="8138160" y="2148840"/>
            <a:ext cx="3566160" cy="411480"/>
          </a:xfrm>
          <a:prstGeom prst="rect">
            <a:avLst/>
          </a:prstGeom>
          <a:noFill/>
        </p:spPr>
        <p:txBody>
          <a:bodyPr wrap="square" lIns="36576" tIns="18288" rIns="36576" bIns="18288" anchor="t">
            <a:spAutoFit/>
          </a:bodyPr>
          <a:lstStyle/>
          <a:p>
            <a:pPr algn="l">
              <a:spcAft>
                <a:spcPts val="400"/>
              </a:spcAft>
            </a:pPr>
            <a:r>
              <a:rPr sz="1700" b="1" i="0">
                <a:solidFill>
                  <a:srgbClr val="F39200"/>
                </a:solidFill>
                <a:latin typeface="Arial"/>
              </a:rPr>
              <a:t>GATE 3 · PRODUCT</a:t>
            </a:r>
          </a:p>
        </p:txBody>
      </p:sp>
      <p:sp>
        <p:nvSpPr>
          <p:cNvPr id="20" name="TextBox 19"/>
          <p:cNvSpPr txBox="1"/>
          <p:nvPr/>
        </p:nvSpPr>
        <p:spPr>
          <a:xfrm>
            <a:off x="8138160" y="2560320"/>
            <a:ext cx="3566160" cy="365760"/>
          </a:xfrm>
          <a:prstGeom prst="rect">
            <a:avLst/>
          </a:prstGeom>
          <a:noFill/>
        </p:spPr>
        <p:txBody>
          <a:bodyPr wrap="square" lIns="36576" tIns="18288" rIns="36576" bIns="18288" anchor="t">
            <a:spAutoFit/>
          </a:bodyPr>
          <a:lstStyle/>
          <a:p>
            <a:pPr algn="l">
              <a:spcAft>
                <a:spcPts val="400"/>
              </a:spcAft>
            </a:pPr>
            <a:r>
              <a:rPr sz="1300" b="0" i="1">
                <a:solidFill>
                  <a:srgbClr val="6C757D"/>
                </a:solidFill>
                <a:latin typeface="Arial"/>
              </a:rPr>
              <a:t>Smart Pro family</a:t>
            </a:r>
          </a:p>
        </p:txBody>
      </p:sp>
      <p:sp>
        <p:nvSpPr>
          <p:cNvPr id="21" name="TextBox 20"/>
          <p:cNvSpPr txBox="1"/>
          <p:nvPr/>
        </p:nvSpPr>
        <p:spPr>
          <a:xfrm>
            <a:off x="8138160" y="2971800"/>
            <a:ext cx="3520440" cy="1371600"/>
          </a:xfrm>
          <a:prstGeom prst="rect">
            <a:avLst/>
          </a:prstGeom>
          <a:noFill/>
        </p:spPr>
        <p:txBody>
          <a:bodyPr wrap="square" lIns="36576" tIns="18288" rIns="36576" bIns="18288" anchor="t">
            <a:spAutoFit/>
          </a:bodyPr>
          <a:lstStyle/>
          <a:p>
            <a:pPr algn="l">
              <a:spcAft>
                <a:spcPts val="400"/>
              </a:spcAft>
            </a:pPr>
            <a:r>
              <a:rPr sz="1400" b="0" i="0">
                <a:solidFill>
                  <a:srgbClr val="221E1F"/>
                </a:solidFill>
                <a:latin typeface="Arial"/>
              </a:rPr>
              <a:t>Embedded SKU into the inverter that already has Wi-Fi, BLE and the Smart 2.0 app</a:t>
            </a:r>
          </a:p>
        </p:txBody>
      </p:sp>
      <p:sp>
        <p:nvSpPr>
          <p:cNvPr id="22" name="Rounded Rectangle 21"/>
          <p:cNvSpPr/>
          <p:nvPr/>
        </p:nvSpPr>
        <p:spPr>
          <a:xfrm>
            <a:off x="548640" y="4526280"/>
            <a:ext cx="11109960" cy="1600200"/>
          </a:xfrm>
          <a:prstGeom prst="roundRect">
            <a:avLst>
              <a:gd name="adj" fmla="val 8000"/>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663440"/>
            <a:ext cx="5120640" cy="1371600"/>
          </a:xfrm>
          <a:prstGeom prst="rect">
            <a:avLst/>
          </a:prstGeom>
          <a:noFill/>
        </p:spPr>
        <p:txBody>
          <a:bodyPr wrap="square" lIns="36576" tIns="18288" rIns="36576" bIns="18288" anchor="t">
            <a:spAutoFit/>
          </a:bodyPr>
          <a:lstStyle/>
          <a:p>
            <a:pPr algn="l">
              <a:spcAft>
                <a:spcPts val="400"/>
              </a:spcAft>
            </a:pPr>
            <a:r>
              <a:rPr sz="1700" b="1" i="0">
                <a:solidFill>
                  <a:srgbClr val="FDC300"/>
                </a:solidFill>
                <a:latin typeface="Arial"/>
              </a:rPr>
              <a:t>What V-Guard gains</a:t>
            </a:r>
          </a:p>
          <a:p>
            <a:pPr algn="l">
              <a:spcAft>
                <a:spcPts val="400"/>
              </a:spcAft>
            </a:pPr>
            <a:r>
              <a:rPr sz="1400" b="0" i="0">
                <a:solidFill>
                  <a:srgbClr val="FFFFFF"/>
                </a:solidFill>
                <a:latin typeface="Arial"/>
              </a:rPr>
              <a:t>battery replacements at the right time · warranty by evidence · a premium 'intelligent' tier · a fleet-data moat</a:t>
            </a:r>
          </a:p>
        </p:txBody>
      </p:sp>
      <p:sp>
        <p:nvSpPr>
          <p:cNvPr id="24" name="TextBox 23"/>
          <p:cNvSpPr txBox="1"/>
          <p:nvPr/>
        </p:nvSpPr>
        <p:spPr>
          <a:xfrm>
            <a:off x="6263640" y="4663440"/>
            <a:ext cx="5212080" cy="1371600"/>
          </a:xfrm>
          <a:prstGeom prst="rect">
            <a:avLst/>
          </a:prstGeom>
          <a:noFill/>
        </p:spPr>
        <p:txBody>
          <a:bodyPr wrap="square" lIns="36576" tIns="18288" rIns="36576" bIns="18288" anchor="t">
            <a:spAutoFit/>
          </a:bodyPr>
          <a:lstStyle/>
          <a:p>
            <a:pPr algn="l">
              <a:spcAft>
                <a:spcPts val="400"/>
              </a:spcAft>
            </a:pPr>
            <a:r>
              <a:rPr sz="1700" b="1" i="0">
                <a:solidFill>
                  <a:srgbClr val="FDC300"/>
                </a:solidFill>
                <a:latin typeface="Arial"/>
              </a:rPr>
              <a:t>What we ask for</a:t>
            </a:r>
          </a:p>
          <a:p>
            <a:pPr algn="l">
              <a:spcAft>
                <a:spcPts val="400"/>
              </a:spcAft>
            </a:pPr>
            <a:r>
              <a:rPr sz="1400" b="0" i="0">
                <a:solidFill>
                  <a:srgbClr val="FFFFFF"/>
                </a:solidFill>
                <a:latin typeface="Arial"/>
              </a:rPr>
              <a:t>one opened Prime-series inverter + charger schematic · ESP32 bench parts · batteries and cyclers for Gate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473952"/>
            <a:ext cx="12191695"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92240"/>
            <a:ext cx="8229600" cy="347472"/>
          </a:xfrm>
          <a:prstGeom prst="rect">
            <a:avLst/>
          </a:prstGeom>
          <a:noFill/>
        </p:spPr>
        <p:txBody>
          <a:bodyPr wrap="square" lIns="36576" tIns="18288" rIns="36576" bIns="18288" anchor="ctr">
            <a:spAutoFit/>
          </a:bodyPr>
          <a:lstStyle/>
          <a:p>
            <a:pPr algn="l">
              <a:spcAft>
                <a:spcPts val="400"/>
              </a:spcAft>
            </a:pPr>
            <a:r>
              <a:rPr sz="1000" b="0" i="0">
                <a:solidFill>
                  <a:srgbClr val="FDC300"/>
                </a:solidFill>
                <a:latin typeface="Arial"/>
              </a:rPr>
              <a:t>V-Guard Sentinel  ·  Big Idea Tech 2026, Track 4  ·  Team Codey Tingle (TI3271)</a:t>
            </a:r>
          </a:p>
        </p:txBody>
      </p:sp>
      <p:sp>
        <p:nvSpPr>
          <p:cNvPr id="7" name="TextBox 6"/>
          <p:cNvSpPr txBox="1"/>
          <p:nvPr/>
        </p:nvSpPr>
        <p:spPr>
          <a:xfrm>
            <a:off x="10728655" y="6492240"/>
            <a:ext cx="914400" cy="347472"/>
          </a:xfrm>
          <a:prstGeom prst="rect">
            <a:avLst/>
          </a:prstGeom>
          <a:noFill/>
        </p:spPr>
        <p:txBody>
          <a:bodyPr wrap="square" lIns="36576" tIns="18288" rIns="36576" bIns="18288" anchor="ctr">
            <a:spAutoFit/>
          </a:bodyPr>
          <a:lstStyle/>
          <a:p>
            <a:pPr algn="r">
              <a:spcAft>
                <a:spcPts val="400"/>
              </a:spcAft>
            </a:pPr>
            <a:r>
              <a:rPr sz="1000" b="0" i="0">
                <a:solidFill>
                  <a:srgbClr val="FFFFFF"/>
                </a:solidFill>
                <a:latin typeface="Arial"/>
              </a:rPr>
              <a:t>17</a:t>
            </a:r>
          </a:p>
        </p:txBody>
      </p:sp>
      <p:sp>
        <p:nvSpPr>
          <p:cNvPr id="8" name="Rounded Rectangle 7"/>
          <p:cNvSpPr/>
          <p:nvPr/>
        </p:nvSpPr>
        <p:spPr>
          <a:xfrm>
            <a:off x="10088575" y="320040"/>
            <a:ext cx="1554480" cy="36576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88575" y="338328"/>
            <a:ext cx="1554480" cy="206210"/>
          </a:xfrm>
          <a:prstGeom prst="rect">
            <a:avLst/>
          </a:prstGeom>
          <a:noFill/>
        </p:spPr>
        <p:txBody>
          <a:bodyPr wrap="square" lIns="36576" tIns="18288" rIns="36576" bIns="18288" anchor="t">
            <a:spAutoFit/>
          </a:bodyPr>
          <a:lstStyle/>
          <a:p>
            <a:pPr algn="ctr">
              <a:spcAft>
                <a:spcPts val="400"/>
              </a:spcAft>
            </a:pPr>
            <a:r>
              <a:rPr sz="1100" b="1" i="0" dirty="0">
                <a:solidFill>
                  <a:srgbClr val="6C757D"/>
                </a:solidFill>
                <a:latin typeface="Arial"/>
              </a:rPr>
              <a:t>APPENDIX </a:t>
            </a:r>
          </a:p>
        </p:txBody>
      </p:sp>
      <p:pic>
        <p:nvPicPr>
          <p:cNvPr id="10" name="Picture 9" descr="b_shed_c.png"/>
          <p:cNvPicPr>
            <a:picLocks noChangeAspect="1"/>
          </p:cNvPicPr>
          <p:nvPr/>
        </p:nvPicPr>
        <p:blipFill>
          <a:blip r:embed="rId3"/>
          <a:stretch>
            <a:fillRect/>
          </a:stretch>
        </p:blipFill>
        <p:spPr>
          <a:xfrm>
            <a:off x="548640" y="1395740"/>
            <a:ext cx="5852160" cy="3792199"/>
          </a:xfrm>
          <a:prstGeom prst="rect">
            <a:avLst/>
          </a:prstGeom>
        </p:spPr>
      </p:pic>
      <p:sp>
        <p:nvSpPr>
          <p:cNvPr id="11" name="TextBox 10"/>
          <p:cNvSpPr txBox="1"/>
          <p:nvPr/>
        </p:nvSpPr>
        <p:spPr>
          <a:xfrm>
            <a:off x="6675120" y="1325880"/>
            <a:ext cx="5029200" cy="4754880"/>
          </a:xfrm>
          <a:prstGeom prst="rect">
            <a:avLst/>
          </a:prstGeom>
          <a:noFill/>
        </p:spPr>
        <p:txBody>
          <a:bodyPr wrap="square" lIns="36576" tIns="18288" rIns="36576" bIns="18288" anchor="t">
            <a:spAutoFit/>
          </a:bodyPr>
          <a:lstStyle/>
          <a:p>
            <a:pPr algn="l">
              <a:spcAft>
                <a:spcPts val="400"/>
              </a:spcAft>
            </a:pPr>
            <a:r>
              <a:rPr sz="1600" b="1" i="0">
                <a:solidFill>
                  <a:srgbClr val="F39200"/>
                </a:solidFill>
                <a:latin typeface="Arial"/>
              </a:rPr>
              <a:t>Isolation</a:t>
            </a:r>
          </a:p>
          <a:p>
            <a:pPr algn="l">
              <a:spcAft>
                <a:spcPts val="400"/>
              </a:spcAft>
            </a:pPr>
            <a:r>
              <a:rPr sz="1400" b="0" i="0">
                <a:solidFill>
                  <a:srgbClr val="221E1F"/>
                </a:solidFill>
                <a:latin typeface="Arial"/>
              </a:rPr>
              <a:t>reinforced AMC1311 barrier; HV zone behind a moat; TVS on every line</a:t>
            </a:r>
          </a:p>
          <a:p>
            <a:pPr algn="l">
              <a:spcAft>
                <a:spcPts val="400"/>
              </a:spcAft>
            </a:pPr>
            <a:r>
              <a:rPr sz="1600" b="1" i="0">
                <a:solidFill>
                  <a:srgbClr val="F39200"/>
                </a:solidFill>
                <a:latin typeface="Arial"/>
              </a:rPr>
              <a:t>Fail-safe</a:t>
            </a:r>
          </a:p>
          <a:p>
            <a:pPr algn="l">
              <a:spcAft>
                <a:spcPts val="400"/>
              </a:spcAft>
            </a:pPr>
            <a:r>
              <a:rPr sz="1400" b="0" i="0">
                <a:solidFill>
                  <a:srgbClr val="221E1F"/>
                </a:solidFill>
                <a:latin typeface="Arial"/>
              </a:rPr>
              <a:t>NC contactors — any fault, reset or brown-out brings loads back</a:t>
            </a:r>
          </a:p>
          <a:p>
            <a:pPr algn="l">
              <a:spcAft>
                <a:spcPts val="400"/>
              </a:spcAft>
            </a:pPr>
            <a:r>
              <a:rPr sz="1600" b="1" i="0">
                <a:solidFill>
                  <a:srgbClr val="F39200"/>
                </a:solidFill>
                <a:latin typeface="Arial"/>
              </a:rPr>
              <a:t>Standards</a:t>
            </a:r>
          </a:p>
          <a:p>
            <a:pPr algn="l">
              <a:spcAft>
                <a:spcPts val="400"/>
              </a:spcAft>
            </a:pPr>
            <a:r>
              <a:rPr sz="1400" b="0" i="0">
                <a:solidFill>
                  <a:srgbClr val="221E1F"/>
                </a:solidFill>
                <a:latin typeface="Arial"/>
              </a:rPr>
              <a:t>IS 13252 / IEC 62368-1 (BIS gate) · IEC 62040 UPS · IEC 61000 EMC · IEEE 1159 / IEC 61000-4-30 Class-S-like PQ · UL94 V-0 enclosure</a:t>
            </a:r>
          </a:p>
          <a:p>
            <a:pPr algn="l">
              <a:spcAft>
                <a:spcPts val="400"/>
              </a:spcAft>
            </a:pPr>
            <a:r>
              <a:rPr sz="1600" b="1" i="0">
                <a:solidFill>
                  <a:srgbClr val="F39200"/>
                </a:solidFill>
                <a:latin typeface="Arial"/>
              </a:rPr>
              <a:t>Charging</a:t>
            </a:r>
          </a:p>
          <a:p>
            <a:pPr algn="l">
              <a:spcAft>
                <a:spcPts val="400"/>
              </a:spcAft>
            </a:pPr>
            <a:r>
              <a:rPr sz="1400" b="0" i="0">
                <a:solidFill>
                  <a:srgbClr val="221E1F"/>
                </a:solidFill>
                <a:latin typeface="Arial"/>
              </a:rPr>
              <a:t>−24 mV/°C compensation, derate above 45 °C, stop at 58 °C, 2 s heartbeat revert to factory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v_home1_inside_c.png"/>
          <p:cNvPicPr>
            <a:picLocks noChangeAspect="1"/>
          </p:cNvPicPr>
          <p:nvPr/>
        </p:nvPicPr>
        <p:blipFill>
          <a:blip r:embed="rId3"/>
          <a:stretch>
            <a:fillRect/>
          </a:stretch>
        </p:blipFill>
        <p:spPr>
          <a:xfrm>
            <a:off x="6400800" y="1596085"/>
            <a:ext cx="5788152" cy="3665829"/>
          </a:xfrm>
          <a:prstGeom prst="rect">
            <a:avLst/>
          </a:prstGeom>
        </p:spPr>
      </p:pic>
      <p:sp>
        <p:nvSpPr>
          <p:cNvPr id="4" name="Rectangle 3"/>
          <p:cNvSpPr/>
          <p:nvPr/>
        </p:nvSpPr>
        <p:spPr>
          <a:xfrm>
            <a:off x="6400800" y="0"/>
            <a:ext cx="5788152" cy="6858000"/>
          </a:xfrm>
          <a:prstGeom prst="rect">
            <a:avLst/>
          </a:prstGeom>
          <a:solidFill>
            <a:srgbClr val="000104">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5760720" cy="2377440"/>
          </a:xfrm>
          <a:prstGeom prst="rect">
            <a:avLst/>
          </a:prstGeom>
          <a:noFill/>
        </p:spPr>
        <p:txBody>
          <a:bodyPr wrap="square" lIns="36576" tIns="18288" rIns="36576" bIns="18288" anchor="t">
            <a:spAutoFit/>
          </a:bodyPr>
          <a:lstStyle/>
          <a:p>
            <a:pPr algn="l">
              <a:spcAft>
                <a:spcPts val="1000"/>
              </a:spcAft>
            </a:pPr>
            <a:r>
              <a:rPr sz="3400" b="1" i="0">
                <a:solidFill>
                  <a:srgbClr val="FDC300"/>
                </a:solidFill>
                <a:latin typeface="Arial"/>
              </a:rPr>
              <a:t>Coil off means loads on.</a:t>
            </a:r>
          </a:p>
          <a:p>
            <a:pPr algn="l">
              <a:spcAft>
                <a:spcPts val="1000"/>
              </a:spcAft>
            </a:pPr>
            <a:r>
              <a:rPr sz="3400" b="1" i="0">
                <a:solidFill>
                  <a:srgbClr val="FDC300"/>
                </a:solidFill>
                <a:latin typeface="Arial"/>
              </a:rPr>
              <a:t>A window, never a date.</a:t>
            </a:r>
          </a:p>
          <a:p>
            <a:pPr algn="l">
              <a:spcAft>
                <a:spcPts val="1000"/>
              </a:spcAft>
            </a:pPr>
            <a:r>
              <a:rPr sz="3400" b="1" i="0">
                <a:solidFill>
                  <a:srgbClr val="FDC300"/>
                </a:solidFill>
                <a:latin typeface="Arial"/>
              </a:rPr>
              <a:t>Offline first, fleet second.</a:t>
            </a:r>
          </a:p>
        </p:txBody>
      </p:sp>
      <p:sp>
        <p:nvSpPr>
          <p:cNvPr id="6" name="Rectangle 5"/>
          <p:cNvSpPr/>
          <p:nvPr/>
        </p:nvSpPr>
        <p:spPr>
          <a:xfrm>
            <a:off x="731520" y="3977639"/>
            <a:ext cx="1097280" cy="54864"/>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206240"/>
            <a:ext cx="5486400" cy="1097280"/>
          </a:xfrm>
          <a:prstGeom prst="rect">
            <a:avLst/>
          </a:prstGeom>
          <a:noFill/>
        </p:spPr>
        <p:txBody>
          <a:bodyPr wrap="square" lIns="36576" tIns="18288" rIns="36576" bIns="18288" anchor="t">
            <a:spAutoFit/>
          </a:bodyPr>
          <a:lstStyle/>
          <a:p>
            <a:pPr algn="l">
              <a:spcAft>
                <a:spcPts val="400"/>
              </a:spcAft>
            </a:pPr>
            <a:r>
              <a:rPr sz="1800" b="0" i="0">
                <a:solidFill>
                  <a:srgbClr val="FFFFFF"/>
                </a:solidFill>
                <a:latin typeface="Arial"/>
              </a:rPr>
              <a:t>Thank you — we'd love your questions.</a:t>
            </a:r>
          </a:p>
          <a:p>
            <a:pPr algn="l">
              <a:spcAft>
                <a:spcPts val="400"/>
              </a:spcAft>
            </a:pPr>
            <a:r>
              <a:rPr sz="1800" b="0" i="0">
                <a:solidFill>
                  <a:srgbClr val="FFFFFF"/>
                </a:solidFill>
                <a:latin typeface="Arial"/>
              </a:rPr>
              <a:t>Team Codey Tingle (TI3271)</a:t>
            </a:r>
          </a:p>
        </p:txBody>
      </p:sp>
      <p:pic>
        <p:nvPicPr>
          <p:cNvPr id="8" name="Picture 7" descr="logo.png"/>
          <p:cNvPicPr>
            <a:picLocks noChangeAspect="1"/>
          </p:cNvPicPr>
          <p:nvPr/>
        </p:nvPicPr>
        <p:blipFill>
          <a:blip r:embed="rId4"/>
          <a:stretch>
            <a:fillRect/>
          </a:stretch>
        </p:blipFill>
        <p:spPr>
          <a:xfrm>
            <a:off x="731520" y="5760720"/>
            <a:ext cx="2110740" cy="5486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74320"/>
            <a:ext cx="10881360" cy="731520"/>
          </a:xfrm>
          <a:prstGeom prst="rect">
            <a:avLst/>
          </a:prstGeom>
          <a:noFill/>
        </p:spPr>
        <p:txBody>
          <a:bodyPr wrap="square" anchor="t" lIns="36576" rIns="36576" tIns="18288" bIns="18288">
            <a:spAutoFit/>
          </a:bodyPr>
          <a:lstStyle/>
          <a:p>
            <a:pPr algn="l">
              <a:spcAft>
                <a:spcPts val="300"/>
              </a:spcAft>
            </a:pPr>
            <a:r>
              <a:rPr sz="2700" b="1" i="0">
                <a:solidFill>
                  <a:srgbClr val="000104"/>
                </a:solidFill>
                <a:latin typeface="Arial"/>
              </a:rPr>
              <a:t>Sentinel pays off for the family and for V-Guard.</a:t>
            </a:r>
          </a:p>
        </p:txBody>
      </p:sp>
      <p:sp>
        <p:nvSpPr>
          <p:cNvPr id="5" name="TextBox 4"/>
          <p:cNvSpPr txBox="1"/>
          <p:nvPr/>
        </p:nvSpPr>
        <p:spPr>
          <a:xfrm>
            <a:off x="795528" y="914400"/>
            <a:ext cx="10789920" cy="411480"/>
          </a:xfrm>
          <a:prstGeom prst="rect">
            <a:avLst/>
          </a:prstGeom>
          <a:noFill/>
        </p:spPr>
        <p:txBody>
          <a:bodyPr wrap="square" anchor="t" lIns="36576" rIns="36576" tIns="18288" bIns="18288">
            <a:spAutoFit/>
          </a:bodyPr>
          <a:lstStyle/>
          <a:p>
            <a:pPr algn="l">
              <a:spcAft>
                <a:spcPts val="300"/>
              </a:spcAft>
            </a:pPr>
            <a:r>
              <a:rPr sz="1400" b="0" i="1">
                <a:solidFill>
                  <a:srgbClr val="6C757D"/>
                </a:solidFill>
                <a:latin typeface="Arial"/>
              </a:rPr>
              <a:t>One home with a ₹15,000 battery, and V-Guard across 1 lakh such homes.</a:t>
            </a:r>
          </a:p>
        </p:txBody>
      </p:sp>
      <p:sp>
        <p:nvSpPr>
          <p:cNvPr id="6" name="Rectangle 5"/>
          <p:cNvSpPr/>
          <p:nvPr/>
        </p:nvSpPr>
        <p:spPr>
          <a:xfrm>
            <a:off x="0" y="6473952"/>
            <a:ext cx="12192000"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347472"/>
          </a:xfrm>
          <a:prstGeom prst="rect">
            <a:avLst/>
          </a:prstGeom>
          <a:noFill/>
        </p:spPr>
        <p:txBody>
          <a:bodyPr wrap="square" anchor="ctr" lIns="36576" rIns="36576" tIns="18288" bIns="18288">
            <a:spAutoFit/>
          </a:bodyPr>
          <a:lstStyle/>
          <a:p>
            <a:pPr algn="l">
              <a:spcAft>
                <a:spcPts val="3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960" y="6492240"/>
            <a:ext cx="914400" cy="347472"/>
          </a:xfrm>
          <a:prstGeom prst="rect">
            <a:avLst/>
          </a:prstGeom>
          <a:noFill/>
        </p:spPr>
        <p:txBody>
          <a:bodyPr wrap="square" anchor="ctr" lIns="36576" rIns="36576" tIns="18288" bIns="18288">
            <a:spAutoFit/>
          </a:bodyPr>
          <a:lstStyle/>
          <a:p>
            <a:pPr algn="r">
              <a:spcAft>
                <a:spcPts val="300"/>
              </a:spcAft>
            </a:pPr>
            <a:r>
              <a:rPr sz="1000" b="0" i="0">
                <a:solidFill>
                  <a:srgbClr val="FFFFFF"/>
                </a:solidFill>
                <a:latin typeface="Arial"/>
              </a:rPr>
              <a:t>14</a:t>
            </a:r>
          </a:p>
        </p:txBody>
      </p:sp>
      <p:sp>
        <p:nvSpPr>
          <p:cNvPr id="9" name="Rounded Rectangle 8"/>
          <p:cNvSpPr/>
          <p:nvPr/>
        </p:nvSpPr>
        <p:spPr>
          <a:xfrm>
            <a:off x="548640" y="1463040"/>
            <a:ext cx="1417320" cy="329184"/>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63040"/>
            <a:ext cx="1417320" cy="329184"/>
          </a:xfrm>
          <a:prstGeom prst="rect">
            <a:avLst/>
          </a:prstGeom>
          <a:noFill/>
        </p:spPr>
        <p:txBody>
          <a:bodyPr wrap="square" anchor="ctr" lIns="36576" rIns="36576" tIns="18288" bIns="18288">
            <a:spAutoFit/>
          </a:bodyPr>
          <a:lstStyle/>
          <a:p>
            <a:pPr algn="ctr">
              <a:spcAft>
                <a:spcPts val="300"/>
              </a:spcAft>
            </a:pPr>
            <a:r>
              <a:rPr sz="1300" b="1" i="0">
                <a:solidFill>
                  <a:srgbClr val="000104"/>
                </a:solidFill>
                <a:latin typeface="Arial"/>
              </a:rPr>
              <a:t>THE FAMILY</a:t>
            </a:r>
          </a:p>
        </p:txBody>
      </p:sp>
      <p:sp>
        <p:nvSpPr>
          <p:cNvPr id="11" name="TextBox 10"/>
          <p:cNvSpPr txBox="1"/>
          <p:nvPr/>
        </p:nvSpPr>
        <p:spPr>
          <a:xfrm>
            <a:off x="548640" y="1874519"/>
            <a:ext cx="5029200" cy="731520"/>
          </a:xfrm>
          <a:prstGeom prst="rect">
            <a:avLst/>
          </a:prstGeom>
          <a:noFill/>
        </p:spPr>
        <p:txBody>
          <a:bodyPr wrap="square" anchor="t" lIns="36576" rIns="36576" tIns="18288" bIns="18288">
            <a:spAutoFit/>
          </a:bodyPr>
          <a:lstStyle/>
          <a:p>
            <a:pPr algn="l">
              <a:spcAft>
                <a:spcPts val="300"/>
              </a:spcAft>
            </a:pPr>
            <a:r>
              <a:rPr sz="4000" b="1" i="0">
                <a:solidFill>
                  <a:srgbClr val="000104"/>
                </a:solidFill>
                <a:latin typeface="Arial"/>
              </a:rPr>
              <a:t>2.5×</a:t>
            </a:r>
          </a:p>
        </p:txBody>
      </p:sp>
      <p:sp>
        <p:nvSpPr>
          <p:cNvPr id="12" name="TextBox 11"/>
          <p:cNvSpPr txBox="1"/>
          <p:nvPr/>
        </p:nvSpPr>
        <p:spPr>
          <a:xfrm>
            <a:off x="548640" y="2587751"/>
            <a:ext cx="5029200" cy="41148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longer backup for the fridge, Wi-Fi and lights</a:t>
            </a:r>
          </a:p>
        </p:txBody>
      </p:sp>
      <p:sp>
        <p:nvSpPr>
          <p:cNvPr id="13" name="TextBox 12"/>
          <p:cNvSpPr txBox="1"/>
          <p:nvPr/>
        </p:nvSpPr>
        <p:spPr>
          <a:xfrm>
            <a:off x="548640" y="3200399"/>
            <a:ext cx="5029200" cy="731520"/>
          </a:xfrm>
          <a:prstGeom prst="rect">
            <a:avLst/>
          </a:prstGeom>
          <a:noFill/>
        </p:spPr>
        <p:txBody>
          <a:bodyPr wrap="square" anchor="t" lIns="36576" rIns="36576" tIns="18288" bIns="18288">
            <a:spAutoFit/>
          </a:bodyPr>
          <a:lstStyle/>
          <a:p>
            <a:pPr algn="l">
              <a:spcAft>
                <a:spcPts val="300"/>
              </a:spcAft>
            </a:pPr>
            <a:r>
              <a:rPr sz="4000" b="1" i="0">
                <a:solidFill>
                  <a:srgbClr val="000104"/>
                </a:solidFill>
                <a:latin typeface="Arial"/>
              </a:rPr>
              <a:t>6–14 wk</a:t>
            </a:r>
          </a:p>
        </p:txBody>
      </p:sp>
      <p:sp>
        <p:nvSpPr>
          <p:cNvPr id="14" name="TextBox 13"/>
          <p:cNvSpPr txBox="1"/>
          <p:nvPr/>
        </p:nvSpPr>
        <p:spPr>
          <a:xfrm>
            <a:off x="548640" y="3913631"/>
            <a:ext cx="5029200" cy="41148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warning before the battery dies</a:t>
            </a:r>
          </a:p>
        </p:txBody>
      </p:sp>
      <p:sp>
        <p:nvSpPr>
          <p:cNvPr id="15" name="TextBox 14"/>
          <p:cNvSpPr txBox="1"/>
          <p:nvPr/>
        </p:nvSpPr>
        <p:spPr>
          <a:xfrm>
            <a:off x="548640" y="4526279"/>
            <a:ext cx="5029200" cy="731520"/>
          </a:xfrm>
          <a:prstGeom prst="rect">
            <a:avLst/>
          </a:prstGeom>
          <a:noFill/>
        </p:spPr>
        <p:txBody>
          <a:bodyPr wrap="square" anchor="t" lIns="36576" rIns="36576" tIns="18288" bIns="18288">
            <a:spAutoFit/>
          </a:bodyPr>
          <a:lstStyle/>
          <a:p>
            <a:pPr algn="l">
              <a:spcAft>
                <a:spcPts val="300"/>
              </a:spcAft>
            </a:pPr>
            <a:r>
              <a:rPr sz="4000" b="1" i="0">
                <a:solidFill>
                  <a:srgbClr val="000104"/>
                </a:solidFill>
                <a:latin typeface="Arial"/>
              </a:rPr>
              <a:t>₹6,250</a:t>
            </a:r>
          </a:p>
        </p:txBody>
      </p:sp>
      <p:sp>
        <p:nvSpPr>
          <p:cNvPr id="16" name="TextBox 15"/>
          <p:cNvSpPr txBox="1"/>
          <p:nvPr/>
        </p:nvSpPr>
        <p:spPr>
          <a:xfrm>
            <a:off x="548640" y="5239511"/>
            <a:ext cx="5029200" cy="41148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less spent on batteries per decade*</a:t>
            </a:r>
          </a:p>
        </p:txBody>
      </p:sp>
      <p:sp>
        <p:nvSpPr>
          <p:cNvPr id="17" name="Rectangle 16"/>
          <p:cNvSpPr/>
          <p:nvPr/>
        </p:nvSpPr>
        <p:spPr>
          <a:xfrm>
            <a:off x="5806440" y="1508760"/>
            <a:ext cx="18288" cy="416052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1463040"/>
            <a:ext cx="1188720" cy="329184"/>
          </a:xfrm>
          <a:prstGeom prst="roundRect">
            <a:avLst>
              <a:gd name="adj" fmla="val 8000"/>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463040"/>
            <a:ext cx="1188720" cy="329184"/>
          </a:xfrm>
          <a:prstGeom prst="rect">
            <a:avLst/>
          </a:prstGeom>
          <a:noFill/>
        </p:spPr>
        <p:txBody>
          <a:bodyPr wrap="square" anchor="ctr" lIns="36576" rIns="36576" tIns="18288" bIns="18288">
            <a:spAutoFit/>
          </a:bodyPr>
          <a:lstStyle/>
          <a:p>
            <a:pPr algn="ctr">
              <a:spcAft>
                <a:spcPts val="300"/>
              </a:spcAft>
            </a:pPr>
            <a:r>
              <a:rPr sz="1300" b="1" i="0">
                <a:solidFill>
                  <a:srgbClr val="000104"/>
                </a:solidFill>
                <a:latin typeface="Arial"/>
              </a:rPr>
              <a:t>V-GUARD</a:t>
            </a:r>
          </a:p>
        </p:txBody>
      </p:sp>
      <p:sp>
        <p:nvSpPr>
          <p:cNvPr id="20" name="TextBox 19"/>
          <p:cNvSpPr txBox="1"/>
          <p:nvPr/>
        </p:nvSpPr>
        <p:spPr>
          <a:xfrm>
            <a:off x="7452360" y="1463040"/>
            <a:ext cx="4206240" cy="329184"/>
          </a:xfrm>
          <a:prstGeom prst="rect">
            <a:avLst/>
          </a:prstGeom>
          <a:noFill/>
        </p:spPr>
        <p:txBody>
          <a:bodyPr wrap="square" anchor="ctr" lIns="36576" rIns="36576" tIns="18288" bIns="18288">
            <a:spAutoFit/>
          </a:bodyPr>
          <a:lstStyle/>
          <a:p>
            <a:pPr algn="l">
              <a:spcAft>
                <a:spcPts val="300"/>
              </a:spcAft>
            </a:pPr>
            <a:r>
              <a:rPr sz="1200" b="0" i="0">
                <a:solidFill>
                  <a:srgbClr val="6C757D"/>
                </a:solidFill>
                <a:latin typeface="Arial"/>
              </a:rPr>
              <a:t>battery revenue from 1 lakh homes, ₹ cr a year</a:t>
            </a:r>
          </a:p>
        </p:txBody>
      </p:sp>
      <p:graphicFrame>
        <p:nvGraphicFramePr>
          <p:cNvPr id="21" name="Chart 20"/>
          <p:cNvGraphicFramePr>
            <a:graphicFrameLocks noGrp="1"/>
          </p:cNvGraphicFramePr>
          <p:nvPr/>
        </p:nvGraphicFramePr>
        <p:xfrm>
          <a:off x="6126480" y="1828800"/>
          <a:ext cx="5532120" cy="2971800"/>
        </p:xfrm>
        <a:graphic>
          <a:graphicData uri="http://schemas.openxmlformats.org/drawingml/2006/chart">
            <c:chart xmlns:c="http://schemas.openxmlformats.org/drawingml/2006/chart" r:id="rId2"/>
          </a:graphicData>
        </a:graphic>
      </p:graphicFrame>
      <p:sp>
        <p:nvSpPr>
          <p:cNvPr id="22" name="TextBox 21"/>
          <p:cNvSpPr txBox="1"/>
          <p:nvPr/>
        </p:nvSpPr>
        <p:spPr>
          <a:xfrm>
            <a:off x="6126480" y="4892040"/>
            <a:ext cx="5532120" cy="822960"/>
          </a:xfrm>
          <a:prstGeom prst="rect">
            <a:avLst/>
          </a:prstGeom>
          <a:noFill/>
        </p:spPr>
        <p:txBody>
          <a:bodyPr wrap="square" anchor="t" lIns="36576" rIns="36576" tIns="18288" bIns="18288">
            <a:spAutoFit/>
          </a:bodyPr>
          <a:lstStyle/>
          <a:p>
            <a:pPr algn="l">
              <a:spcAft>
                <a:spcPts val="400"/>
              </a:spcAft>
            </a:pPr>
            <a:r>
              <a:rPr sz="1500" b="1" i="0">
                <a:solidFill>
                  <a:srgbClr val="000104"/>
                </a:solidFill>
                <a:latin typeface="Arial"/>
              </a:rPr>
              <a:t>Break-even at 48 % share of replacements</a:t>
            </a:r>
          </a:p>
          <a:p>
            <a:pPr algn="l">
              <a:spcAft>
                <a:spcPts val="400"/>
              </a:spcAft>
            </a:pPr>
            <a:r>
              <a:rPr sz="1500" b="1" i="0">
                <a:solidFill>
                  <a:srgbClr val="000104"/>
                </a:solidFill>
                <a:latin typeface="Arial"/>
              </a:rPr>
              <a:t>1 % less warranty cost ≈ ₹0.7 cr a year</a:t>
            </a:r>
          </a:p>
        </p:txBody>
      </p:sp>
      <p:sp>
        <p:nvSpPr>
          <p:cNvPr id="23" name="TextBox 22"/>
          <p:cNvSpPr txBox="1"/>
          <p:nvPr/>
        </p:nvSpPr>
        <p:spPr>
          <a:xfrm>
            <a:off x="548640" y="6035040"/>
            <a:ext cx="11109960" cy="320040"/>
          </a:xfrm>
          <a:prstGeom prst="rect">
            <a:avLst/>
          </a:prstGeom>
          <a:noFill/>
        </p:spPr>
        <p:txBody>
          <a:bodyPr wrap="square" anchor="t" lIns="36576" rIns="36576" tIns="18288" bIns="18288">
            <a:spAutoFit/>
          </a:bodyPr>
          <a:lstStyle/>
          <a:p>
            <a:pPr algn="l">
              <a:spcAft>
                <a:spcPts val="300"/>
              </a:spcAft>
            </a:pPr>
            <a:r>
              <a:rPr sz="900" b="0" i="1">
                <a:solidFill>
                  <a:srgbClr val="6C757D"/>
                </a:solidFill>
                <a:latin typeface="Arial"/>
              </a:rPr>
              <a:t>* Embedded, if charge control adds 20 % life (to be measured). Model: 4-year battery life, 40 % of replacements to V-Guard today (assumed). Warranty: V-Guard Annual Report FY24.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9728"/>
          </a:xfrm>
          <a:prstGeom prst="rect">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384048"/>
            <a:ext cx="109728" cy="566928"/>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74320"/>
            <a:ext cx="10881360" cy="731520"/>
          </a:xfrm>
          <a:prstGeom prst="rect">
            <a:avLst/>
          </a:prstGeom>
          <a:noFill/>
        </p:spPr>
        <p:txBody>
          <a:bodyPr wrap="square" anchor="t" lIns="36576" rIns="36576" tIns="18288" bIns="18288">
            <a:spAutoFit/>
          </a:bodyPr>
          <a:lstStyle/>
          <a:p>
            <a:pPr algn="l">
              <a:spcAft>
                <a:spcPts val="300"/>
              </a:spcAft>
            </a:pPr>
            <a:r>
              <a:rPr sz="2700" b="1" i="0">
                <a:solidFill>
                  <a:srgbClr val="000104"/>
                </a:solidFill>
                <a:latin typeface="Arial"/>
              </a:rPr>
              <a:t>A growing market, and fewer batteries in scrap yards.</a:t>
            </a:r>
          </a:p>
        </p:txBody>
      </p:sp>
      <p:sp>
        <p:nvSpPr>
          <p:cNvPr id="5" name="TextBox 4"/>
          <p:cNvSpPr txBox="1"/>
          <p:nvPr/>
        </p:nvSpPr>
        <p:spPr>
          <a:xfrm>
            <a:off x="795528" y="914400"/>
            <a:ext cx="10789920" cy="411480"/>
          </a:xfrm>
          <a:prstGeom prst="rect">
            <a:avLst/>
          </a:prstGeom>
          <a:noFill/>
        </p:spPr>
        <p:txBody>
          <a:bodyPr wrap="square" anchor="t" lIns="36576" rIns="36576" tIns="18288" bIns="18288">
            <a:spAutoFit/>
          </a:bodyPr>
          <a:lstStyle/>
          <a:p>
            <a:pPr algn="l">
              <a:spcAft>
                <a:spcPts val="300"/>
              </a:spcAft>
            </a:pPr>
            <a:r>
              <a:rPr sz="1400" b="0" i="1">
                <a:solidFill>
                  <a:srgbClr val="6C757D"/>
                </a:solidFill>
                <a:latin typeface="Arial"/>
              </a:rPr>
              <a:t>India's home backup still runs on lead-acid.</a:t>
            </a:r>
          </a:p>
        </p:txBody>
      </p:sp>
      <p:sp>
        <p:nvSpPr>
          <p:cNvPr id="6" name="Rectangle 5"/>
          <p:cNvSpPr/>
          <p:nvPr/>
        </p:nvSpPr>
        <p:spPr>
          <a:xfrm>
            <a:off x="0" y="6473952"/>
            <a:ext cx="12192000" cy="384048"/>
          </a:xfrm>
          <a:prstGeom prst="rect">
            <a:avLst/>
          </a:prstGeom>
          <a:solidFill>
            <a:srgbClr val="0001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6492240"/>
            <a:ext cx="8229600" cy="347472"/>
          </a:xfrm>
          <a:prstGeom prst="rect">
            <a:avLst/>
          </a:prstGeom>
          <a:noFill/>
        </p:spPr>
        <p:txBody>
          <a:bodyPr wrap="square" anchor="ctr" lIns="36576" rIns="36576" tIns="18288" bIns="18288">
            <a:spAutoFit/>
          </a:bodyPr>
          <a:lstStyle/>
          <a:p>
            <a:pPr algn="l">
              <a:spcAft>
                <a:spcPts val="300"/>
              </a:spcAft>
            </a:pPr>
            <a:r>
              <a:rPr sz="1000" b="0" i="0">
                <a:solidFill>
                  <a:srgbClr val="FDC300"/>
                </a:solidFill>
                <a:latin typeface="Arial"/>
              </a:rPr>
              <a:t>V-Guard Sentinel  ·  Big Idea Tech 2026, Track 4  ·  Team Codey Tingle (TI3271)</a:t>
            </a:r>
          </a:p>
        </p:txBody>
      </p:sp>
      <p:sp>
        <p:nvSpPr>
          <p:cNvPr id="8" name="TextBox 7"/>
          <p:cNvSpPr txBox="1"/>
          <p:nvPr/>
        </p:nvSpPr>
        <p:spPr>
          <a:xfrm>
            <a:off x="10728960" y="6492240"/>
            <a:ext cx="914400" cy="347472"/>
          </a:xfrm>
          <a:prstGeom prst="rect">
            <a:avLst/>
          </a:prstGeom>
          <a:noFill/>
        </p:spPr>
        <p:txBody>
          <a:bodyPr wrap="square" anchor="ctr" lIns="36576" rIns="36576" tIns="18288" bIns="18288">
            <a:spAutoFit/>
          </a:bodyPr>
          <a:lstStyle/>
          <a:p>
            <a:pPr algn="r">
              <a:spcAft>
                <a:spcPts val="300"/>
              </a:spcAft>
            </a:pPr>
            <a:r>
              <a:rPr sz="1000" b="0" i="0">
                <a:solidFill>
                  <a:srgbClr val="FFFFFF"/>
                </a:solidFill>
                <a:latin typeface="Arial"/>
              </a:rPr>
              <a:t>15</a:t>
            </a:r>
          </a:p>
        </p:txBody>
      </p:sp>
      <p:sp>
        <p:nvSpPr>
          <p:cNvPr id="9" name="TextBox 8"/>
          <p:cNvSpPr txBox="1"/>
          <p:nvPr/>
        </p:nvSpPr>
        <p:spPr>
          <a:xfrm>
            <a:off x="548640" y="1554480"/>
            <a:ext cx="2697480" cy="777240"/>
          </a:xfrm>
          <a:prstGeom prst="rect">
            <a:avLst/>
          </a:prstGeom>
          <a:noFill/>
        </p:spPr>
        <p:txBody>
          <a:bodyPr wrap="square" anchor="t" lIns="36576" rIns="36576" tIns="18288" bIns="18288">
            <a:spAutoFit/>
          </a:bodyPr>
          <a:lstStyle/>
          <a:p>
            <a:pPr algn="l">
              <a:spcAft>
                <a:spcPts val="300"/>
              </a:spcAft>
            </a:pPr>
            <a:r>
              <a:rPr sz="3600" b="1" i="0">
                <a:solidFill>
                  <a:srgbClr val="000104"/>
                </a:solidFill>
                <a:latin typeface="Arial"/>
              </a:rPr>
              <a:t>US$ 487 M</a:t>
            </a:r>
          </a:p>
        </p:txBody>
      </p:sp>
      <p:sp>
        <p:nvSpPr>
          <p:cNvPr id="10" name="TextBox 9"/>
          <p:cNvSpPr txBox="1"/>
          <p:nvPr/>
        </p:nvSpPr>
        <p:spPr>
          <a:xfrm>
            <a:off x="548640" y="2331720"/>
            <a:ext cx="2697480" cy="73152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home-UPS market
by 2030</a:t>
            </a:r>
          </a:p>
        </p:txBody>
      </p:sp>
      <p:sp>
        <p:nvSpPr>
          <p:cNvPr id="11" name="TextBox 10"/>
          <p:cNvSpPr txBox="1"/>
          <p:nvPr/>
        </p:nvSpPr>
        <p:spPr>
          <a:xfrm>
            <a:off x="3383280" y="1554480"/>
            <a:ext cx="2697480" cy="777240"/>
          </a:xfrm>
          <a:prstGeom prst="rect">
            <a:avLst/>
          </a:prstGeom>
          <a:noFill/>
        </p:spPr>
        <p:txBody>
          <a:bodyPr wrap="square" anchor="t" lIns="36576" rIns="36576" tIns="18288" bIns="18288">
            <a:spAutoFit/>
          </a:bodyPr>
          <a:lstStyle/>
          <a:p>
            <a:pPr algn="l">
              <a:spcAft>
                <a:spcPts val="300"/>
              </a:spcAft>
            </a:pPr>
            <a:r>
              <a:rPr sz="3600" b="1" i="0">
                <a:solidFill>
                  <a:srgbClr val="000104"/>
                </a:solidFill>
                <a:latin typeface="Arial"/>
              </a:rPr>
              <a:t>~53 %</a:t>
            </a:r>
          </a:p>
        </p:txBody>
      </p:sp>
      <p:sp>
        <p:nvSpPr>
          <p:cNvPr id="12" name="TextBox 11"/>
          <p:cNvSpPr txBox="1"/>
          <p:nvPr/>
        </p:nvSpPr>
        <p:spPr>
          <a:xfrm>
            <a:off x="3383280" y="2331720"/>
            <a:ext cx="2697480" cy="73152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of inverter batteries
are lead-acid</a:t>
            </a:r>
          </a:p>
        </p:txBody>
      </p:sp>
      <p:sp>
        <p:nvSpPr>
          <p:cNvPr id="13" name="TextBox 12"/>
          <p:cNvSpPr txBox="1"/>
          <p:nvPr/>
        </p:nvSpPr>
        <p:spPr>
          <a:xfrm>
            <a:off x="6217920" y="1554480"/>
            <a:ext cx="2697480" cy="777240"/>
          </a:xfrm>
          <a:prstGeom prst="rect">
            <a:avLst/>
          </a:prstGeom>
          <a:noFill/>
        </p:spPr>
        <p:txBody>
          <a:bodyPr wrap="square" anchor="t" lIns="36576" rIns="36576" tIns="18288" bIns="18288">
            <a:spAutoFit/>
          </a:bodyPr>
          <a:lstStyle/>
          <a:p>
            <a:pPr algn="l">
              <a:spcAft>
                <a:spcPts val="300"/>
              </a:spcAft>
            </a:pPr>
            <a:r>
              <a:rPr sz="3600" b="1" i="0">
                <a:solidFill>
                  <a:srgbClr val="D63A4F"/>
                </a:solidFill>
                <a:latin typeface="Arial"/>
              </a:rPr>
              <a:t>60–80 %</a:t>
            </a:r>
          </a:p>
        </p:txBody>
      </p:sp>
      <p:sp>
        <p:nvSpPr>
          <p:cNvPr id="14" name="TextBox 13"/>
          <p:cNvSpPr txBox="1"/>
          <p:nvPr/>
        </p:nvSpPr>
        <p:spPr>
          <a:xfrm>
            <a:off x="6217920" y="2331720"/>
            <a:ext cx="2697480" cy="73152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of used lead-acid is
recycled informally</a:t>
            </a:r>
          </a:p>
        </p:txBody>
      </p:sp>
      <p:sp>
        <p:nvSpPr>
          <p:cNvPr id="15" name="TextBox 14"/>
          <p:cNvSpPr txBox="1"/>
          <p:nvPr/>
        </p:nvSpPr>
        <p:spPr>
          <a:xfrm>
            <a:off x="9052560" y="1554480"/>
            <a:ext cx="2697480" cy="777240"/>
          </a:xfrm>
          <a:prstGeom prst="rect">
            <a:avLst/>
          </a:prstGeom>
          <a:noFill/>
        </p:spPr>
        <p:txBody>
          <a:bodyPr wrap="square" anchor="t" lIns="36576" rIns="36576" tIns="18288" bIns="18288">
            <a:spAutoFit/>
          </a:bodyPr>
          <a:lstStyle/>
          <a:p>
            <a:pPr algn="l">
              <a:spcAft>
                <a:spcPts val="300"/>
              </a:spcAft>
            </a:pPr>
            <a:r>
              <a:rPr sz="3600" b="1" i="0">
                <a:solidFill>
                  <a:srgbClr val="1E9E5A"/>
                </a:solidFill>
                <a:latin typeface="Arial"/>
              </a:rPr>
              <a:t>~42,000</a:t>
            </a:r>
          </a:p>
        </p:txBody>
      </p:sp>
      <p:sp>
        <p:nvSpPr>
          <p:cNvPr id="16" name="TextBox 15"/>
          <p:cNvSpPr txBox="1"/>
          <p:nvPr/>
        </p:nvSpPr>
        <p:spPr>
          <a:xfrm>
            <a:off x="9052560" y="2331720"/>
            <a:ext cx="2697480" cy="73152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fewer batteries per lakh
homes, per decade*</a:t>
            </a:r>
          </a:p>
        </p:txBody>
      </p:sp>
      <p:sp>
        <p:nvSpPr>
          <p:cNvPr id="17" name="Rounded Rectangle 16"/>
          <p:cNvSpPr/>
          <p:nvPr/>
        </p:nvSpPr>
        <p:spPr>
          <a:xfrm>
            <a:off x="548640" y="3520440"/>
            <a:ext cx="3566160" cy="201168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749039"/>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00104"/>
                </a:solidFill>
                <a:latin typeface="Arial"/>
              </a:rPr>
              <a:t>1</a:t>
            </a:r>
          </a:p>
        </p:txBody>
      </p:sp>
      <p:sp>
        <p:nvSpPr>
          <p:cNvPr id="19" name="TextBox 18"/>
          <p:cNvSpPr txBox="1"/>
          <p:nvPr/>
        </p:nvSpPr>
        <p:spPr>
          <a:xfrm>
            <a:off x="822960" y="4389120"/>
            <a:ext cx="3108960" cy="411480"/>
          </a:xfrm>
          <a:prstGeom prst="rect">
            <a:avLst/>
          </a:prstGeom>
          <a:noFill/>
        </p:spPr>
        <p:txBody>
          <a:bodyPr wrap="square" anchor="t" lIns="36576" rIns="36576" tIns="18288" bIns="18288">
            <a:spAutoFit/>
          </a:bodyPr>
          <a:lstStyle/>
          <a:p>
            <a:pPr algn="l">
              <a:spcAft>
                <a:spcPts val="300"/>
              </a:spcAft>
            </a:pPr>
            <a:r>
              <a:rPr sz="1800" b="1" i="0">
                <a:solidFill>
                  <a:srgbClr val="000104"/>
                </a:solidFill>
                <a:latin typeface="Arial"/>
              </a:rPr>
              <a:t>Planned replacements</a:t>
            </a:r>
          </a:p>
        </p:txBody>
      </p:sp>
      <p:sp>
        <p:nvSpPr>
          <p:cNvPr id="20" name="TextBox 19"/>
          <p:cNvSpPr txBox="1"/>
          <p:nvPr/>
        </p:nvSpPr>
        <p:spPr>
          <a:xfrm>
            <a:off x="822960" y="4846320"/>
            <a:ext cx="3108960" cy="54864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The warning window becomes a planned sale.</a:t>
            </a:r>
          </a:p>
        </p:txBody>
      </p:sp>
      <p:sp>
        <p:nvSpPr>
          <p:cNvPr id="21" name="Rounded Rectangle 20"/>
          <p:cNvSpPr/>
          <p:nvPr/>
        </p:nvSpPr>
        <p:spPr>
          <a:xfrm>
            <a:off x="4343400" y="3520440"/>
            <a:ext cx="3566160" cy="201168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17720" y="3749039"/>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00104"/>
                </a:solidFill>
                <a:latin typeface="Arial"/>
              </a:rPr>
              <a:t>2</a:t>
            </a:r>
          </a:p>
        </p:txBody>
      </p:sp>
      <p:sp>
        <p:nvSpPr>
          <p:cNvPr id="23" name="TextBox 22"/>
          <p:cNvSpPr txBox="1"/>
          <p:nvPr/>
        </p:nvSpPr>
        <p:spPr>
          <a:xfrm>
            <a:off x="4617720" y="4389120"/>
            <a:ext cx="3108960" cy="411480"/>
          </a:xfrm>
          <a:prstGeom prst="rect">
            <a:avLst/>
          </a:prstGeom>
          <a:noFill/>
        </p:spPr>
        <p:txBody>
          <a:bodyPr wrap="square" anchor="t" lIns="36576" rIns="36576" tIns="18288" bIns="18288">
            <a:spAutoFit/>
          </a:bodyPr>
          <a:lstStyle/>
          <a:p>
            <a:pPr algn="l">
              <a:spcAft>
                <a:spcPts val="300"/>
              </a:spcAft>
            </a:pPr>
            <a:r>
              <a:rPr sz="1800" b="1" i="0">
                <a:solidFill>
                  <a:srgbClr val="000104"/>
                </a:solidFill>
                <a:latin typeface="Arial"/>
              </a:rPr>
              <a:t>Take-back at the warning</a:t>
            </a:r>
          </a:p>
        </p:txBody>
      </p:sp>
      <p:sp>
        <p:nvSpPr>
          <p:cNvPr id="24" name="TextBox 23"/>
          <p:cNvSpPr txBox="1"/>
          <p:nvPr/>
        </p:nvSpPr>
        <p:spPr>
          <a:xfrm>
            <a:off x="4617720" y="4846320"/>
            <a:ext cx="3108960" cy="54864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Old batteries go to authorised recyclers.</a:t>
            </a:r>
          </a:p>
        </p:txBody>
      </p:sp>
      <p:sp>
        <p:nvSpPr>
          <p:cNvPr id="25" name="Rounded Rectangle 24"/>
          <p:cNvSpPr/>
          <p:nvPr/>
        </p:nvSpPr>
        <p:spPr>
          <a:xfrm>
            <a:off x="8138160" y="3520440"/>
            <a:ext cx="3566160" cy="2011680"/>
          </a:xfrm>
          <a:prstGeom prst="roundRect">
            <a:avLst>
              <a:gd name="adj" fmla="val 8000"/>
            </a:avLst>
          </a:prstGeom>
          <a:solidFill>
            <a:srgbClr val="F3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80" y="3749039"/>
            <a:ext cx="457200" cy="457200"/>
          </a:xfrm>
          <a:prstGeom prst="ellipse">
            <a:avLst/>
          </a:prstGeom>
          <a:solidFill>
            <a:srgbClr val="FDC3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00104"/>
                </a:solidFill>
                <a:latin typeface="Arial"/>
              </a:rPr>
              <a:t>3</a:t>
            </a:r>
          </a:p>
        </p:txBody>
      </p:sp>
      <p:sp>
        <p:nvSpPr>
          <p:cNvPr id="27" name="TextBox 26"/>
          <p:cNvSpPr txBox="1"/>
          <p:nvPr/>
        </p:nvSpPr>
        <p:spPr>
          <a:xfrm>
            <a:off x="8412480" y="4389120"/>
            <a:ext cx="3108960" cy="411480"/>
          </a:xfrm>
          <a:prstGeom prst="rect">
            <a:avLst/>
          </a:prstGeom>
          <a:noFill/>
        </p:spPr>
        <p:txBody>
          <a:bodyPr wrap="square" anchor="t" lIns="36576" rIns="36576" tIns="18288" bIns="18288">
            <a:spAutoFit/>
          </a:bodyPr>
          <a:lstStyle/>
          <a:p>
            <a:pPr algn="l">
              <a:spcAft>
                <a:spcPts val="300"/>
              </a:spcAft>
            </a:pPr>
            <a:r>
              <a:rPr sz="1800" b="1" i="0">
                <a:solidFill>
                  <a:srgbClr val="000104"/>
                </a:solidFill>
                <a:latin typeface="Arial"/>
              </a:rPr>
              <a:t>Upgrade, don't replace</a:t>
            </a:r>
          </a:p>
        </p:txBody>
      </p:sp>
      <p:sp>
        <p:nvSpPr>
          <p:cNvPr id="28" name="TextBox 27"/>
          <p:cNvSpPr txBox="1"/>
          <p:nvPr/>
        </p:nvSpPr>
        <p:spPr>
          <a:xfrm>
            <a:off x="8412480" y="4846320"/>
            <a:ext cx="3108960" cy="548640"/>
          </a:xfrm>
          <a:prstGeom prst="rect">
            <a:avLst/>
          </a:prstGeom>
          <a:noFill/>
        </p:spPr>
        <p:txBody>
          <a:bodyPr wrap="square" anchor="t" lIns="36576" rIns="36576" tIns="18288" bIns="18288">
            <a:spAutoFit/>
          </a:bodyPr>
          <a:lstStyle/>
          <a:p>
            <a:pPr algn="l">
              <a:spcAft>
                <a:spcPts val="300"/>
              </a:spcAft>
            </a:pPr>
            <a:r>
              <a:rPr sz="1400" b="0" i="0">
                <a:solidFill>
                  <a:srgbClr val="221E1F"/>
                </a:solidFill>
                <a:latin typeface="Arial"/>
              </a:rPr>
              <a:t>Retrofit makes today's inverters intelligent.</a:t>
            </a:r>
          </a:p>
        </p:txBody>
      </p:sp>
      <p:sp>
        <p:nvSpPr>
          <p:cNvPr id="29" name="TextBox 28"/>
          <p:cNvSpPr txBox="1"/>
          <p:nvPr/>
        </p:nvSpPr>
        <p:spPr>
          <a:xfrm>
            <a:off x="548640" y="6035040"/>
            <a:ext cx="11109960" cy="320040"/>
          </a:xfrm>
          <a:prstGeom prst="rect">
            <a:avLst/>
          </a:prstGeom>
          <a:noFill/>
        </p:spPr>
        <p:txBody>
          <a:bodyPr wrap="square" anchor="t" lIns="36576" rIns="36576" tIns="18288" bIns="18288">
            <a:spAutoFit/>
          </a:bodyPr>
          <a:lstStyle/>
          <a:p>
            <a:pPr algn="l">
              <a:spcAft>
                <a:spcPts val="300"/>
              </a:spcAft>
            </a:pPr>
            <a:r>
              <a:rPr sz="900" b="0" i="1">
                <a:solidFill>
                  <a:srgbClr val="6C757D"/>
                </a:solidFill>
                <a:latin typeface="Arial"/>
              </a:rPr>
              <a:t>* 1 lakh homes, 4-year life today, +20 % with Sentinel-Embedded. Sources: MarketsandMarkets (home UPS), Mordor Intelligence (chemistry share), industry recycling estimates.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3518</Words>
  <Application>Microsoft Office PowerPoint</Application>
  <PresentationFormat>Widescreen</PresentationFormat>
  <Paragraphs>242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Ayush Manoj Garg</cp:lastModifiedBy>
  <cp:revision>3</cp:revision>
  <dcterms:created xsi:type="dcterms:W3CDTF">2013-01-27T09:14:16Z</dcterms:created>
  <dcterms:modified xsi:type="dcterms:W3CDTF">2026-09-23T22:52:13Z</dcterms:modified>
  <cp:category/>
</cp:coreProperties>
</file>