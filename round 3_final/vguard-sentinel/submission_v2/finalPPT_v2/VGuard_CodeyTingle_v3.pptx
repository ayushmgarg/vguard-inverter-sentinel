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6" r:id="rId25"/>
    <p:sldId id="260" r:id="rId6"/>
    <p:sldId id="264" r:id="rId7"/>
    <p:sldId id="266" r:id="rId8"/>
    <p:sldId id="265" r:id="rId9"/>
    <p:sldId id="261" r:id="rId10"/>
    <p:sldId id="262" r:id="rId11"/>
    <p:sldId id="263" r:id="rId12"/>
    <p:sldId id="267" r:id="rId13"/>
    <p:sldId id="268" r:id="rId14"/>
    <p:sldId id="269" r:id="rId15"/>
    <p:sldId id="270" r:id="rId16"/>
    <p:sldId id="271" r:id="rId17"/>
    <p:sldId id="27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E4705-9062-2E96-637A-939106D7F8FF}" v="43" dt="2026-09-23T23:51:50.695"/>
    <p1510:client id="{CED3A20F-2794-35C0-B674-70A559C4C17F}" v="424" dt="2026-09-23T23:24:44.7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540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microsoft.com/office/2015/10/relationships/revisionInfo" Target="revisionInfo.xml"/><Relationship Id="rId25" Type="http://schemas.openxmlformats.org/officeDocument/2006/relationships/slide" Target="slides/slide1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7.0000000000000007E-2"/>
          <c:y val="0.11"/>
          <c:w val="0.91"/>
          <c:h val="0.7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Home 1 — with Sentinel</c:v>
                </c:pt>
              </c:strCache>
            </c:strRef>
          </c:tx>
          <c:spPr>
            <a:ln w="44450">
              <a:solidFill>
                <a:srgbClr val="F39200"/>
              </a:solidFill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Sheet1!$B$2:$B$64</c:f>
              <c:numCache>
                <c:formatCode>General</c:formatCode>
                <c:ptCount val="63"/>
                <c:pt idx="0">
                  <c:v>94</c:v>
                </c:pt>
                <c:pt idx="1">
                  <c:v>94</c:v>
                </c:pt>
                <c:pt idx="2">
                  <c:v>94.1</c:v>
                </c:pt>
                <c:pt idx="3">
                  <c:v>94.1</c:v>
                </c:pt>
                <c:pt idx="4">
                  <c:v>94.1</c:v>
                </c:pt>
                <c:pt idx="5">
                  <c:v>94.1</c:v>
                </c:pt>
                <c:pt idx="6">
                  <c:v>94.2</c:v>
                </c:pt>
                <c:pt idx="7">
                  <c:v>94.2</c:v>
                </c:pt>
                <c:pt idx="8">
                  <c:v>94.2</c:v>
                </c:pt>
                <c:pt idx="9">
                  <c:v>92.5</c:v>
                </c:pt>
                <c:pt idx="10">
                  <c:v>90.8</c:v>
                </c:pt>
                <c:pt idx="11">
                  <c:v>89.1</c:v>
                </c:pt>
                <c:pt idx="12">
                  <c:v>85.1</c:v>
                </c:pt>
                <c:pt idx="13">
                  <c:v>81.2</c:v>
                </c:pt>
                <c:pt idx="14">
                  <c:v>77.2</c:v>
                </c:pt>
                <c:pt idx="15">
                  <c:v>72.2</c:v>
                </c:pt>
                <c:pt idx="16">
                  <c:v>70.099999999999994</c:v>
                </c:pt>
                <c:pt idx="17">
                  <c:v>67.900000000000006</c:v>
                </c:pt>
                <c:pt idx="18">
                  <c:v>66.5</c:v>
                </c:pt>
                <c:pt idx="19">
                  <c:v>65.099999999999994</c:v>
                </c:pt>
                <c:pt idx="20">
                  <c:v>63.7</c:v>
                </c:pt>
                <c:pt idx="21">
                  <c:v>61.5</c:v>
                </c:pt>
                <c:pt idx="22">
                  <c:v>59.4</c:v>
                </c:pt>
                <c:pt idx="23">
                  <c:v>57.3</c:v>
                </c:pt>
                <c:pt idx="24">
                  <c:v>55.9</c:v>
                </c:pt>
                <c:pt idx="25">
                  <c:v>54.7</c:v>
                </c:pt>
                <c:pt idx="26">
                  <c:v>54.5</c:v>
                </c:pt>
                <c:pt idx="27">
                  <c:v>53.6</c:v>
                </c:pt>
                <c:pt idx="28">
                  <c:v>52.7</c:v>
                </c:pt>
                <c:pt idx="29">
                  <c:v>51.8</c:v>
                </c:pt>
                <c:pt idx="30">
                  <c:v>51.6</c:v>
                </c:pt>
                <c:pt idx="31">
                  <c:v>51.4</c:v>
                </c:pt>
                <c:pt idx="32">
                  <c:v>51.1</c:v>
                </c:pt>
                <c:pt idx="33">
                  <c:v>50.2</c:v>
                </c:pt>
                <c:pt idx="34">
                  <c:v>49.3</c:v>
                </c:pt>
                <c:pt idx="35">
                  <c:v>48.4</c:v>
                </c:pt>
                <c:pt idx="36">
                  <c:v>48.2</c:v>
                </c:pt>
                <c:pt idx="37">
                  <c:v>48</c:v>
                </c:pt>
                <c:pt idx="38">
                  <c:v>47.8</c:v>
                </c:pt>
                <c:pt idx="39">
                  <c:v>46.9</c:v>
                </c:pt>
                <c:pt idx="40">
                  <c:v>46</c:v>
                </c:pt>
                <c:pt idx="41">
                  <c:v>45.1</c:v>
                </c:pt>
                <c:pt idx="42">
                  <c:v>44.9</c:v>
                </c:pt>
                <c:pt idx="43">
                  <c:v>44.7</c:v>
                </c:pt>
                <c:pt idx="44">
                  <c:v>44.5</c:v>
                </c:pt>
                <c:pt idx="45">
                  <c:v>43.6</c:v>
                </c:pt>
                <c:pt idx="46">
                  <c:v>42.6</c:v>
                </c:pt>
                <c:pt idx="47">
                  <c:v>41.7</c:v>
                </c:pt>
                <c:pt idx="48">
                  <c:v>41.5</c:v>
                </c:pt>
                <c:pt idx="49">
                  <c:v>41.3</c:v>
                </c:pt>
                <c:pt idx="50">
                  <c:v>41.1</c:v>
                </c:pt>
                <c:pt idx="51">
                  <c:v>40.200000000000003</c:v>
                </c:pt>
                <c:pt idx="52">
                  <c:v>39.299999999999997</c:v>
                </c:pt>
                <c:pt idx="53">
                  <c:v>38.4</c:v>
                </c:pt>
                <c:pt idx="54">
                  <c:v>38.200000000000003</c:v>
                </c:pt>
                <c:pt idx="55">
                  <c:v>38</c:v>
                </c:pt>
                <c:pt idx="56">
                  <c:v>37.799999999999997</c:v>
                </c:pt>
                <c:pt idx="57">
                  <c:v>38.6</c:v>
                </c:pt>
                <c:pt idx="58">
                  <c:v>39.4</c:v>
                </c:pt>
                <c:pt idx="59">
                  <c:v>40.200000000000003</c:v>
                </c:pt>
                <c:pt idx="60">
                  <c:v>41</c:v>
                </c:pt>
                <c:pt idx="61">
                  <c:v>41.8</c:v>
                </c:pt>
                <c:pt idx="62">
                  <c:v>42.6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A84F-467F-B685-7FA47FF5F03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Home 6 — no Sentinel</c:v>
                </c:pt>
              </c:strCache>
            </c:strRef>
          </c:tx>
          <c:spPr>
            <a:ln w="44450">
              <a:solidFill>
                <a:srgbClr val="221E1F"/>
              </a:solidFill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Sheet1!$C$2:$C$64</c:f>
              <c:numCache>
                <c:formatCode>General</c:formatCode>
                <c:ptCount val="63"/>
                <c:pt idx="0">
                  <c:v>94</c:v>
                </c:pt>
                <c:pt idx="1">
                  <c:v>94</c:v>
                </c:pt>
                <c:pt idx="2">
                  <c:v>94.1</c:v>
                </c:pt>
                <c:pt idx="3">
                  <c:v>94.1</c:v>
                </c:pt>
                <c:pt idx="4">
                  <c:v>94.1</c:v>
                </c:pt>
                <c:pt idx="5">
                  <c:v>94.1</c:v>
                </c:pt>
                <c:pt idx="6">
                  <c:v>94.2</c:v>
                </c:pt>
                <c:pt idx="7">
                  <c:v>94.2</c:v>
                </c:pt>
                <c:pt idx="8">
                  <c:v>94.2</c:v>
                </c:pt>
                <c:pt idx="9">
                  <c:v>92.5</c:v>
                </c:pt>
                <c:pt idx="10">
                  <c:v>90.8</c:v>
                </c:pt>
                <c:pt idx="11">
                  <c:v>89.1</c:v>
                </c:pt>
                <c:pt idx="12">
                  <c:v>85.1</c:v>
                </c:pt>
                <c:pt idx="13">
                  <c:v>81.2</c:v>
                </c:pt>
                <c:pt idx="14">
                  <c:v>77.2</c:v>
                </c:pt>
                <c:pt idx="15">
                  <c:v>72.2</c:v>
                </c:pt>
                <c:pt idx="16">
                  <c:v>70.099999999999994</c:v>
                </c:pt>
                <c:pt idx="17">
                  <c:v>67.900000000000006</c:v>
                </c:pt>
                <c:pt idx="18">
                  <c:v>66.5</c:v>
                </c:pt>
                <c:pt idx="19">
                  <c:v>65.099999999999994</c:v>
                </c:pt>
                <c:pt idx="20">
                  <c:v>63.7</c:v>
                </c:pt>
                <c:pt idx="21">
                  <c:v>61.5</c:v>
                </c:pt>
                <c:pt idx="22">
                  <c:v>59.4</c:v>
                </c:pt>
                <c:pt idx="23">
                  <c:v>57.3</c:v>
                </c:pt>
                <c:pt idx="24">
                  <c:v>55.9</c:v>
                </c:pt>
                <c:pt idx="25">
                  <c:v>54.4</c:v>
                </c:pt>
                <c:pt idx="26">
                  <c:v>53</c:v>
                </c:pt>
                <c:pt idx="27">
                  <c:v>50.9</c:v>
                </c:pt>
                <c:pt idx="28">
                  <c:v>48.8</c:v>
                </c:pt>
                <c:pt idx="29">
                  <c:v>46.6</c:v>
                </c:pt>
                <c:pt idx="30">
                  <c:v>45.2</c:v>
                </c:pt>
                <c:pt idx="31">
                  <c:v>43.8</c:v>
                </c:pt>
                <c:pt idx="32">
                  <c:v>42.4</c:v>
                </c:pt>
                <c:pt idx="33">
                  <c:v>40.200000000000003</c:v>
                </c:pt>
                <c:pt idx="34">
                  <c:v>38.1</c:v>
                </c:pt>
                <c:pt idx="35">
                  <c:v>36</c:v>
                </c:pt>
                <c:pt idx="36">
                  <c:v>34.6</c:v>
                </c:pt>
                <c:pt idx="37">
                  <c:v>33.299999999999997</c:v>
                </c:pt>
                <c:pt idx="38">
                  <c:v>31.9</c:v>
                </c:pt>
                <c:pt idx="39">
                  <c:v>29.8</c:v>
                </c:pt>
                <c:pt idx="40">
                  <c:v>27.7</c:v>
                </c:pt>
                <c:pt idx="41">
                  <c:v>25.7</c:v>
                </c:pt>
                <c:pt idx="42">
                  <c:v>24.3</c:v>
                </c:pt>
                <c:pt idx="43">
                  <c:v>22.9</c:v>
                </c:pt>
                <c:pt idx="44">
                  <c:v>21.6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20.8</c:v>
                </c:pt>
                <c:pt idx="58">
                  <c:v>21.6</c:v>
                </c:pt>
                <c:pt idx="59">
                  <c:v>22.4</c:v>
                </c:pt>
                <c:pt idx="60">
                  <c:v>23.2</c:v>
                </c:pt>
                <c:pt idx="61">
                  <c:v>24</c:v>
                </c:pt>
                <c:pt idx="62">
                  <c:v>24.8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84F-467F-B685-7FA47FF5F03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T2 defer 55 %</c:v>
                </c:pt>
              </c:strCache>
            </c:strRef>
          </c:tx>
          <c:spPr>
            <a:ln w="15875">
              <a:solidFill>
                <a:srgbClr val="E0A800"/>
              </a:solidFill>
              <a:prstDash val="dash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Sheet1!$D$2:$D$64</c:f>
              <c:numCache>
                <c:formatCode>General</c:formatCode>
                <c:ptCount val="63"/>
                <c:pt idx="0">
                  <c:v>55</c:v>
                </c:pt>
                <c:pt idx="1">
                  <c:v>55</c:v>
                </c:pt>
                <c:pt idx="2">
                  <c:v>55</c:v>
                </c:pt>
                <c:pt idx="3">
                  <c:v>55</c:v>
                </c:pt>
                <c:pt idx="4">
                  <c:v>55</c:v>
                </c:pt>
                <c:pt idx="5">
                  <c:v>55</c:v>
                </c:pt>
                <c:pt idx="6">
                  <c:v>55</c:v>
                </c:pt>
                <c:pt idx="7">
                  <c:v>55</c:v>
                </c:pt>
                <c:pt idx="8">
                  <c:v>55</c:v>
                </c:pt>
                <c:pt idx="9">
                  <c:v>55</c:v>
                </c:pt>
                <c:pt idx="10">
                  <c:v>55</c:v>
                </c:pt>
                <c:pt idx="11">
                  <c:v>55</c:v>
                </c:pt>
                <c:pt idx="12">
                  <c:v>55</c:v>
                </c:pt>
                <c:pt idx="13">
                  <c:v>55</c:v>
                </c:pt>
                <c:pt idx="14">
                  <c:v>55</c:v>
                </c:pt>
                <c:pt idx="15">
                  <c:v>55</c:v>
                </c:pt>
                <c:pt idx="16">
                  <c:v>55</c:v>
                </c:pt>
                <c:pt idx="17">
                  <c:v>55</c:v>
                </c:pt>
                <c:pt idx="18">
                  <c:v>55</c:v>
                </c:pt>
                <c:pt idx="19">
                  <c:v>55</c:v>
                </c:pt>
                <c:pt idx="20">
                  <c:v>55</c:v>
                </c:pt>
                <c:pt idx="21">
                  <c:v>55</c:v>
                </c:pt>
                <c:pt idx="22">
                  <c:v>55</c:v>
                </c:pt>
                <c:pt idx="23">
                  <c:v>55</c:v>
                </c:pt>
                <c:pt idx="24">
                  <c:v>55</c:v>
                </c:pt>
                <c:pt idx="25">
                  <c:v>55</c:v>
                </c:pt>
                <c:pt idx="26">
                  <c:v>55</c:v>
                </c:pt>
                <c:pt idx="27">
                  <c:v>55</c:v>
                </c:pt>
                <c:pt idx="28">
                  <c:v>55</c:v>
                </c:pt>
                <c:pt idx="29">
                  <c:v>55</c:v>
                </c:pt>
                <c:pt idx="30">
                  <c:v>55</c:v>
                </c:pt>
                <c:pt idx="31">
                  <c:v>55</c:v>
                </c:pt>
                <c:pt idx="32">
                  <c:v>55</c:v>
                </c:pt>
                <c:pt idx="33">
                  <c:v>55</c:v>
                </c:pt>
                <c:pt idx="34">
                  <c:v>55</c:v>
                </c:pt>
                <c:pt idx="35">
                  <c:v>55</c:v>
                </c:pt>
                <c:pt idx="36">
                  <c:v>55</c:v>
                </c:pt>
                <c:pt idx="37">
                  <c:v>55</c:v>
                </c:pt>
                <c:pt idx="38">
                  <c:v>55</c:v>
                </c:pt>
                <c:pt idx="39">
                  <c:v>55</c:v>
                </c:pt>
                <c:pt idx="40">
                  <c:v>55</c:v>
                </c:pt>
                <c:pt idx="41">
                  <c:v>55</c:v>
                </c:pt>
                <c:pt idx="42">
                  <c:v>55</c:v>
                </c:pt>
                <c:pt idx="43">
                  <c:v>55</c:v>
                </c:pt>
                <c:pt idx="44">
                  <c:v>55</c:v>
                </c:pt>
                <c:pt idx="45">
                  <c:v>55</c:v>
                </c:pt>
                <c:pt idx="46">
                  <c:v>55</c:v>
                </c:pt>
                <c:pt idx="47">
                  <c:v>55</c:v>
                </c:pt>
                <c:pt idx="48">
                  <c:v>55</c:v>
                </c:pt>
                <c:pt idx="49">
                  <c:v>55</c:v>
                </c:pt>
                <c:pt idx="50">
                  <c:v>55</c:v>
                </c:pt>
                <c:pt idx="51">
                  <c:v>55</c:v>
                </c:pt>
                <c:pt idx="52">
                  <c:v>55</c:v>
                </c:pt>
                <c:pt idx="53">
                  <c:v>55</c:v>
                </c:pt>
                <c:pt idx="54">
                  <c:v>55</c:v>
                </c:pt>
                <c:pt idx="55">
                  <c:v>55</c:v>
                </c:pt>
                <c:pt idx="56">
                  <c:v>55</c:v>
                </c:pt>
                <c:pt idx="57">
                  <c:v>55</c:v>
                </c:pt>
                <c:pt idx="58">
                  <c:v>55</c:v>
                </c:pt>
                <c:pt idx="59">
                  <c:v>55</c:v>
                </c:pt>
                <c:pt idx="60">
                  <c:v>55</c:v>
                </c:pt>
                <c:pt idx="61">
                  <c:v>55</c:v>
                </c:pt>
                <c:pt idx="62">
                  <c:v>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84F-467F-B685-7FA47FF5F03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T3 shed 40 %</c:v>
                </c:pt>
              </c:strCache>
            </c:strRef>
          </c:tx>
          <c:spPr>
            <a:ln w="15875">
              <a:solidFill>
                <a:srgbClr val="D63A4F"/>
              </a:solidFill>
              <a:prstDash val="dash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Sheet1!$E$2:$E$64</c:f>
              <c:numCache>
                <c:formatCode>General</c:formatCode>
                <c:ptCount val="63"/>
                <c:pt idx="0">
                  <c:v>40</c:v>
                </c:pt>
                <c:pt idx="1">
                  <c:v>40</c:v>
                </c:pt>
                <c:pt idx="2">
                  <c:v>40</c:v>
                </c:pt>
                <c:pt idx="3">
                  <c:v>40</c:v>
                </c:pt>
                <c:pt idx="4">
                  <c:v>40</c:v>
                </c:pt>
                <c:pt idx="5">
                  <c:v>40</c:v>
                </c:pt>
                <c:pt idx="6">
                  <c:v>40</c:v>
                </c:pt>
                <c:pt idx="7">
                  <c:v>40</c:v>
                </c:pt>
                <c:pt idx="8">
                  <c:v>40</c:v>
                </c:pt>
                <c:pt idx="9">
                  <c:v>40</c:v>
                </c:pt>
                <c:pt idx="10">
                  <c:v>40</c:v>
                </c:pt>
                <c:pt idx="11">
                  <c:v>40</c:v>
                </c:pt>
                <c:pt idx="12">
                  <c:v>40</c:v>
                </c:pt>
                <c:pt idx="13">
                  <c:v>40</c:v>
                </c:pt>
                <c:pt idx="14">
                  <c:v>40</c:v>
                </c:pt>
                <c:pt idx="15">
                  <c:v>40</c:v>
                </c:pt>
                <c:pt idx="16">
                  <c:v>40</c:v>
                </c:pt>
                <c:pt idx="17">
                  <c:v>40</c:v>
                </c:pt>
                <c:pt idx="18">
                  <c:v>40</c:v>
                </c:pt>
                <c:pt idx="19">
                  <c:v>40</c:v>
                </c:pt>
                <c:pt idx="20">
                  <c:v>40</c:v>
                </c:pt>
                <c:pt idx="21">
                  <c:v>40</c:v>
                </c:pt>
                <c:pt idx="22">
                  <c:v>40</c:v>
                </c:pt>
                <c:pt idx="23">
                  <c:v>40</c:v>
                </c:pt>
                <c:pt idx="24">
                  <c:v>40</c:v>
                </c:pt>
                <c:pt idx="25">
                  <c:v>40</c:v>
                </c:pt>
                <c:pt idx="26">
                  <c:v>40</c:v>
                </c:pt>
                <c:pt idx="27">
                  <c:v>40</c:v>
                </c:pt>
                <c:pt idx="28">
                  <c:v>40</c:v>
                </c:pt>
                <c:pt idx="29">
                  <c:v>40</c:v>
                </c:pt>
                <c:pt idx="30">
                  <c:v>40</c:v>
                </c:pt>
                <c:pt idx="31">
                  <c:v>40</c:v>
                </c:pt>
                <c:pt idx="32">
                  <c:v>40</c:v>
                </c:pt>
                <c:pt idx="33">
                  <c:v>40</c:v>
                </c:pt>
                <c:pt idx="34">
                  <c:v>40</c:v>
                </c:pt>
                <c:pt idx="35">
                  <c:v>40</c:v>
                </c:pt>
                <c:pt idx="36">
                  <c:v>40</c:v>
                </c:pt>
                <c:pt idx="37">
                  <c:v>40</c:v>
                </c:pt>
                <c:pt idx="38">
                  <c:v>40</c:v>
                </c:pt>
                <c:pt idx="39">
                  <c:v>40</c:v>
                </c:pt>
                <c:pt idx="40">
                  <c:v>40</c:v>
                </c:pt>
                <c:pt idx="41">
                  <c:v>40</c:v>
                </c:pt>
                <c:pt idx="42">
                  <c:v>40</c:v>
                </c:pt>
                <c:pt idx="43">
                  <c:v>40</c:v>
                </c:pt>
                <c:pt idx="44">
                  <c:v>40</c:v>
                </c:pt>
                <c:pt idx="45">
                  <c:v>40</c:v>
                </c:pt>
                <c:pt idx="46">
                  <c:v>40</c:v>
                </c:pt>
                <c:pt idx="47">
                  <c:v>40</c:v>
                </c:pt>
                <c:pt idx="48">
                  <c:v>40</c:v>
                </c:pt>
                <c:pt idx="49">
                  <c:v>40</c:v>
                </c:pt>
                <c:pt idx="50">
                  <c:v>40</c:v>
                </c:pt>
                <c:pt idx="51">
                  <c:v>40</c:v>
                </c:pt>
                <c:pt idx="52">
                  <c:v>40</c:v>
                </c:pt>
                <c:pt idx="53">
                  <c:v>40</c:v>
                </c:pt>
                <c:pt idx="54">
                  <c:v>40</c:v>
                </c:pt>
                <c:pt idx="55">
                  <c:v>40</c:v>
                </c:pt>
                <c:pt idx="56">
                  <c:v>40</c:v>
                </c:pt>
                <c:pt idx="57">
                  <c:v>40</c:v>
                </c:pt>
                <c:pt idx="58">
                  <c:v>40</c:v>
                </c:pt>
                <c:pt idx="59">
                  <c:v>40</c:v>
                </c:pt>
                <c:pt idx="60">
                  <c:v>40</c:v>
                </c:pt>
                <c:pt idx="61">
                  <c:v>40</c:v>
                </c:pt>
                <c:pt idx="62">
                  <c:v>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A84F-467F-B685-7FA47FF5F03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cut-off 20 %</c:v>
                </c:pt>
              </c:strCache>
            </c:strRef>
          </c:tx>
          <c:spPr>
            <a:ln w="15875">
              <a:solidFill>
                <a:srgbClr val="6C757D"/>
              </a:solidFill>
              <a:prstDash val="sysDot"/>
            </a:ln>
          </c:spPr>
          <c:marker>
            <c:symbol val="none"/>
          </c:marker>
          <c:cat>
            <c:strRef>
              <c:f>Sheet1!$A$2:$A$64</c:f>
              <c:strCache>
                <c:ptCount val="63"/>
                <c:pt idx="0">
                  <c:v>18:20</c:v>
                </c:pt>
                <c:pt idx="1">
                  <c:v>18:25</c:v>
                </c:pt>
                <c:pt idx="2">
                  <c:v>18:30</c:v>
                </c:pt>
                <c:pt idx="3">
                  <c:v>18:35</c:v>
                </c:pt>
                <c:pt idx="4">
                  <c:v>18:40</c:v>
                </c:pt>
                <c:pt idx="5">
                  <c:v>18:45</c:v>
                </c:pt>
                <c:pt idx="6">
                  <c:v>18:50</c:v>
                </c:pt>
                <c:pt idx="7">
                  <c:v>18:55</c:v>
                </c:pt>
                <c:pt idx="8">
                  <c:v>19:00</c:v>
                </c:pt>
                <c:pt idx="9">
                  <c:v>19:05</c:v>
                </c:pt>
                <c:pt idx="10">
                  <c:v>19:10</c:v>
                </c:pt>
                <c:pt idx="11">
                  <c:v>19:15</c:v>
                </c:pt>
                <c:pt idx="12">
                  <c:v>19:20</c:v>
                </c:pt>
                <c:pt idx="13">
                  <c:v>19:25</c:v>
                </c:pt>
                <c:pt idx="14">
                  <c:v>19:30</c:v>
                </c:pt>
                <c:pt idx="15">
                  <c:v>19:35</c:v>
                </c:pt>
                <c:pt idx="16">
                  <c:v>19:40</c:v>
                </c:pt>
                <c:pt idx="17">
                  <c:v>19:45</c:v>
                </c:pt>
                <c:pt idx="18">
                  <c:v>19:50</c:v>
                </c:pt>
                <c:pt idx="19">
                  <c:v>19:55</c:v>
                </c:pt>
                <c:pt idx="20">
                  <c:v>20:00</c:v>
                </c:pt>
                <c:pt idx="21">
                  <c:v>20:05</c:v>
                </c:pt>
                <c:pt idx="22">
                  <c:v>20:10</c:v>
                </c:pt>
                <c:pt idx="23">
                  <c:v>20:15</c:v>
                </c:pt>
                <c:pt idx="24">
                  <c:v>20:20</c:v>
                </c:pt>
                <c:pt idx="25">
                  <c:v>20:25</c:v>
                </c:pt>
                <c:pt idx="26">
                  <c:v>20:30</c:v>
                </c:pt>
                <c:pt idx="27">
                  <c:v>20:35</c:v>
                </c:pt>
                <c:pt idx="28">
                  <c:v>20:40</c:v>
                </c:pt>
                <c:pt idx="29">
                  <c:v>20:45</c:v>
                </c:pt>
                <c:pt idx="30">
                  <c:v>20:50</c:v>
                </c:pt>
                <c:pt idx="31">
                  <c:v>20:55</c:v>
                </c:pt>
                <c:pt idx="32">
                  <c:v>21:00</c:v>
                </c:pt>
                <c:pt idx="33">
                  <c:v>21:05</c:v>
                </c:pt>
                <c:pt idx="34">
                  <c:v>21:10</c:v>
                </c:pt>
                <c:pt idx="35">
                  <c:v>21:15</c:v>
                </c:pt>
                <c:pt idx="36">
                  <c:v>21:20</c:v>
                </c:pt>
                <c:pt idx="37">
                  <c:v>21:25</c:v>
                </c:pt>
                <c:pt idx="38">
                  <c:v>21:30</c:v>
                </c:pt>
                <c:pt idx="39">
                  <c:v>21:35</c:v>
                </c:pt>
                <c:pt idx="40">
                  <c:v>21:40</c:v>
                </c:pt>
                <c:pt idx="41">
                  <c:v>21:45</c:v>
                </c:pt>
                <c:pt idx="42">
                  <c:v>21:50</c:v>
                </c:pt>
                <c:pt idx="43">
                  <c:v>21:55</c:v>
                </c:pt>
                <c:pt idx="44">
                  <c:v>22:00</c:v>
                </c:pt>
                <c:pt idx="45">
                  <c:v>22:05</c:v>
                </c:pt>
                <c:pt idx="46">
                  <c:v>22:10</c:v>
                </c:pt>
                <c:pt idx="47">
                  <c:v>22:15</c:v>
                </c:pt>
                <c:pt idx="48">
                  <c:v>22:20</c:v>
                </c:pt>
                <c:pt idx="49">
                  <c:v>22:25</c:v>
                </c:pt>
                <c:pt idx="50">
                  <c:v>22:30</c:v>
                </c:pt>
                <c:pt idx="51">
                  <c:v>22:35</c:v>
                </c:pt>
                <c:pt idx="52">
                  <c:v>22:40</c:v>
                </c:pt>
                <c:pt idx="53">
                  <c:v>22:45</c:v>
                </c:pt>
                <c:pt idx="54">
                  <c:v>22:50</c:v>
                </c:pt>
                <c:pt idx="55">
                  <c:v>22:55</c:v>
                </c:pt>
                <c:pt idx="56">
                  <c:v>23:00</c:v>
                </c:pt>
                <c:pt idx="57">
                  <c:v>23:05</c:v>
                </c:pt>
                <c:pt idx="58">
                  <c:v>23:10</c:v>
                </c:pt>
                <c:pt idx="59">
                  <c:v>23:15</c:v>
                </c:pt>
                <c:pt idx="60">
                  <c:v>23:20</c:v>
                </c:pt>
                <c:pt idx="61">
                  <c:v>23:25</c:v>
                </c:pt>
                <c:pt idx="62">
                  <c:v>23:30</c:v>
                </c:pt>
              </c:strCache>
            </c:strRef>
          </c:cat>
          <c:val>
            <c:numRef>
              <c:f>Sheet1!$F$2:$F$64</c:f>
              <c:numCache>
                <c:formatCode>General</c:formatCode>
                <c:ptCount val="63"/>
                <c:pt idx="0">
                  <c:v>20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  <c:pt idx="5">
                  <c:v>20</c:v>
                </c:pt>
                <c:pt idx="6">
                  <c:v>20</c:v>
                </c:pt>
                <c:pt idx="7">
                  <c:v>20</c:v>
                </c:pt>
                <c:pt idx="8">
                  <c:v>20</c:v>
                </c:pt>
                <c:pt idx="9">
                  <c:v>20</c:v>
                </c:pt>
                <c:pt idx="10">
                  <c:v>20</c:v>
                </c:pt>
                <c:pt idx="11">
                  <c:v>20</c:v>
                </c:pt>
                <c:pt idx="12">
                  <c:v>20</c:v>
                </c:pt>
                <c:pt idx="13">
                  <c:v>20</c:v>
                </c:pt>
                <c:pt idx="14">
                  <c:v>20</c:v>
                </c:pt>
                <c:pt idx="15">
                  <c:v>20</c:v>
                </c:pt>
                <c:pt idx="16">
                  <c:v>20</c:v>
                </c:pt>
                <c:pt idx="17">
                  <c:v>20</c:v>
                </c:pt>
                <c:pt idx="18">
                  <c:v>20</c:v>
                </c:pt>
                <c:pt idx="19">
                  <c:v>20</c:v>
                </c:pt>
                <c:pt idx="20">
                  <c:v>20</c:v>
                </c:pt>
                <c:pt idx="21">
                  <c:v>20</c:v>
                </c:pt>
                <c:pt idx="22">
                  <c:v>20</c:v>
                </c:pt>
                <c:pt idx="23">
                  <c:v>20</c:v>
                </c:pt>
                <c:pt idx="24">
                  <c:v>20</c:v>
                </c:pt>
                <c:pt idx="25">
                  <c:v>20</c:v>
                </c:pt>
                <c:pt idx="26">
                  <c:v>20</c:v>
                </c:pt>
                <c:pt idx="27">
                  <c:v>20</c:v>
                </c:pt>
                <c:pt idx="28">
                  <c:v>20</c:v>
                </c:pt>
                <c:pt idx="29">
                  <c:v>20</c:v>
                </c:pt>
                <c:pt idx="30">
                  <c:v>20</c:v>
                </c:pt>
                <c:pt idx="31">
                  <c:v>20</c:v>
                </c:pt>
                <c:pt idx="32">
                  <c:v>20</c:v>
                </c:pt>
                <c:pt idx="33">
                  <c:v>20</c:v>
                </c:pt>
                <c:pt idx="34">
                  <c:v>20</c:v>
                </c:pt>
                <c:pt idx="35">
                  <c:v>20</c:v>
                </c:pt>
                <c:pt idx="36">
                  <c:v>20</c:v>
                </c:pt>
                <c:pt idx="37">
                  <c:v>20</c:v>
                </c:pt>
                <c:pt idx="38">
                  <c:v>20</c:v>
                </c:pt>
                <c:pt idx="39">
                  <c:v>20</c:v>
                </c:pt>
                <c:pt idx="40">
                  <c:v>20</c:v>
                </c:pt>
                <c:pt idx="41">
                  <c:v>20</c:v>
                </c:pt>
                <c:pt idx="42">
                  <c:v>20</c:v>
                </c:pt>
                <c:pt idx="43">
                  <c:v>20</c:v>
                </c:pt>
                <c:pt idx="44">
                  <c:v>20</c:v>
                </c:pt>
                <c:pt idx="45">
                  <c:v>20</c:v>
                </c:pt>
                <c:pt idx="46">
                  <c:v>20</c:v>
                </c:pt>
                <c:pt idx="47">
                  <c:v>20</c:v>
                </c:pt>
                <c:pt idx="48">
                  <c:v>20</c:v>
                </c:pt>
                <c:pt idx="49">
                  <c:v>20</c:v>
                </c:pt>
                <c:pt idx="50">
                  <c:v>20</c:v>
                </c:pt>
                <c:pt idx="51">
                  <c:v>20</c:v>
                </c:pt>
                <c:pt idx="52">
                  <c:v>20</c:v>
                </c:pt>
                <c:pt idx="53">
                  <c:v>20</c:v>
                </c:pt>
                <c:pt idx="54">
                  <c:v>20</c:v>
                </c:pt>
                <c:pt idx="55">
                  <c:v>20</c:v>
                </c:pt>
                <c:pt idx="56">
                  <c:v>20</c:v>
                </c:pt>
                <c:pt idx="57">
                  <c:v>20</c:v>
                </c:pt>
                <c:pt idx="58">
                  <c:v>20</c:v>
                </c:pt>
                <c:pt idx="59">
                  <c:v>20</c:v>
                </c:pt>
                <c:pt idx="60">
                  <c:v>20</c:v>
                </c:pt>
                <c:pt idx="61">
                  <c:v>20</c:v>
                </c:pt>
                <c:pt idx="62">
                  <c:v>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A84F-467F-B685-7FA47FF5F03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tickLblSkip val="6"/>
        <c:tickMarkSkip val="6"/>
        <c:noMultiLvlLbl val="0"/>
      </c:catAx>
      <c:valAx>
        <c:axId val="2140495176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4E4E4"/>
              </a:solidFill>
            </a:ln>
          </c:spPr>
        </c:majorGridlines>
        <c:numFmt formatCode="General" sourceLinked="1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latin typeface="Arial"/>
              </a:defRPr>
            </a:pPr>
            <a:endParaRPr lang="en-US"/>
          </a:p>
        </c:txPr>
        <c:crossAx val="2118791784"/>
        <c:crosses val="autoZero"/>
        <c:crossBetween val="between"/>
        <c:majorUnit val="20"/>
      </c:valAx>
    </c:plotArea>
    <c:legend>
      <c:legendPos val="t"/>
      <c:overlay val="0"/>
      <c:txPr>
        <a:bodyPr/>
        <a:lstStyle/>
        <a:p>
          <a:pPr>
            <a:defRPr sz="1100">
              <a:latin typeface="Arial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>
        <c:manualLayout>
          <c:layoutTarget val="inner"/>
          <c:xMode val="edge"/>
          <c:yMode val="edge"/>
          <c:x val="0.1"/>
          <c:y val="0.04"/>
          <c:w val="0.88"/>
          <c:h val="0.8"/>
        </c:manualLayout>
      </c:layout>
      <c:barChart>
        <c:barDir val="col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from</c:v>
                </c:pt>
              </c:strCache>
            </c:strRef>
          </c:tx>
          <c:spPr>
            <a:solidFill>
              <a:srgbClr val="FDC300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Basic board
(E1+E2)</c:v>
                </c:pt>
                <c:pt idx="1">
                  <c:v>+ shunt
(standalone)</c:v>
                </c:pt>
                <c:pt idx="2">
                  <c:v>+ Coach kit
(E3)</c:v>
                </c:pt>
                <c:pt idx="3">
                  <c:v>Embedded
increment</c:v>
                </c:pt>
                <c:pt idx="4">
                  <c:v>Embedded
+ Coach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750</c:v>
                </c:pt>
                <c:pt idx="1">
                  <c:v>1050</c:v>
                </c:pt>
                <c:pt idx="2">
                  <c:v>1650</c:v>
                </c:pt>
                <c:pt idx="3">
                  <c:v>450</c:v>
                </c:pt>
                <c:pt idx="4">
                  <c:v>850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4DA-4167-8537-62264E9952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up to</c:v>
                </c:pt>
              </c:strCache>
            </c:strRef>
          </c:tx>
          <c:spPr>
            <a:solidFill>
              <a:srgbClr val="E8E1CF"/>
            </a:solidFill>
          </c:spPr>
          <c:invertIfNegative val="1"/>
          <c:cat>
            <c:strRef>
              <c:f>Sheet1!$A$2:$A$6</c:f>
              <c:strCache>
                <c:ptCount val="5"/>
                <c:pt idx="0">
                  <c:v>Basic board
(E1+E2)</c:v>
                </c:pt>
                <c:pt idx="1">
                  <c:v>+ shunt
(standalone)</c:v>
                </c:pt>
                <c:pt idx="2">
                  <c:v>+ Coach kit
(E3)</c:v>
                </c:pt>
                <c:pt idx="3">
                  <c:v>Embedded
increment</c:v>
                </c:pt>
                <c:pt idx="4">
                  <c:v>Embedded
+ Coach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400</c:v>
                </c:pt>
                <c:pt idx="3">
                  <c:v>250</c:v>
                </c:pt>
                <c:pt idx="4">
                  <c:v>450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4DA-4167-8537-62264E9952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"/>
          <c:min val="0"/>
        </c:scaling>
        <c:delete val="0"/>
        <c:axPos val="l"/>
        <c:majorGridlines>
          <c:spPr>
            <a:ln>
              <a:solidFill>
                <a:srgbClr val="E4E4E4"/>
              </a:solidFill>
            </a:ln>
          </c:spPr>
        </c:majorGridlines>
        <c:numFmt formatCode="&quot;₹&quot;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en-US"/>
          </a:p>
        </c:txPr>
        <c:crossAx val="-2068027336"/>
        <c:crosses val="autoZero"/>
        <c:crossBetween val="between"/>
        <c:majorUnit val="500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308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[0:00–0:20] Good morning. We're Team Codey Tingle. In the next ten minutes we'll show you Sentinel — first the idea, then the working prototype live, then what's proven and what isn't. Behind us is our simulated village; you'll see it in action in a few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[0:20–0:50] Picture a family in Kochi. The evening power cut starts at seven. The inverter switches over in under ten milliseconds — it's fast. But nobody knows how much the battery has left, or how healthy it is. At three minutes past ten it simply dies: fridge, Wi-Fi, lights, all gone. Eighty-five percent of Indian homes face cuts daily. Heat halves lead-acid life every ten degrees. And for V-Guard, those surprise failures land in the warranty bill — about one and a half percent of revenue. The inverter is fast. The battery is blind. That's the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[0:50–1:10] Our idea in one sentence: Sentinel turns V-Guard's smart inverter into an intelligent one. Today's products take commands. Sentinel predicts when the battery will fail, decides which loads to keep alive, and acts on its own — even with no internet, which in India is a feature, not a compromise. It ships two ways: built into new inverters, or retrofitted by an electrician in half an hour.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[1:10–1:35] Physically, Sentinel is a box the size of a deck of cards beside the inverter. This is the 'power corner' of Home 1 in our simulation. Five touch points: a shunt in the battery's negative cable for current, a temperature probe on the battery post, a current transformer on the inverter output, four fail-safe contactors in the distribution board — and the ESP32 core itself. Gold dots are mains power, cyan is battery power, violet is Sentinel sensing.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[1:35–1:50] Four jobs, one board. One: battery health — a warning window, not a guess. Two: the autopilot that keeps essentials alive. Three: the energy coach and grid shield — which appliances use what, and what the grid did to your home. Four: a signed health log, so warranty is decided by evidence, not argument. Let me take them one at a time, quickly.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[3:25–3:45] For new V-Guard inverters Sentinel isn't a box — it's a daughter-board inside. This is our 3D proof of concept with the lid off: transformer, MOSFET bridge, changeover relay, control board, and our board on standoffs. It taps five things the inverter already has: its current shunt, its mode line, the charger's feedback node — which is how Sentinel does temperature-compensated charging, only on the embedded version — the output rail, and four coil outputs to the contactors.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[4:00–4:10] And the simplest version — our bench sketch. Mains through a 6-amp MCB into a Prime-class inverter, a 150 Ah tubular battery with the shunt in its negative lead, an ESP32, and three normally-closed relays for the three tiers. Flipping that MCB is our outage. Let's do exactly that,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[3:45–4:00] It's designed to be built. Enclosure 90 by 70 by 35, board 80 by 60, flame-retardant plastic. Two things we'd point an engineer to: the battery's 30-plus amps never touch our board — only the shunt's millivolts do — and the mains-side sensing sits behind an isolation moat that the isolated amplifier and optocoupler straddle. On the right, the same board as a 3D render with every chip where the drawing puts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[1:50–2:25] How does a small microcontroller predict battery life? Physics first. A Kalman filter turns current, voltage and temperature into charge and internal resistance. Each outage becomes 20 features the lead-acid literature says drive wear — resistance growth, heat stress, depth of discharge. A tiny int8 network — 28 thousand parameters, 16 KB of RAM — outputs a band, and we show a window: replace in 6 to 14 weeks, plan for 6. Honest numbers: on three batteries the model has never seen, the error is 8.2 points — on synthetic data. The band is calibrated but wide; real tubular aging data from the Kochi lab is what narrows it. And quantising to int8 cost us one hundredth of a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[2:25–3:00] This is the heart of it, and it isn't a drawing — it's the output of our simulation engine. Home 1 and Home 6 have the identical 150 Ah battery and identical appliances. Only Home 1 has Sentinel. At 8:24 pm Home 1 drops to 55 percent and defers the fans and TV; its curve flattens. Home 6 keeps burning everything, and at 10:03 pm hits the cut-off — fridge, router, lights, all off for 57 minutes. Home 1 sheds the heavy sockets at 40 percent and keeps its essentials on till mains returns. The rule is a readable ladder — 55 and 40 percent with hysteresis — not a black box. And every contactor is normally-closed: if Sentinel crashes, every load comes back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[3:00–3:25] Engine three. We added a real metering chip on the inverter output — the kind inside a smart meter. On the left, three hours of a home's power: every orange line is an appliance switching on, gold is off — 123 events, each turned into a signature so the app can ask 'what just turned on?'. On the right, the grid shield: the chip computes RMS every half cycle, catches a 120-millisecond sag and a swell, and writes them into the signed log — evidence for the owner when a fluctuation damages an appliance. We're honest about scope: big appliances, not two identical fans.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[4:10–8:10] LIVE DEMO (about 4 minutes). Switch to Sentinel-Live.html, full screen.</a:t>
            </a:r>
          </a:p>
          <a:p>
            <a:r>
              <a:t>1) Village tab: press ⏭ 18:58 at 180×. Feeder drops at 19:00 — flows turn cyan, street lights go out. Click Home 1 → Power corner: point at shunt, NTC, CT, Sentinel, contactors. ⏭ 20:20: T2 deferred (bedroom dark). ⏭ 21:55: at 22:03 Home 6 goes DARK; Home 1 still lit. Press Reset MCU on Home 1: all loads back, re-shed after reboot.</a:t>
            </a:r>
          </a:p>
          <a:p>
            <a:r>
              <a:t>2) Inverter + Sentinel tab: switch the iron on. Click MAINS MCB → slow motion: relay swings, scope shows the 8 ms gap gold→cyan, timeline +0.0 / +8.0 ms, Sentinel confirms at ~1.5 s. Hover the board: C1 ESP32, C6 metering, C13 DAC.</a:t>
            </a:r>
          </a:p>
          <a:p>
            <a:r>
              <a:t>3) Drag SoC to 38 % → CH3 opens, iron goes cold; fan deferred. Reset MCU → everything back, charger reverts to factory. Restore MCB → S6 then bulk charging. Temp slider to 45 °C → setpoints drop, current derates. Verify chain → alter one byte → broken.</a:t>
            </a:r>
          </a:p>
          <a:p>
            <a:r>
              <a:t>Back to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[8:10–8:40] Credibility is the whole game with R&amp;D judges, so here it is plainly. Proven in code: 245 tests, six C modules that match Python bit for bit, an int8 model that self-tests in C, and a signed log that catches tampering — you just saw it break. Synthetic only: the battery-health accuracy and the appliance numbers, because no real tubular aging data exists yet. Needs hardware: flashing to the ESP32, the physical bench, and the aging campaign. We also cut federated learning from this prototype on purpose — it's designed, not built.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[8:40–9:05] The product is one board sold two ways. Embedded inside new inverters, it adds 450 to 1,300 rupees. As a retrofit for the millions already installed, 750 rupees for the basic battery-and-autopilot box, up to about 2,000 with the energy coach. Against a 15,000-rupee battery that's 5 to 14 percent — for knowing when to replace it, and keeping the fridge alive when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[9:05–9:35] Our roadmap is written as gates, not dates. Gate one: a proper aging campaign in V-Guard's Kochi reliability lab — that's what turns our synthetic accuracy into real accuracy. Gate two: a hundred retrofit homes for six months with hard pass criteria. Gate three: the embedded version inside the Smart Pro family, which already has Wi-Fi and the app. What V-Guard gets: well-timed battery sales, evidence-based warranty, a premium tier, and data no competitor can buy. What we ask for: one opened Prime inverter with its charger schematic, the bench parts, and lab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[9:35–10:00] Three lines to remember. Coil off means loads on — it fails safe. A window, never a date — it's honest about uncertainty. Offline first, fleet second — it works in the village before it ever talks to the cloud. Thank you — we'd love your questions. (Appendix slides follow for Q&amp;A.)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If asked about safety certification: we target IS 13252 / IEC 62368-1 as the BIS gate; PQ is 'Class-S-like', never claimed Class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[1:35–1:55] Same core board, two ways to ship it. As a retrofit box it costs about 1,050 rupees in parts for battery health and the autopilot, and 1,650 to 2,050 with the Energy Coach and Grid Shield. Built into a new V-Guard inverter it's roughly half: 450 to 700, or 850 to 1,300, because it reuses the inverter's own current shunt, 12-volt supply, enclosure and mains signal. Only the embedded version can control the charger. The retrofit's advantage is that it works on the inverters already installed in homes today.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title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00104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5394960"/>
            <a:ext cx="12191695" cy="73152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2920"/>
            <a:ext cx="246253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1737360"/>
            <a:ext cx="62179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5000" b="1" i="0">
                <a:solidFill>
                  <a:srgbClr val="FDC300"/>
                </a:solidFill>
                <a:latin typeface="Arial"/>
              </a:rPr>
              <a:t>V-Guard Sentinel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943600" cy="105259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0" i="0" dirty="0">
                <a:solidFill>
                  <a:srgbClr val="FFFFFF"/>
                </a:solidFill>
                <a:latin typeface="Arial"/>
              </a:rPr>
              <a:t>The inverter already knows when the power </a:t>
            </a:r>
            <a:r>
              <a:rPr sz="2200" b="0" i="0">
                <a:solidFill>
                  <a:srgbClr val="FFFFFF"/>
                </a:solidFill>
                <a:latin typeface="Arial"/>
              </a:rPr>
              <a:t>goes. Sentinel teaches it what to keep on </a:t>
            </a:r>
            <a:r>
              <a:rPr sz="2200" b="0" i="0" dirty="0">
                <a:solidFill>
                  <a:srgbClr val="FFFFFF"/>
                </a:solidFill>
                <a:latin typeface="Arial"/>
              </a:rPr>
              <a:t>and when its battery will quit.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43400"/>
            <a:ext cx="64008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DC300"/>
                </a:solidFill>
                <a:latin typeface="Arial"/>
              </a:rPr>
              <a:t>Track 4 · From Smart Products to Intelligent Products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623560"/>
            <a:ext cx="10972800" cy="51911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Team Codey Tingle (TI3271)  ·  Ayush Garg · Eshan Shukla · Tanay </a:t>
            </a:r>
            <a:r>
              <a:rPr sz="1400" b="0" i="0" err="1">
                <a:solidFill>
                  <a:srgbClr val="FFFFFF"/>
                </a:solidFill>
                <a:latin typeface="Arial"/>
              </a:rPr>
              <a:t>Chaplot</a:t>
            </a:r>
            <a:endParaRPr lang="en-US" sz="1400" b="0" i="0" err="1">
              <a:solidFill>
                <a:srgbClr val="FFFFFF"/>
              </a:solidFill>
              <a:latin typeface="Arial"/>
              <a:cs typeface="Arial"/>
            </a:endParaRPr>
          </a:p>
          <a:p>
            <a:pPr algn="l">
              <a:spcAft>
                <a:spcPts val="400"/>
              </a:spcAft>
            </a:pPr>
            <a:r>
              <a:rPr sz="1400" b="0" i="0" dirty="0">
                <a:solidFill>
                  <a:srgbClr val="FFFFFF"/>
                </a:solidFill>
                <a:latin typeface="Arial"/>
              </a:rPr>
              <a:t>Finale · Kochi · 24 September 2026</a:t>
            </a:r>
            <a:endParaRPr sz="1400" b="0" i="0" dirty="0">
              <a:solidFill>
                <a:srgbClr val="FFFFFF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00104"/>
                </a:solidFill>
                <a:latin typeface="Arial"/>
              </a:rPr>
              <a:t>10:03 pm. The battery dies</a:t>
            </a:r>
            <a:r>
              <a:rPr lang="en-US" sz="2700" b="1" dirty="0">
                <a:solidFill>
                  <a:srgbClr val="000104"/>
                </a:solidFill>
                <a:latin typeface="Arial"/>
              </a:rPr>
              <a:t> </a:t>
            </a:r>
            <a:r>
              <a:rPr sz="2700" b="1" i="0" dirty="0">
                <a:solidFill>
                  <a:srgbClr val="000104"/>
                </a:solidFill>
                <a:latin typeface="Arial"/>
              </a:rPr>
              <a:t>with no warning.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 dirty="0">
                <a:solidFill>
                  <a:srgbClr val="6C757D"/>
                </a:solidFill>
                <a:latin typeface="Arial"/>
              </a:rPr>
              <a:t>Three hours into a power cut, Home 6 in our village goes dark. Home 1 has the same battery and appliances</a:t>
            </a:r>
            <a:r>
              <a:rPr lang="en-US" sz="1400" i="1" dirty="0">
                <a:solidFill>
                  <a:srgbClr val="6C757D"/>
                </a:solidFill>
                <a:latin typeface="Arial"/>
              </a:rPr>
              <a:t> </a:t>
            </a:r>
            <a:r>
              <a:rPr sz="1400" b="0" i="1" dirty="0">
                <a:solidFill>
                  <a:srgbClr val="6C757D"/>
                </a:solidFill>
                <a:latin typeface="Arial"/>
              </a:rPr>
              <a:t>and stays lit.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pic>
        <p:nvPicPr>
          <p:cNvPr id="9" name="Picture 8" descr="v_home6_dark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5980"/>
            <a:ext cx="7315200" cy="3383280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8229600" y="150876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39200"/>
                </a:solidFill>
                <a:latin typeface="Arial"/>
              </a:rPr>
              <a:t>85 %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221992"/>
            <a:ext cx="356616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of Indian households face a power cut every day (</a:t>
            </a:r>
            <a:r>
              <a:rPr lang="en-US" sz="1300" i="1">
                <a:solidFill>
                  <a:srgbClr val="221E1F"/>
                </a:solidFill>
                <a:latin typeface="Arial"/>
              </a:rPr>
              <a:t>LocalCircles, 2023</a:t>
            </a:r>
            <a:r>
              <a:rPr sz="1300" b="0" i="0">
                <a:solidFill>
                  <a:srgbClr val="221E1F"/>
                </a:solidFill>
                <a:latin typeface="Arial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06324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D63A4F"/>
                </a:solidFill>
                <a:latin typeface="Arial"/>
              </a:rPr>
              <a:t>×2 wear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3776472"/>
            <a:ext cx="356616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 dirty="0">
                <a:solidFill>
                  <a:srgbClr val="221E1F"/>
                </a:solidFill>
                <a:latin typeface="Arial"/>
              </a:rPr>
              <a:t>every +10 °C: lead-acid life halves with heat</a:t>
            </a:r>
            <a:r>
              <a:rPr lang="en-US" sz="1300" dirty="0">
                <a:solidFill>
                  <a:srgbClr val="221E1F"/>
                </a:solidFill>
                <a:latin typeface="Arial"/>
              </a:rPr>
              <a:t> </a:t>
            </a:r>
            <a:r>
              <a:rPr sz="1300" b="0" i="0" dirty="0">
                <a:solidFill>
                  <a:srgbClr val="221E1F"/>
                </a:solidFill>
                <a:latin typeface="Arial"/>
              </a:rPr>
              <a:t>the Indian summer is the battery's enemy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617720"/>
            <a:ext cx="35661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DC300"/>
                </a:solidFill>
                <a:latin typeface="Arial"/>
              </a:rPr>
              <a:t>≈ 1.5 %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5330952"/>
            <a:ext cx="356616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of V-Guard revenue goes to warranty (</a:t>
            </a:r>
            <a:r>
              <a:rPr sz="1300" b="0" i="1">
                <a:solidFill>
                  <a:srgbClr val="221E1F"/>
                </a:solidFill>
                <a:latin typeface="Arial"/>
              </a:rPr>
              <a:t>≈ ₹69 cr, FY24</a:t>
            </a:r>
            <a:r>
              <a:rPr sz="1300" b="0" i="0">
                <a:solidFill>
                  <a:srgbClr val="221E1F"/>
                </a:solidFill>
                <a:latin typeface="Arial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Sentinel turns a smart inverter into an intelligent 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Smart products take commands. Intelligent products predict, decide and act</a:t>
            </a:r>
            <a:r>
              <a:rPr lang="en-US" sz="1400" i="1">
                <a:solidFill>
                  <a:srgbClr val="6C757D"/>
                </a:solidFill>
                <a:latin typeface="Arial"/>
              </a:rPr>
              <a:t> </a:t>
            </a:r>
            <a:r>
              <a:rPr sz="1400" b="0" i="1">
                <a:solidFill>
                  <a:srgbClr val="6C757D"/>
                </a:solidFill>
                <a:latin typeface="Arial"/>
              </a:rPr>
              <a:t>without the cloud.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221E1F"/>
                </a:solidFill>
                <a:latin typeface="Arial"/>
              </a:rPr>
              <a:t>CONNECTED</a:t>
            </a:r>
          </a:p>
          <a:p>
            <a:pPr algn="ctr"/>
            <a:r>
              <a:rPr sz="2000" b="0">
                <a:solidFill>
                  <a:srgbClr val="221E1F"/>
                </a:solidFill>
                <a:latin typeface="Arial"/>
              </a:rPr>
              <a:t>app on / off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069080" y="2834640"/>
            <a:ext cx="457200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61772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2200" b="1">
                <a:solidFill>
                  <a:srgbClr val="221E1F"/>
                </a:solidFill>
                <a:latin typeface="Arial"/>
              </a:rPr>
              <a:t>SMART</a:t>
            </a:r>
          </a:p>
          <a:p>
            <a:pPr algn="ctr"/>
            <a:r>
              <a:rPr sz="2000" b="0">
                <a:solidFill>
                  <a:srgbClr val="221E1F"/>
                </a:solidFill>
                <a:latin typeface="Arial"/>
              </a:rPr>
              <a:t>schedules · alerts · usage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863840" y="2834640"/>
            <a:ext cx="457200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412480" y="2011680"/>
            <a:ext cx="3154680" cy="1920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5720" rIns="54864" bIns="45720" rtlCol="0" anchor="ctr"/>
          <a:lstStyle/>
          <a:p>
            <a:pPr algn="ctr"/>
            <a:r>
              <a:rPr sz="2200" b="1" dirty="0">
                <a:solidFill>
                  <a:srgbClr val="000104"/>
                </a:solidFill>
                <a:latin typeface="Arial"/>
              </a:rPr>
              <a:t>INTELLIGENT</a:t>
            </a:r>
          </a:p>
          <a:p>
            <a:pPr algn="ctr"/>
            <a:r>
              <a:rPr sz="2000" b="0" dirty="0">
                <a:solidFill>
                  <a:srgbClr val="000104"/>
                </a:solidFill>
                <a:latin typeface="Arial"/>
              </a:rPr>
              <a:t>predicts failure · learns the home</a:t>
            </a:r>
            <a:endParaRPr sz="2000" b="0" dirty="0">
              <a:solidFill>
                <a:srgbClr val="000104"/>
              </a:solidFill>
              <a:latin typeface="Arial"/>
              <a:cs typeface="Arial"/>
            </a:endParaRPr>
          </a:p>
          <a:p>
            <a:pPr algn="ctr"/>
            <a:r>
              <a:rPr sz="2000" b="0" dirty="0">
                <a:solidFill>
                  <a:srgbClr val="000104"/>
                </a:solidFill>
                <a:latin typeface="Arial"/>
              </a:rPr>
              <a:t>acts on its own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4069080"/>
            <a:ext cx="31089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39200"/>
                </a:solidFill>
                <a:latin typeface="Arial"/>
              </a:rPr>
              <a:t>← Sentinel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Embedded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a daughter-board inside new V-Guard inverters</a:t>
            </a:r>
          </a:p>
        </p:txBody>
      </p:sp>
      <p:sp>
        <p:nvSpPr>
          <p:cNvPr id="17" name="Oval 16"/>
          <p:cNvSpPr/>
          <p:nvPr/>
        </p:nvSpPr>
        <p:spPr>
          <a:xfrm>
            <a:off x="461772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Retrofit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a 30-minute electrician fit on the installed base</a:t>
            </a:r>
          </a:p>
        </p:txBody>
      </p:sp>
      <p:sp>
        <p:nvSpPr>
          <p:cNvPr id="19" name="Oval 18"/>
          <p:cNvSpPr/>
          <p:nvPr/>
        </p:nvSpPr>
        <p:spPr>
          <a:xfrm>
            <a:off x="8412480" y="4800600"/>
            <a:ext cx="457200" cy="45720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4754880"/>
            <a:ext cx="3017520" cy="10058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221E1F"/>
                </a:solidFill>
                <a:latin typeface="Arial"/>
              </a:rPr>
              <a:t>Offline-first  </a:t>
            </a:r>
            <a:r>
              <a:rPr sz="1500" b="0" i="0">
                <a:solidFill>
                  <a:srgbClr val="221E1F"/>
                </a:solidFill>
                <a:latin typeface="Arial"/>
              </a:rPr>
              <a:t>every core function works with zero internet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One small box reads the battery and switches the loads.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Nothing on the battery or the inverter is modified on the retrofit only the negative cable passes through a shunt.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pic>
        <p:nvPicPr>
          <p:cNvPr id="9" name="Picture 8" descr="v_home1_corner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16964"/>
            <a:ext cx="6949440" cy="4401312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0" name="Oval 9"/>
          <p:cNvSpPr/>
          <p:nvPr/>
        </p:nvSpPr>
        <p:spPr>
          <a:xfrm>
            <a:off x="7818120" y="15544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15087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Shunt in the battery − lead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battery current → INA228</a:t>
            </a:r>
          </a:p>
        </p:txBody>
      </p:sp>
      <p:sp>
        <p:nvSpPr>
          <p:cNvPr id="12" name="Oval 11"/>
          <p:cNvSpPr/>
          <p:nvPr/>
        </p:nvSpPr>
        <p:spPr>
          <a:xfrm>
            <a:off x="7818120" y="24688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4231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NTC on the battery post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temperature: the #1 ageing driver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3832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3375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CT + voltage tap on AC-OUT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real &amp; reactive power → ATM90E32AS</a:t>
            </a:r>
          </a:p>
        </p:txBody>
      </p:sp>
      <p:sp>
        <p:nvSpPr>
          <p:cNvPr id="16" name="Oval 15"/>
          <p:cNvSpPr/>
          <p:nvPr/>
        </p:nvSpPr>
        <p:spPr>
          <a:xfrm>
            <a:off x="7818120" y="42976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42519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4 NC contactors in the DB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coil off = load ON, always</a:t>
            </a:r>
          </a:p>
        </p:txBody>
      </p:sp>
      <p:sp>
        <p:nvSpPr>
          <p:cNvPr id="18" name="Oval 17"/>
          <p:cNvSpPr/>
          <p:nvPr/>
        </p:nvSpPr>
        <p:spPr>
          <a:xfrm>
            <a:off x="7818120" y="521208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516636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ESP32-S3 Sentinel Core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90 × 70 × 35 mm, powered by the battery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 dirty="0">
                <a:solidFill>
                  <a:srgbClr val="000104"/>
                </a:solidFill>
                <a:latin typeface="Arial"/>
              </a:rPr>
              <a:t>Four jobs, one board</a:t>
            </a:r>
            <a:r>
              <a:rPr lang="en-US" sz="2700" b="1" dirty="0">
                <a:solidFill>
                  <a:srgbClr val="000104"/>
                </a:solidFill>
                <a:latin typeface="Arial"/>
              </a:rPr>
              <a:t> &amp; </a:t>
            </a:r>
            <a:r>
              <a:rPr sz="2700" b="1" i="0">
                <a:solidFill>
                  <a:srgbClr val="000104"/>
                </a:solidFill>
                <a:latin typeface="Arial"/>
              </a:rPr>
              <a:t>all on </a:t>
            </a:r>
            <a:r>
              <a:rPr lang="en-US" sz="2700" b="1">
                <a:solidFill>
                  <a:srgbClr val="000104"/>
                </a:solidFill>
                <a:latin typeface="Arial"/>
              </a:rPr>
              <a:t>ESP32</a:t>
            </a:r>
            <a:endParaRPr lang="en-US" sz="2700" b="1" i="0" dirty="0">
              <a:solidFill>
                <a:srgbClr val="000104"/>
              </a:solidFill>
              <a:latin typeface="Arial"/>
              <a:cs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Battery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49039"/>
            <a:ext cx="2194560" cy="7294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 dirty="0">
                <a:solidFill>
                  <a:srgbClr val="221E1F"/>
                </a:solidFill>
                <a:latin typeface="Arial"/>
              </a:rPr>
              <a:t>Predicts a replacement </a:t>
            </a:r>
            <a:r>
              <a:rPr lang="en-US" sz="1500">
                <a:solidFill>
                  <a:srgbClr val="221E1F"/>
                </a:solidFill>
                <a:latin typeface="Arial"/>
              </a:rPr>
              <a:t>window: 'replace</a:t>
            </a:r>
            <a:r>
              <a:rPr sz="1500" b="0" i="0" dirty="0">
                <a:solidFill>
                  <a:srgbClr val="221E1F"/>
                </a:solidFill>
                <a:latin typeface="Arial"/>
              </a:rPr>
              <a:t> in 6–14 weeks'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8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Habit autopilot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Keeps the fridge, lights and router alive during a cut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4652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Energy coach + grid shield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49039"/>
            <a:ext cx="219456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Names the big appliances; logs every sag and swell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1417320"/>
            <a:ext cx="2606040" cy="384048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81160" y="1600200"/>
            <a:ext cx="219456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6000" b="1" i="0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788920"/>
            <a:ext cx="2194560" cy="8229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000104"/>
                </a:solidFill>
                <a:latin typeface="Arial"/>
              </a:rPr>
              <a:t>Signed health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749039"/>
            <a:ext cx="2194560" cy="72943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0" i="0">
                <a:solidFill>
                  <a:srgbClr val="221E1F"/>
                </a:solidFill>
                <a:latin typeface="Arial"/>
              </a:rPr>
              <a:t>Tamper-proof </a:t>
            </a:r>
            <a:r>
              <a:rPr lang="en-US" sz="1500">
                <a:solidFill>
                  <a:srgbClr val="221E1F"/>
                </a:solidFill>
                <a:latin typeface="Arial"/>
              </a:rPr>
              <a:t>record: warranty</a:t>
            </a:r>
            <a:r>
              <a:rPr sz="1500" b="0" i="0">
                <a:solidFill>
                  <a:srgbClr val="221E1F"/>
                </a:solidFill>
                <a:latin typeface="Arial"/>
              </a:rPr>
              <a:t> decided by </a:t>
            </a:r>
            <a:r>
              <a:rPr sz="1500" b="0" i="0" dirty="0">
                <a:solidFill>
                  <a:srgbClr val="221E1F"/>
                </a:solidFill>
                <a:latin typeface="Arial"/>
              </a:rPr>
              <a:t>evidence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0972800" cy="5486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Same core, same sensors, different models → the platform extends to pumps, stabilisers and water heaters.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Inside the inverter, Sentinel taps what's already there.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Our 3D proof of concept of the Embedded SKU: lid off, every part clickable, live power flow.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pic>
        <p:nvPicPr>
          <p:cNvPr id="10" name="Picture 9" descr="b_in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13515"/>
            <a:ext cx="7040880" cy="4562490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1" name="Oval 10"/>
          <p:cNvSpPr/>
          <p:nvPr/>
        </p:nvSpPr>
        <p:spPr>
          <a:xfrm>
            <a:off x="7863840" y="1508760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463040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Inverter's own shunt (I8)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INA228 · battery current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0" y="2441448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395728"/>
            <a:ext cx="3383280" cy="4806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 dirty="0">
                <a:solidFill>
                  <a:srgbClr val="FFFFFF"/>
                </a:solidFill>
                <a:latin typeface="Arial"/>
              </a:rPr>
              <a:t>Mode / mains line</a:t>
            </a:r>
          </a:p>
          <a:p>
            <a:pPr>
              <a:spcAft>
                <a:spcPts val="100"/>
              </a:spcAft>
            </a:pPr>
            <a:r>
              <a:rPr sz="1300" b="0" i="0" dirty="0">
                <a:solidFill>
                  <a:srgbClr val="C9CED6"/>
                </a:solidFill>
                <a:latin typeface="Arial"/>
              </a:rPr>
              <a:t>→ PC817 </a:t>
            </a:r>
            <a:r>
              <a:rPr sz="1300" b="0" i="0">
                <a:solidFill>
                  <a:srgbClr val="C9CED6"/>
                </a:solidFill>
                <a:latin typeface="Arial"/>
              </a:rPr>
              <a:t>opto </a:t>
            </a:r>
            <a:endParaRPr lang="en-US" sz="1300" b="0" i="0">
              <a:solidFill>
                <a:srgbClr val="C9CED6"/>
              </a:solidFill>
              <a:latin typeface="Arial"/>
              <a:cs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7863840" y="3374136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328416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SG3525 charge feedback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MCP4725 DAC · temperature-compensated charging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0" y="4306824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4261104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AC-OUT rail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AMC1311 + ATM90E32AS · V, P, Q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0" y="5239512"/>
            <a:ext cx="411480" cy="41148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5193792"/>
            <a:ext cx="3383280" cy="8686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4 coil outputs</a:t>
            </a:r>
          </a:p>
          <a:p>
            <a:pPr algn="l">
              <a:spcAft>
                <a:spcPts val="1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→ NC contactor panel · T1 / T2 / T3 / medical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And this is exactly how the bench is wired.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i="1">
                <a:solidFill>
                  <a:srgbClr val="6C757D"/>
                </a:solidFill>
                <a:latin typeface="Arial"/>
                <a:ea typeface="+mn-lt"/>
                <a:cs typeface="Arial"/>
              </a:rPr>
              <a:t>Real battery, real inverter, off-the-shelf parts, every</a:t>
            </a:r>
            <a:r>
              <a:rPr lang="en-US" sz="1400" b="0" i="1">
                <a:solidFill>
                  <a:srgbClr val="6C757D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sz="1400" i="1">
                <a:solidFill>
                  <a:srgbClr val="6C757D"/>
                </a:solidFill>
                <a:latin typeface="Arial"/>
                <a:ea typeface="+mn-lt"/>
                <a:cs typeface="Arial"/>
              </a:rPr>
              <a:t>part </a:t>
            </a:r>
            <a:r>
              <a:rPr lang="en-US" sz="1400" b="0" i="1">
                <a:solidFill>
                  <a:srgbClr val="6C757D"/>
                </a:solidFill>
                <a:latin typeface="Arial"/>
                <a:ea typeface="+mn-lt"/>
                <a:cs typeface="Arial"/>
              </a:rPr>
              <a:t>available from Indian distributors today</a:t>
            </a:r>
            <a:r>
              <a:rPr lang="en-US" sz="1400" i="1">
                <a:solidFill>
                  <a:srgbClr val="6C757D"/>
                </a:solidFill>
                <a:latin typeface="Arial"/>
                <a:ea typeface="+mn-lt"/>
                <a:cs typeface="Arial"/>
              </a:rPr>
              <a:t>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pic>
        <p:nvPicPr>
          <p:cNvPr id="9" name="Picture 8" descr="bench_sketch.png"/>
          <p:cNvPicPr>
            <a:picLocks noChangeAspect="1"/>
          </p:cNvPicPr>
          <p:nvPr/>
        </p:nvPicPr>
        <p:blipFill>
          <a:blip r:embed="rId3"/>
          <a:srcRect t="18000" r="-161"/>
          <a:stretch>
            <a:fillRect/>
          </a:stretch>
        </p:blipFill>
        <p:spPr>
          <a:xfrm>
            <a:off x="1610360" y="2231654"/>
            <a:ext cx="8955203" cy="41239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Designed to be built: 90 × 70 × 35 mm, HV zone fenced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A9B0BC"/>
                </a:solidFill>
                <a:latin typeface="Arial"/>
              </a:rPr>
              <a:t>Mechanical drawing from our round-3 spec, and the same board as a 3D render in the simulation.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pic>
        <p:nvPicPr>
          <p:cNvPr id="10" name="Picture 9" descr="cad_she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83067"/>
            <a:ext cx="7589520" cy="4269105"/>
          </a:xfrm>
          <a:prstGeom prst="rect">
            <a:avLst/>
          </a:prstGeom>
        </p:spPr>
      </p:pic>
      <p:pic>
        <p:nvPicPr>
          <p:cNvPr id="11" name="Picture 10" descr="b_board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488277"/>
            <a:ext cx="3520440" cy="228124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183879" y="3931920"/>
            <a:ext cx="3566160" cy="21945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Battery current never enters the PCB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only the shunt's millivolts do.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Isolation moat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AMC1311 and PC817 straddle the HV zone.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FDC300"/>
                </a:solidFill>
                <a:latin typeface="Arial"/>
              </a:rPr>
              <a:t>UL94 V-0 PC/ABS, 4× M3</a:t>
            </a:r>
          </a:p>
          <a:p>
            <a:pPr algn="l">
              <a:spcAft>
                <a:spcPts val="200"/>
              </a:spcAft>
            </a:pPr>
            <a:r>
              <a:rPr sz="1300" b="0" i="0">
                <a:solidFill>
                  <a:srgbClr val="C9CED6"/>
                </a:solidFill>
                <a:latin typeface="Arial"/>
              </a:rPr>
              <a:t>DIN or screw mount beside the inverter.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It gives a window, not a date: "replace in </a:t>
            </a:r>
            <a:r>
              <a:rPr lang="en-US" sz="2700" b="1">
                <a:solidFill>
                  <a:srgbClr val="000104"/>
                </a:solidFill>
                <a:latin typeface="Arial"/>
              </a:rPr>
              <a:t>6 –14</a:t>
            </a:r>
            <a:r>
              <a:rPr sz="2700" b="1" i="0">
                <a:solidFill>
                  <a:srgbClr val="000104"/>
                </a:solidFill>
                <a:latin typeface="Arial"/>
              </a:rPr>
              <a:t> weeks".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Physics first, learning second </a:t>
            </a:r>
            <a:r>
              <a:rPr lang="en-US" sz="1400" i="1" dirty="0">
                <a:solidFill>
                  <a:srgbClr val="6C757D"/>
                </a:solidFill>
                <a:latin typeface="Arial"/>
              </a:rPr>
              <a:t> </a:t>
            </a:r>
            <a:r>
              <a:rPr sz="1400" b="0" i="1">
                <a:solidFill>
                  <a:srgbClr val="6C757D"/>
                </a:solidFill>
                <a:latin typeface="Arial"/>
              </a:rPr>
              <a:t>every step runs on the ESP32.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45720" rIns="54864" bIns="45720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1 Hz sensing</a:t>
            </a:r>
          </a:p>
          <a:p>
            <a:pPr algn="ctr"/>
            <a:r>
              <a:rPr sz="1300" b="0" dirty="0">
                <a:solidFill>
                  <a:srgbClr val="221E1F"/>
                </a:solidFill>
                <a:latin typeface="Arial"/>
              </a:rPr>
              <a:t>I </a:t>
            </a:r>
            <a:r>
              <a:rPr lang="en-US" sz="1300">
                <a:solidFill>
                  <a:srgbClr val="221E1F"/>
                </a:solidFill>
                <a:latin typeface="Arial"/>
              </a:rPr>
              <a:t>/ </a:t>
            </a:r>
            <a:r>
              <a:rPr sz="1300" b="0" dirty="0">
                <a:solidFill>
                  <a:srgbClr val="221E1F"/>
                </a:solidFill>
                <a:latin typeface="Arial"/>
              </a:rPr>
              <a:t>V </a:t>
            </a:r>
            <a:r>
              <a:rPr lang="en-US" sz="1300" dirty="0">
                <a:solidFill>
                  <a:srgbClr val="221E1F"/>
                </a:solidFill>
                <a:latin typeface="Arial"/>
              </a:rPr>
              <a:t>/ </a:t>
            </a:r>
            <a:r>
              <a:rPr sz="1300" b="0" dirty="0">
                <a:solidFill>
                  <a:srgbClr val="221E1F"/>
                </a:solidFill>
                <a:latin typeface="Arial"/>
              </a:rPr>
              <a:t>T</a:t>
            </a:r>
            <a:endParaRPr sz="1300" b="0" dirty="0">
              <a:solidFill>
                <a:srgbClr val="221E1F"/>
              </a:solidFill>
              <a:latin typeface="Arial"/>
              <a:cs typeface="Arial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496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2834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Kalman filter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SoC · R_int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82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20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14 + 6 features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per outage cycle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068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06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221E1F"/>
                </a:solidFill>
                <a:latin typeface="Arial"/>
              </a:rPr>
              <a:t>int8 CNN × 3</a:t>
            </a:r>
          </a:p>
          <a:p>
            <a:pPr algn="ctr"/>
            <a:r>
              <a:rPr sz="1300" b="0">
                <a:solidFill>
                  <a:srgbClr val="221E1F"/>
                </a:solidFill>
                <a:latin typeface="Arial"/>
              </a:rPr>
              <a:t>28 k params · 16 KB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9354312" y="1801368"/>
            <a:ext cx="301752" cy="274320"/>
          </a:xfrm>
          <a:prstGeom prst="rightArrow">
            <a:avLst/>
          </a:prstGeom>
          <a:solidFill>
            <a:srgbClr val="221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692640" y="1463040"/>
            <a:ext cx="1920240" cy="960120"/>
          </a:xfrm>
          <a:prstGeom prst="roundRect">
            <a:avLst>
              <a:gd name="adj" fmla="val 8000"/>
            </a:avLst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rIns="54864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Grade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window, never a date</a:t>
            </a:r>
          </a:p>
        </p:txBody>
      </p:sp>
      <p:pic>
        <p:nvPicPr>
          <p:cNvPr id="18" name="Picture 17" descr="soh_ban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997501"/>
            <a:ext cx="7863840" cy="292039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732520" y="2743200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39200"/>
                </a:solidFill>
                <a:latin typeface="Arial"/>
              </a:rPr>
              <a:t>8.2 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20" y="3456432"/>
            <a:ext cx="3017520" cy="437043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0" i="0" dirty="0">
                <a:solidFill>
                  <a:srgbClr val="221E1F"/>
                </a:solidFill>
                <a:latin typeface="Arial"/>
              </a:rPr>
              <a:t>SoH error on 3 never-seen test </a:t>
            </a:r>
            <a:r>
              <a:rPr sz="1300" b="0" i="0">
                <a:solidFill>
                  <a:srgbClr val="221E1F"/>
                </a:solidFill>
                <a:latin typeface="Arial"/>
              </a:rPr>
              <a:t>batteries </a:t>
            </a:r>
            <a:r>
              <a:rPr lang="en-US" sz="1300">
                <a:solidFill>
                  <a:srgbClr val="221E1F"/>
                </a:solidFill>
                <a:latin typeface="Arial"/>
              </a:rPr>
              <a:t>(Based on simulation data)</a:t>
            </a:r>
            <a:endParaRPr lang="en-US" sz="1300">
              <a:solidFill>
                <a:srgbClr val="221E1F"/>
              </a:solidFill>
              <a:latin typeface="Arial"/>
              <a:cs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732520" y="4160520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+0.01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4873752"/>
            <a:ext cx="301752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accuracy lost going float → int8 — it fits on the chip for free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sz="2400" b="1" i="0">
                <a:solidFill>
                  <a:srgbClr val="000104"/>
                </a:solidFill>
                <a:latin typeface="Arial"/>
              </a:rPr>
              <a:t>Same outage, same battery: only Home 1 </a:t>
            </a:r>
            <a:r>
              <a:rPr lang="en-US" sz="2400" b="1">
                <a:solidFill>
                  <a:srgbClr val="000104"/>
                </a:solidFill>
                <a:latin typeface="Arial"/>
              </a:rPr>
              <a:t>gets to keeps</a:t>
            </a:r>
            <a:r>
              <a:rPr sz="2400" b="1" i="0">
                <a:solidFill>
                  <a:srgbClr val="000104"/>
                </a:solidFill>
                <a:latin typeface="Arial"/>
              </a:rPr>
              <a:t> its fridge on</a:t>
            </a:r>
            <a:r>
              <a:rPr sz="2700" b="1" i="0">
                <a:solidFill>
                  <a:srgbClr val="000104"/>
                </a:solidFill>
                <a:latin typeface="Arial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Battery charge through the 7–11 pm cut, straight from our simulation engine</a:t>
            </a:r>
            <a:endParaRPr lang="en-US" sz="1400" b="0" i="1">
              <a:solidFill>
                <a:srgbClr val="6C757D"/>
              </a:solidFill>
              <a:latin typeface="Arial"/>
              <a:cs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17320"/>
          <a:ext cx="8138160" cy="4800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Oval 9"/>
          <p:cNvSpPr/>
          <p:nvPr/>
        </p:nvSpPr>
        <p:spPr>
          <a:xfrm>
            <a:off x="4042714" y="3535641"/>
            <a:ext cx="146304" cy="146304"/>
          </a:xfrm>
          <a:prstGeom prst="ellipse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7306" y="2740113"/>
            <a:ext cx="205740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B8860B"/>
                </a:solidFill>
                <a:latin typeface="Arial"/>
              </a:rPr>
              <a:t>8:24 pm · fans &amp; TV deferred
(T2 at 55 %)</a:t>
            </a:r>
          </a:p>
        </p:txBody>
      </p:sp>
      <p:sp>
        <p:nvSpPr>
          <p:cNvPr id="12" name="Oval 11"/>
          <p:cNvSpPr/>
          <p:nvPr/>
        </p:nvSpPr>
        <p:spPr>
          <a:xfrm>
            <a:off x="6393738" y="4829403"/>
            <a:ext cx="146304" cy="146304"/>
          </a:xfrm>
          <a:prstGeom prst="ellipse">
            <a:avLst/>
          </a:prstGeom>
          <a:solidFill>
            <a:srgbClr val="D63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318050" y="5039715"/>
            <a:ext cx="219456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D63A4F"/>
                </a:solidFill>
                <a:latin typeface="Arial"/>
              </a:rPr>
              <a:t>10:03 pm · Home 6 cut-off:
fridge, router, lights OFF</a:t>
            </a:r>
          </a:p>
        </p:txBody>
      </p:sp>
      <p:sp>
        <p:nvSpPr>
          <p:cNvPr id="14" name="Oval 13"/>
          <p:cNvSpPr/>
          <p:nvPr/>
        </p:nvSpPr>
        <p:spPr>
          <a:xfrm>
            <a:off x="7216597" y="4090111"/>
            <a:ext cx="146304" cy="146304"/>
          </a:xfrm>
          <a:prstGeom prst="ellipse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92469" y="4346143"/>
            <a:ext cx="237744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39200"/>
                </a:solidFill>
                <a:latin typeface="Arial"/>
              </a:rPr>
              <a:t>10:37 pm · heavy sockets shed
(T3 at 40 %)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1463040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D63A4F"/>
                </a:solidFill>
                <a:latin typeface="Arial"/>
              </a:rPr>
              <a:t>57 min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2176272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Home 6 sat in the dark until mains returned at 11 pm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926080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 i="0">
                <a:solidFill>
                  <a:srgbClr val="1E9E5A"/>
                </a:solidFill>
                <a:latin typeface="Arial"/>
              </a:rPr>
              <a:t>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3639312"/>
            <a:ext cx="283464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Home 1's fridge, router and hall light were never 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4434840"/>
            <a:ext cx="2834640" cy="18288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21E1F"/>
                </a:solidFill>
                <a:latin typeface="Arial"/>
              </a:rPr>
              <a:t>Coil off = load on.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C757D"/>
                </a:solidFill>
                <a:latin typeface="Arial"/>
              </a:rPr>
              <a:t>NC contactors, a hardware supervisory timer and a medical jumper: any crash or reset brings every load back.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One sensor saves energy and catches a misbehaving grid.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Both run on the metering front-end (ATM90E32AS) and the isolated voltage tap (AMC1311) </a:t>
            </a:r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12</a:t>
            </a:r>
          </a:p>
        </p:txBody>
      </p:sp>
      <p:pic>
        <p:nvPicPr>
          <p:cNvPr id="9" name="Picture 8" descr="nilm_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6271"/>
            <a:ext cx="5577840" cy="2262497"/>
          </a:xfrm>
          <a:prstGeom prst="rect">
            <a:avLst/>
          </a:prstGeom>
        </p:spPr>
      </p:pic>
      <p:pic>
        <p:nvPicPr>
          <p:cNvPr id="10" name="Picture 9" descr="pq_d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918277"/>
            <a:ext cx="5577840" cy="21984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" y="4709160"/>
            <a:ext cx="53949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Energy Coach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123 switch-ON/OFF events found in 3 h of whole-home power; each becomes a 13-number signature. Fridge F1 0.97, iron 1.00.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4709160"/>
            <a:ext cx="539496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63A4F"/>
                </a:solidFill>
                <a:latin typeface="Arial"/>
              </a:rPr>
              <a:t>Grid Shield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 120 ms sag to 0.55 pu measured as 0.54; a 100 ms swell to 1.15 pu as 1.16. 13 / 13 dips caught. Logged, dated, signed.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E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FFFFFF"/>
                </a:solidFill>
                <a:latin typeface="Arial"/>
              </a:rPr>
              <a:t>Let's watch it happen live.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spcAft>
                <a:spcPts val="400"/>
              </a:spcAft>
            </a:pPr>
            <a:r>
              <a:rPr lang="en-US" sz="1400" i="1">
                <a:solidFill>
                  <a:srgbClr val="A9B0BC"/>
                </a:solidFill>
                <a:latin typeface="Arial"/>
              </a:rPr>
              <a:t>Three</a:t>
            </a:r>
            <a:r>
              <a:rPr sz="1400" b="0" i="1" dirty="0">
                <a:solidFill>
                  <a:srgbClr val="A9B0BC"/>
                </a:solidFill>
                <a:latin typeface="Arial"/>
              </a:rPr>
              <a:t> moments to watch for: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pic>
        <p:nvPicPr>
          <p:cNvPr id="10" name="Picture 9" descr="v_overview_ou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4864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1 · The village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Feeder cuts at 7 pm. Watch Home 6 go dark at 10:03 while its twin stays lit.</a:t>
            </a:r>
          </a:p>
        </p:txBody>
      </p:sp>
      <p:pic>
        <p:nvPicPr>
          <p:cNvPr id="13" name="Picture 12" descr="b_transfer_slowm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434340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2 · Flip the MCB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Relay swings in slow motion: 8 ms gap on the scope, outage confirmed in 1.5 s.</a:t>
            </a:r>
          </a:p>
        </p:txBody>
      </p:sp>
      <p:pic>
        <p:nvPicPr>
          <p:cNvPr id="16" name="Picture 15" descr="b_failsafe_res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0" y="1740217"/>
            <a:ext cx="3566160" cy="2005965"/>
          </a:xfrm>
          <a:prstGeom prst="rect">
            <a:avLst/>
          </a:prstGeom>
          <a:ln w="19050">
            <a:solidFill>
              <a:srgbClr val="FDC300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8138160" y="4114800"/>
            <a:ext cx="3566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0">
                <a:solidFill>
                  <a:srgbClr val="FDC300"/>
                </a:solidFill>
                <a:latin typeface="Arial"/>
              </a:rPr>
              <a:t>3 · Crash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4617720"/>
            <a:ext cx="3566160" cy="12801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Drop SoC below 40 % → the iron sheds. Reset the chip → every load comes 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What's proven, what's synthetic, and what still needs hardware.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We'd rather you trust three honest columns than one shiny number.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245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automated tests, all passing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C modules bit-identical to 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3 %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Kalman SoC error vs 7.2 %/week naive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1371600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 i="0">
                <a:solidFill>
                  <a:srgbClr val="F39200"/>
                </a:solidFill>
                <a:latin typeface="Arial"/>
              </a:rPr>
              <a:t>13 / 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084832"/>
            <a:ext cx="2651760" cy="7315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grid dips detected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7724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PROVEN IN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int8 model exported + golden self-test in C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autopilot: 50 / 50 C scenarios, zero chatter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signed log: tamper, delete, replay caught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CB8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200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SYNTHETIC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SoH 8.2 pt on simulated tubular batteries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RUL band calibrated (0.99) but wide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NILM / PQ on synthetic streams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63240"/>
            <a:ext cx="3566160" cy="30632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66760" y="3200400"/>
            <a:ext cx="32004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0104"/>
                </a:solidFill>
                <a:latin typeface="Arial"/>
              </a:rPr>
              <a:t>NEEDS HARDWARE /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749039"/>
            <a:ext cx="3200400" cy="22860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ESP32 flash + latency on silicon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real bench: battery, CT, relays</a:t>
            </a:r>
          </a:p>
          <a:p>
            <a:pPr algn="l">
              <a:spcAft>
                <a:spcPts val="800"/>
              </a:spcAft>
            </a:pPr>
            <a:r>
              <a:rPr sz="1400" b="0" i="0">
                <a:solidFill>
                  <a:srgbClr val="F39200"/>
                </a:solidFill>
                <a:latin typeface="Arial"/>
              </a:rPr>
              <a:t>▪  </a:t>
            </a:r>
            <a:r>
              <a:rPr sz="1400" b="0" i="0">
                <a:solidFill>
                  <a:srgbClr val="221E1F"/>
                </a:solidFill>
                <a:latin typeface="Arial"/>
              </a:rPr>
              <a:t>aging campaign → real SoH accuracy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Two SKUs, one board for 5–14 % of what one battery costs.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25237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6C757D"/>
                </a:solidFill>
                <a:latin typeface="Arial"/>
              </a:rPr>
              <a:t>Cost stated by the engines each tier enables</a:t>
            </a:r>
            <a:r>
              <a:rPr lang="en-US" sz="1400" i="1">
                <a:solidFill>
                  <a:srgbClr val="6C757D"/>
                </a:solidFill>
                <a:latin typeface="Arial"/>
              </a:rPr>
              <a:t>,</a:t>
            </a:r>
            <a:r>
              <a:rPr sz="1400" b="0" i="1" dirty="0">
                <a:solidFill>
                  <a:srgbClr val="6C757D"/>
                </a:solidFill>
                <a:latin typeface="Arial"/>
              </a:rPr>
              <a:t> against a ₹15 k tubular battery.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548640" y="1417320"/>
          <a:ext cx="6766560" cy="4754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180673" y="3922776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₹750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1587" y="3466307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₹1,050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502" y="1944745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₹1,650–2,050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3416" y="3998854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₹450–700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4331" y="3085917"/>
            <a:ext cx="128016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 i="0">
                <a:solidFill>
                  <a:srgbClr val="221E1F"/>
                </a:solidFill>
                <a:latin typeface="Arial"/>
              </a:rPr>
              <a:t>₹850–1,300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46304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63840" y="160020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104"/>
                </a:solidFill>
                <a:latin typeface="Arial"/>
              </a:rPr>
              <a:t>Sentinel-Embedded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2103120"/>
            <a:ext cx="3657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Inside new V-Guard inverters. Taps the inverter's own shunt; controls the charger through a DAC with a hardware ceiling. Life-extension claims live here 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3840480"/>
            <a:ext cx="4069080" cy="214884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863840" y="3977640"/>
            <a:ext cx="3657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000104"/>
                </a:solidFill>
                <a:latin typeface="Arial"/>
              </a:rPr>
              <a:t>Sentinel-Retrofit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480560"/>
            <a:ext cx="3657600" cy="1463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21E1F"/>
                </a:solidFill>
                <a:latin typeface="Arial"/>
              </a:rPr>
              <a:t>Box beside any inverter. External shunt, NTC, CT and 4 fail-safe contactors. Advisory on charging, protective on loads. ≈ 2.6 mA average draw.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4524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 i="0">
                <a:solidFill>
                  <a:srgbClr val="000104"/>
                </a:solidFill>
                <a:latin typeface="Arial"/>
              </a:rPr>
              <a:t>Three validation gates and what we need to pass the first.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92240"/>
            <a:ext cx="9144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 i="0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1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234440" y="1554480"/>
            <a:ext cx="2971800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1 · 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560320"/>
            <a:ext cx="35661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 dirty="0">
                <a:solidFill>
                  <a:srgbClr val="6C757D"/>
                </a:solidFill>
                <a:latin typeface="Arial"/>
              </a:rPr>
              <a:t> Kochi reliability lab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24–36 tubular batteries at 3 temperatures × 3 depths → real SoH labels and a measured life-extension number</a:t>
            </a:r>
          </a:p>
        </p:txBody>
      </p:sp>
      <p:sp>
        <p:nvSpPr>
          <p:cNvPr id="13" name="Oval 12"/>
          <p:cNvSpPr/>
          <p:nvPr/>
        </p:nvSpPr>
        <p:spPr>
          <a:xfrm>
            <a:off x="434340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2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029200" y="1554480"/>
            <a:ext cx="2971800" cy="274320"/>
          </a:xfrm>
          <a:prstGeom prst="rightArrow">
            <a:avLst/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4340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2 · FIELD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560320"/>
            <a:ext cx="3566160" cy="2369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100 retrofit homes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SoC within 3 %, ≥ 75 % RUL-window hit rate, zero unsafe sheds, fridge/AC F1 ≥ 0.8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0" y="1417320"/>
            <a:ext cx="548640" cy="548640"/>
          </a:xfrm>
          <a:prstGeom prst="ellipse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600" b="1">
                <a:solidFill>
                  <a:srgbClr val="000104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148840"/>
            <a:ext cx="3566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39200"/>
                </a:solidFill>
                <a:latin typeface="Arial"/>
              </a:rPr>
              <a:t>GATE 3 · PRODUCT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560320"/>
            <a:ext cx="3566160" cy="3657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6C757D"/>
                </a:solidFill>
                <a:latin typeface="Arial"/>
              </a:rPr>
              <a:t>Smart Pro family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971800"/>
            <a:ext cx="35204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Embedded SKU into the inverter that already has Wi-Fi, BLE and the Smart 2.0 app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526280"/>
            <a:ext cx="11109960" cy="1600200"/>
          </a:xfrm>
          <a:prstGeom prst="roundRect">
            <a:avLst>
              <a:gd name="adj" fmla="val 8000"/>
            </a:avLst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2960" y="4663440"/>
            <a:ext cx="512064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DC300"/>
                </a:solidFill>
                <a:latin typeface="Arial"/>
              </a:rPr>
              <a:t>What V-Guard gains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battery replacements at the right time · warranty by evidence · a premium 'intelligent' tier · a fleet-data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4663440"/>
            <a:ext cx="5212080" cy="1371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FDC300"/>
                </a:solidFill>
                <a:latin typeface="Arial"/>
              </a:rPr>
              <a:t>What we ask for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Arial"/>
              </a:rPr>
              <a:t>one opened Prime-series inverter + charger schematic · ESP32 bench parts · batteries and cyclers for Gate 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v_home1_insid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596085"/>
            <a:ext cx="5788152" cy="366582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6400800" y="0"/>
            <a:ext cx="5788152" cy="6858000"/>
          </a:xfrm>
          <a:prstGeom prst="rect">
            <a:avLst/>
          </a:prstGeom>
          <a:solidFill>
            <a:srgbClr val="000104">
              <a:alpha val="4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760720" cy="23774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Coil off means loads on.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A window, never a date.</a:t>
            </a:r>
          </a:p>
          <a:p>
            <a:pPr algn="l">
              <a:spcAft>
                <a:spcPts val="1000"/>
              </a:spcAft>
            </a:pPr>
            <a:r>
              <a:rPr sz="3400" b="1" i="0">
                <a:solidFill>
                  <a:srgbClr val="FDC300"/>
                </a:solidFill>
                <a:latin typeface="Arial"/>
              </a:rPr>
              <a:t>Offline first, fleet second.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977639"/>
            <a:ext cx="1097280" cy="54864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4206240"/>
            <a:ext cx="5486400" cy="10972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Thank you — we'd love your questions.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FFFFF"/>
                </a:solidFill>
                <a:latin typeface="Arial"/>
              </a:rPr>
              <a:t>Team Codey Tingle (TI3271)</a:t>
            </a:r>
          </a:p>
        </p:txBody>
      </p:sp>
      <p:pic>
        <p:nvPicPr>
          <p:cNvPr id="8" name="Picture 7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0720"/>
            <a:ext cx="2110740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3032" y="6570565"/>
            <a:ext cx="914400" cy="19082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r">
              <a:spcAft>
                <a:spcPts val="400"/>
              </a:spcAft>
            </a:pPr>
            <a:r>
              <a:rPr lang="en-US" sz="1000" dirty="0">
                <a:solidFill>
                  <a:srgbClr val="FFFFFF"/>
                </a:solidFill>
                <a:latin typeface="Arial"/>
              </a:rPr>
              <a:t>18</a:t>
            </a:r>
            <a:endParaRPr sz="1000" b="0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0088575" y="320040"/>
            <a:ext cx="1554480" cy="365760"/>
          </a:xfrm>
          <a:prstGeom prst="roundRect">
            <a:avLst>
              <a:gd name="adj" fmla="val 8000"/>
            </a:avLst>
          </a:prstGeom>
          <a:solidFill>
            <a:srgbClr val="F3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88575" y="338328"/>
            <a:ext cx="1554480" cy="20621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 dirty="0">
                <a:solidFill>
                  <a:srgbClr val="6C757D"/>
                </a:solidFill>
                <a:latin typeface="Arial"/>
              </a:rPr>
              <a:t>APPENDIX </a:t>
            </a:r>
          </a:p>
        </p:txBody>
      </p:sp>
      <p:pic>
        <p:nvPicPr>
          <p:cNvPr id="10" name="Picture 9" descr="b_shed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95740"/>
            <a:ext cx="5852160" cy="379219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75120" y="1325880"/>
            <a:ext cx="5029200" cy="4754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Isolation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reinforced AMC1311 barrier; HV zone behind a moat; TVS on every line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Fail-safe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NC contactors — any fault, reset or brown-out brings loads back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Standards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IS 13252 / IEC 62368-1 (BIS gate) · IEC 62040 UPS · IEC 61000 EMC · IEEE 1159 / IEC 61000-4-30 Class-S-like PQ · UL94 V-0 enclosure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39200"/>
                </a:solidFill>
                <a:latin typeface="Arial"/>
              </a:rPr>
              <a:t>Charging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221E1F"/>
                </a:solidFill>
                <a:latin typeface="Arial"/>
              </a:rPr>
              <a:t>−24 mV/°C compensation, derate above 45 °C, stop at 58 °C, 2 s heartbeat revert to factory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"/>
          </a:xfrm>
          <a:prstGeom prst="rect">
            <a:avLst/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84048"/>
            <a:ext cx="109728" cy="566928"/>
          </a:xfrm>
          <a:prstGeom prst="rect">
            <a:avLst/>
          </a:prstGeom>
          <a:solidFill>
            <a:srgbClr val="F39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74320"/>
            <a:ext cx="10881360" cy="7315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2700" b="1" i="0">
                <a:solidFill>
                  <a:srgbClr val="000104"/>
                </a:solidFill>
                <a:latin typeface="Arial"/>
              </a:rPr>
              <a:t>Built in, Sentinel costs about half as much.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914400"/>
            <a:ext cx="1078992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400" b="0" i="1">
                <a:solidFill>
                  <a:srgbClr val="6C757D"/>
                </a:solidFill>
                <a:latin typeface="Arial"/>
              </a:rPr>
              <a:t>Same core board. The embedded version reuses what the inverter already has.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73952"/>
            <a:ext cx="12192000" cy="384048"/>
          </a:xfrm>
          <a:prstGeom prst="rect">
            <a:avLst/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82296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000" b="0" i="0">
                <a:solidFill>
                  <a:srgbClr val="FDC300"/>
                </a:solidFill>
                <a:latin typeface="Arial"/>
              </a:rPr>
              <a:t>V-Guard Sentinel  ·  Big Idea Tech 2026, Track 4  ·  Team Codey Tingle (TI3271)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960" y="6492240"/>
            <a:ext cx="914400" cy="34747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r"/>
            <a:r>
              <a:rPr sz="1000" b="0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508760"/>
            <a:ext cx="5394960" cy="3063240"/>
          </a:xfrm>
          <a:prstGeom prst="roundRect">
            <a:avLst>
              <a:gd name="adj" fmla="val 8000"/>
            </a:avLst>
          </a:prstGeom>
          <a:solidFill>
            <a:srgbClr val="0001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691640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FDC300"/>
                </a:solidFill>
                <a:latin typeface="Arial"/>
              </a:rPr>
              <a:t>RETROFIT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084831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a box beside any inverter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60320"/>
            <a:ext cx="2194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Battery health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+ autopilot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2560320"/>
            <a:ext cx="2834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DC300"/>
                </a:solidFill>
                <a:latin typeface="Arial"/>
              </a:rPr>
              <a:t>₹1,050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2194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+ Energy Coach</a:t>
            </a:r>
          </a:p>
          <a:p>
            <a:pPr algn="l"/>
            <a:r>
              <a:rPr sz="1300" b="0" i="0">
                <a:solidFill>
                  <a:srgbClr val="FFFFFF"/>
                </a:solidFill>
                <a:latin typeface="Arial"/>
              </a:rPr>
              <a:t>+ Grid Shield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337560"/>
            <a:ext cx="2834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FDC300"/>
                </a:solidFill>
                <a:latin typeface="Arial"/>
              </a:rPr>
              <a:t>₹1,650–2,050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Arial"/>
              </a:rPr>
              <a:t>Electrician fit, 30–45 min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508760"/>
            <a:ext cx="5394960" cy="3063240"/>
          </a:xfrm>
          <a:prstGeom prst="roundRect">
            <a:avLst>
              <a:gd name="adj" fmla="val 8000"/>
            </a:avLst>
          </a:prstGeom>
          <a:solidFill>
            <a:srgbClr val="FDC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691640"/>
            <a:ext cx="47548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800" b="1" i="0">
                <a:solidFill>
                  <a:srgbClr val="000104"/>
                </a:solidFill>
                <a:latin typeface="Arial"/>
              </a:rPr>
              <a:t>EMBEDDED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084831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000104"/>
                </a:solidFill>
                <a:latin typeface="Arial"/>
              </a:rPr>
              <a:t>inside new V-Guard inverters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2194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000104"/>
                </a:solidFill>
                <a:latin typeface="Arial"/>
              </a:rPr>
              <a:t>Battery health</a:t>
            </a:r>
          </a:p>
          <a:p>
            <a:pPr algn="l"/>
            <a:r>
              <a:rPr sz="1300" b="0" i="0">
                <a:solidFill>
                  <a:srgbClr val="000104"/>
                </a:solidFill>
                <a:latin typeface="Arial"/>
              </a:rPr>
              <a:t>+ autopilot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560320"/>
            <a:ext cx="2834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000104"/>
                </a:solidFill>
                <a:latin typeface="Arial"/>
              </a:rPr>
              <a:t>₹450–700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337560"/>
            <a:ext cx="219456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300" b="0" i="0">
                <a:solidFill>
                  <a:srgbClr val="000104"/>
                </a:solidFill>
                <a:latin typeface="Arial"/>
              </a:rPr>
              <a:t>+ Energy Coach</a:t>
            </a:r>
          </a:p>
          <a:p>
            <a:pPr algn="l"/>
            <a:r>
              <a:rPr sz="1300" b="0" i="0">
                <a:solidFill>
                  <a:srgbClr val="000104"/>
                </a:solidFill>
                <a:latin typeface="Arial"/>
              </a:rPr>
              <a:t>+ Grid Shield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3337560"/>
            <a:ext cx="2834640" cy="7315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3200" b="1" i="0">
                <a:solidFill>
                  <a:srgbClr val="000104"/>
                </a:solidFill>
                <a:latin typeface="Arial"/>
              </a:rPr>
              <a:t>₹850–1,300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114800"/>
            <a:ext cx="4754880" cy="3657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1200" b="1" i="0">
                <a:solidFill>
                  <a:srgbClr val="000104"/>
                </a:solidFill>
                <a:latin typeface="Arial"/>
              </a:rPr>
              <a:t>Factory fit, and it can control the charger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846320"/>
            <a:ext cx="3749039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/>
            <a:r>
              <a:rPr sz="1400" b="1" i="0">
                <a:solidFill>
                  <a:srgbClr val="000104"/>
                </a:solidFill>
                <a:latin typeface="Arial"/>
              </a:rPr>
              <a:t>Embedded reuses the inverter's own: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846320"/>
            <a:ext cx="1691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1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43400" y="4846320"/>
            <a:ext cx="16916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0104"/>
                </a:solidFill>
                <a:latin typeface="Arial"/>
              </a:rPr>
              <a:t>current shunt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4846320"/>
            <a:ext cx="1691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1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90488" y="4846320"/>
            <a:ext cx="16916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0104"/>
                </a:solidFill>
                <a:latin typeface="Arial"/>
              </a:rPr>
              <a:t>12 V supply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37575" y="4846320"/>
            <a:ext cx="1691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1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37575" y="4846320"/>
            <a:ext cx="16916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0104"/>
                </a:solidFill>
                <a:latin typeface="Arial"/>
              </a:rPr>
              <a:t>enclosure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884664" y="4846320"/>
            <a:ext cx="1691640" cy="411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0010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84664" y="4846320"/>
            <a:ext cx="1691640" cy="41148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ctr"/>
            <a:r>
              <a:rPr sz="1300" b="1" i="0">
                <a:solidFill>
                  <a:srgbClr val="000104"/>
                </a:solidFill>
                <a:latin typeface="Arial"/>
              </a:rPr>
              <a:t>mains signal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035040"/>
            <a:ext cx="1110996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/>
            <a:r>
              <a:rPr sz="900" b="0" i="1">
                <a:solidFill>
                  <a:srgbClr val="6C757D"/>
                </a:solidFill>
                <a:latin typeface="Arial"/>
              </a:rPr>
              <a:t>Component cost at prototype volumes, from Indian distributor prices; contactors extra. Retail pricing is V-Guard's call.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3518</Words>
  <Application>Microsoft Office PowerPoint</Application>
  <PresentationFormat>Widescreen</PresentationFormat>
  <Paragraphs>242</Paragraphs>
  <Slides>17</Slides>
  <Notes>17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 Manoj Garg</cp:lastModifiedBy>
  <cp:revision>80</cp:revision>
  <dcterms:created xsi:type="dcterms:W3CDTF">2013-01-27T09:14:16Z</dcterms:created>
  <dcterms:modified xsi:type="dcterms:W3CDTF">2026-09-23T23:52:34Z</dcterms:modified>
  <cp:category/>
</cp:coreProperties>
</file>