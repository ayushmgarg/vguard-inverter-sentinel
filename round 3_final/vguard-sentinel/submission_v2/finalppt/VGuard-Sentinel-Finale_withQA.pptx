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4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7.0000000000000007E-2"/>
          <c:y val="0.11"/>
          <c:w val="0.91"/>
          <c:h val="0.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1 — with Sentinel</c:v>
                </c:pt>
              </c:strCache>
            </c:strRef>
          </c:tx>
          <c:spPr>
            <a:ln w="44450">
              <a:solidFill>
                <a:srgbClr val="F39200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54.7</c:v>
                </c:pt>
                <c:pt idx="26">
                  <c:v>54.5</c:v>
                </c:pt>
                <c:pt idx="27">
                  <c:v>53.6</c:v>
                </c:pt>
                <c:pt idx="28">
                  <c:v>52.7</c:v>
                </c:pt>
                <c:pt idx="29">
                  <c:v>51.8</c:v>
                </c:pt>
                <c:pt idx="30">
                  <c:v>51.6</c:v>
                </c:pt>
                <c:pt idx="31">
                  <c:v>51.4</c:v>
                </c:pt>
                <c:pt idx="32">
                  <c:v>51.1</c:v>
                </c:pt>
                <c:pt idx="33">
                  <c:v>50.2</c:v>
                </c:pt>
                <c:pt idx="34">
                  <c:v>49.3</c:v>
                </c:pt>
                <c:pt idx="35">
                  <c:v>48.4</c:v>
                </c:pt>
                <c:pt idx="36">
                  <c:v>48.2</c:v>
                </c:pt>
                <c:pt idx="37">
                  <c:v>48</c:v>
                </c:pt>
                <c:pt idx="38">
                  <c:v>47.8</c:v>
                </c:pt>
                <c:pt idx="39">
                  <c:v>46.9</c:v>
                </c:pt>
                <c:pt idx="40">
                  <c:v>46</c:v>
                </c:pt>
                <c:pt idx="41">
                  <c:v>45.1</c:v>
                </c:pt>
                <c:pt idx="42">
                  <c:v>44.9</c:v>
                </c:pt>
                <c:pt idx="43">
                  <c:v>44.7</c:v>
                </c:pt>
                <c:pt idx="44">
                  <c:v>44.5</c:v>
                </c:pt>
                <c:pt idx="45">
                  <c:v>43.6</c:v>
                </c:pt>
                <c:pt idx="46">
                  <c:v>42.6</c:v>
                </c:pt>
                <c:pt idx="47">
                  <c:v>41.7</c:v>
                </c:pt>
                <c:pt idx="48">
                  <c:v>41.5</c:v>
                </c:pt>
                <c:pt idx="49">
                  <c:v>41.3</c:v>
                </c:pt>
                <c:pt idx="50">
                  <c:v>41.1</c:v>
                </c:pt>
                <c:pt idx="51">
                  <c:v>40.200000000000003</c:v>
                </c:pt>
                <c:pt idx="52">
                  <c:v>39.299999999999997</c:v>
                </c:pt>
                <c:pt idx="53">
                  <c:v>38.4</c:v>
                </c:pt>
                <c:pt idx="54">
                  <c:v>38.200000000000003</c:v>
                </c:pt>
                <c:pt idx="55">
                  <c:v>38</c:v>
                </c:pt>
                <c:pt idx="56">
                  <c:v>37.799999999999997</c:v>
                </c:pt>
                <c:pt idx="57">
                  <c:v>38.6</c:v>
                </c:pt>
                <c:pt idx="58">
                  <c:v>39.4</c:v>
                </c:pt>
                <c:pt idx="59">
                  <c:v>40.200000000000003</c:v>
                </c:pt>
                <c:pt idx="60">
                  <c:v>41</c:v>
                </c:pt>
                <c:pt idx="61">
                  <c:v>41.8</c:v>
                </c:pt>
                <c:pt idx="62">
                  <c:v>42.6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4F-467F-B685-7FA47FF5F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6 — no Sentinel</c:v>
                </c:pt>
              </c:strCache>
            </c:strRef>
          </c:tx>
          <c:spPr>
            <a:ln w="44450">
              <a:solidFill>
                <a:srgbClr val="221E1F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54.4</c:v>
                </c:pt>
                <c:pt idx="26">
                  <c:v>53</c:v>
                </c:pt>
                <c:pt idx="27">
                  <c:v>50.9</c:v>
                </c:pt>
                <c:pt idx="28">
                  <c:v>48.8</c:v>
                </c:pt>
                <c:pt idx="29">
                  <c:v>46.6</c:v>
                </c:pt>
                <c:pt idx="30">
                  <c:v>45.2</c:v>
                </c:pt>
                <c:pt idx="31">
                  <c:v>43.8</c:v>
                </c:pt>
                <c:pt idx="32">
                  <c:v>42.4</c:v>
                </c:pt>
                <c:pt idx="33">
                  <c:v>40.200000000000003</c:v>
                </c:pt>
                <c:pt idx="34">
                  <c:v>38.1</c:v>
                </c:pt>
                <c:pt idx="35">
                  <c:v>36</c:v>
                </c:pt>
                <c:pt idx="36">
                  <c:v>34.6</c:v>
                </c:pt>
                <c:pt idx="37">
                  <c:v>33.299999999999997</c:v>
                </c:pt>
                <c:pt idx="38">
                  <c:v>31.9</c:v>
                </c:pt>
                <c:pt idx="39">
                  <c:v>29.8</c:v>
                </c:pt>
                <c:pt idx="40">
                  <c:v>27.7</c:v>
                </c:pt>
                <c:pt idx="41">
                  <c:v>25.7</c:v>
                </c:pt>
                <c:pt idx="42">
                  <c:v>24.3</c:v>
                </c:pt>
                <c:pt idx="43">
                  <c:v>22.9</c:v>
                </c:pt>
                <c:pt idx="44">
                  <c:v>21.6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20.8</c:v>
                </c:pt>
                <c:pt idx="58">
                  <c:v>21.6</c:v>
                </c:pt>
                <c:pt idx="59">
                  <c:v>22.4</c:v>
                </c:pt>
                <c:pt idx="60">
                  <c:v>23.2</c:v>
                </c:pt>
                <c:pt idx="61">
                  <c:v>24</c:v>
                </c:pt>
                <c:pt idx="62">
                  <c:v>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4F-467F-B685-7FA47FF5F0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T2 defer 55 %</c:v>
                </c:pt>
              </c:strCache>
            </c:strRef>
          </c:tx>
          <c:spPr>
            <a:ln w="15875">
              <a:solidFill>
                <a:srgbClr val="E0A800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  <c:pt idx="40">
                  <c:v>55</c:v>
                </c:pt>
                <c:pt idx="41">
                  <c:v>55</c:v>
                </c:pt>
                <c:pt idx="42">
                  <c:v>55</c:v>
                </c:pt>
                <c:pt idx="43">
                  <c:v>55</c:v>
                </c:pt>
                <c:pt idx="44">
                  <c:v>55</c:v>
                </c:pt>
                <c:pt idx="45">
                  <c:v>55</c:v>
                </c:pt>
                <c:pt idx="46">
                  <c:v>55</c:v>
                </c:pt>
                <c:pt idx="47">
                  <c:v>55</c:v>
                </c:pt>
                <c:pt idx="48">
                  <c:v>55</c:v>
                </c:pt>
                <c:pt idx="49">
                  <c:v>55</c:v>
                </c:pt>
                <c:pt idx="50">
                  <c:v>55</c:v>
                </c:pt>
                <c:pt idx="51">
                  <c:v>55</c:v>
                </c:pt>
                <c:pt idx="52">
                  <c:v>55</c:v>
                </c:pt>
                <c:pt idx="53">
                  <c:v>55</c:v>
                </c:pt>
                <c:pt idx="54">
                  <c:v>55</c:v>
                </c:pt>
                <c:pt idx="55">
                  <c:v>55</c:v>
                </c:pt>
                <c:pt idx="56">
                  <c:v>55</c:v>
                </c:pt>
                <c:pt idx="57">
                  <c:v>55</c:v>
                </c:pt>
                <c:pt idx="58">
                  <c:v>55</c:v>
                </c:pt>
                <c:pt idx="59">
                  <c:v>55</c:v>
                </c:pt>
                <c:pt idx="60">
                  <c:v>55</c:v>
                </c:pt>
                <c:pt idx="61">
                  <c:v>55</c:v>
                </c:pt>
                <c:pt idx="62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4F-467F-B685-7FA47FF5F0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T3 shed 40 %</c:v>
                </c:pt>
              </c:strCache>
            </c:strRef>
          </c:tx>
          <c:spPr>
            <a:ln w="15875">
              <a:solidFill>
                <a:srgbClr val="D63A4F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Sheet1!$E$2:$E$64</c:f>
              <c:numCache>
                <c:formatCode>General</c:formatCode>
                <c:ptCount val="63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40</c:v>
                </c:pt>
                <c:pt idx="15">
                  <c:v>40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40</c:v>
                </c:pt>
                <c:pt idx="28">
                  <c:v>40</c:v>
                </c:pt>
                <c:pt idx="29">
                  <c:v>40</c:v>
                </c:pt>
                <c:pt idx="30">
                  <c:v>40</c:v>
                </c:pt>
                <c:pt idx="31">
                  <c:v>40</c:v>
                </c:pt>
                <c:pt idx="32">
                  <c:v>40</c:v>
                </c:pt>
                <c:pt idx="33">
                  <c:v>40</c:v>
                </c:pt>
                <c:pt idx="34">
                  <c:v>40</c:v>
                </c:pt>
                <c:pt idx="35">
                  <c:v>40</c:v>
                </c:pt>
                <c:pt idx="36">
                  <c:v>40</c:v>
                </c:pt>
                <c:pt idx="37">
                  <c:v>40</c:v>
                </c:pt>
                <c:pt idx="38">
                  <c:v>40</c:v>
                </c:pt>
                <c:pt idx="39">
                  <c:v>40</c:v>
                </c:pt>
                <c:pt idx="40">
                  <c:v>40</c:v>
                </c:pt>
                <c:pt idx="41">
                  <c:v>40</c:v>
                </c:pt>
                <c:pt idx="42">
                  <c:v>40</c:v>
                </c:pt>
                <c:pt idx="43">
                  <c:v>40</c:v>
                </c:pt>
                <c:pt idx="44">
                  <c:v>40</c:v>
                </c:pt>
                <c:pt idx="45">
                  <c:v>40</c:v>
                </c:pt>
                <c:pt idx="46">
                  <c:v>40</c:v>
                </c:pt>
                <c:pt idx="47">
                  <c:v>40</c:v>
                </c:pt>
                <c:pt idx="48">
                  <c:v>40</c:v>
                </c:pt>
                <c:pt idx="49">
                  <c:v>40</c:v>
                </c:pt>
                <c:pt idx="50">
                  <c:v>40</c:v>
                </c:pt>
                <c:pt idx="51">
                  <c:v>40</c:v>
                </c:pt>
                <c:pt idx="52">
                  <c:v>40</c:v>
                </c:pt>
                <c:pt idx="53">
                  <c:v>40</c:v>
                </c:pt>
                <c:pt idx="54">
                  <c:v>40</c:v>
                </c:pt>
                <c:pt idx="55">
                  <c:v>40</c:v>
                </c:pt>
                <c:pt idx="56">
                  <c:v>40</c:v>
                </c:pt>
                <c:pt idx="57">
                  <c:v>40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4F-467F-B685-7FA47FF5F03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cut-off 20 %</c:v>
                </c:pt>
              </c:strCache>
            </c:strRef>
          </c:tx>
          <c:spPr>
            <a:ln w="15875">
              <a:solidFill>
                <a:srgbClr val="6C757D"/>
              </a:solidFill>
              <a:prstDash val="sysDot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Sheet1!$F$2:$F$64</c:f>
              <c:numCache>
                <c:formatCode>General</c:formatCode>
                <c:ptCount val="6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84F-467F-B685-7FA47FF5F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1"/>
          <c:y val="0.04"/>
          <c:w val="0.88"/>
          <c:h val="0.8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from</c:v>
                </c:pt>
              </c:strCache>
            </c:strRef>
          </c:tx>
          <c:spPr>
            <a:solidFill>
              <a:srgbClr val="FDC3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1050</c:v>
                </c:pt>
                <c:pt idx="2">
                  <c:v>1650</c:v>
                </c:pt>
                <c:pt idx="3">
                  <c:v>450</c:v>
                </c:pt>
                <c:pt idx="4">
                  <c:v>850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DA-4167-8537-62264E995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 to</c:v>
                </c:pt>
              </c:strCache>
            </c:strRef>
          </c:tx>
          <c:spPr>
            <a:solidFill>
              <a:srgbClr val="E8E1C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400</c:v>
                </c:pt>
                <c:pt idx="3">
                  <c:v>250</c:v>
                </c:pt>
                <c:pt idx="4">
                  <c:v>450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DA-4167-8537-62264E995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&quot;₹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5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30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[0:00–0:20] Good morning. We're Team Codey Tingle. In the next ten minutes we'll show you Sentinel — first the idea, then the working prototype live, then what's proven and what isn't. Behind us is our simulated village; you'll see it in action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[0:20–0:50] Picture a family in Kochi. The evening power cut starts at seven. The inverter switches over in under ten milliseconds — it's fast. But nobody knows how much the battery has left, or how healthy it is. At three minutes past ten it simply dies: fridge, Wi-Fi, lights, all gone. Eighty-five percent of Indian homes face cuts daily. Heat halves lead-acid life every ten degrees. And for V-Guard, those surprise failures land in the warranty bill — about one and a half percent of revenue. The inverter is fast. The battery is blind. That's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[0:50–1:10] Our idea in one sentence: Sentinel turns V-Guard's smart inverter into an intelligent one. Today's products take commands. Sentinel predicts when the battery will fail, decides which loads to keep alive, and acts on its own — even with no internet, which in India is a feature, not a compromise. It ships two ways: built into new inverters, or retrofitted by an electrician in half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[1:10–1:35] Physically, Sentinel is a box the size of a deck of cards beside the inverter. This is the 'power corner' of Home 1 in our simulation. Five touch points: a shunt in the battery's negative cable for current, a temperature probe on the battery post, a current transformer on the inverter output, four fail-safe contactors in the distribution board — and the ESP32 core itself. Gold dots are mains power, cyan is battery power, violet is Sentinel sensing.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[1:35–1:50] Four jobs, one board. One: battery health — a warning window, not a guess. Two: the autopilot that keeps essentials alive. Three: the energy coach and grid shield — which appliances use what, and what the grid did to your home. Four: a signed health log, so warranty is decided by evidence, not argument. Let me take them one at a time,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[1:50–2:25] How does a small microcontroller predict battery life? Physics first. A Kalman filter turns current, voltage and temperature into charge and internal resistance. Each outage becomes 20 features the lead-acid literature says drive wear — resistance growth, heat stress, depth of discharge. A tiny int8 network — 28 thousand parameters, 16 KB of RAM — outputs a band, and we show a window: replace in 6 to 14 weeks, plan for 6. Honest numbers: on three batteries the model has never seen, the error is 8.2 points — on synthetic data. The band is calibrated but wide; real tubular aging data from the Kochi lab is what narrows it. And quantising to int8 cost us one hundredth of 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[2:25–3:00] This is the heart of it, and it isn't a drawing — it's the output of our simulation engine. Home 1 and Home 6 have the identical 150 Ah battery and identical appliances. Only Home 1 has Sentinel. At 8:24 pm Home 1 drops to 55 percent and defers the fans and TV; its curve flattens. Home 6 keeps burning everything, and at 10:03 pm hits the cut-off — fridge, router, lights, all off for 57 minutes. Home 1 sheds the heavy sockets at 40 percent and keeps its essentials on till mains returns. The rule is a readable ladder — 55 and 40 percent with hysteresis — not a black box. And every contactor is normally-closed: if Sentinel crashes, every load comes back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[3:00–3:25] Engine three. We added a real metering chip on the inverter output — the kind inside a smart meter. On the left, three hours of a home's power: every orange line is an appliance switching on, gold is off — 123 events, each turned into a signature so the app can ask 'what just turned on?'. On the right, the grid shield: the chip computes RMS every half cycle, catches a 120-millisecond sag and a swell, and writes them into the signed log — evidence for the owner when a fluctuation damages an appliance. We're honest about scope: big appliances, not two identical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[3:25–3:45] For new V-Guard inverters Sentinel isn't a box — it's a daughter-board inside. This is our 3D proof of concept with the lid off: transformer, MOSFET bridge, changeover relay, control board, and our board on standoffs. It taps five things the inverter already has: its current shunt, its mode line, the charger's feedback node — which is how Sentinel does temperature-compensated charging, only on the embedded version — the output rail, and four coil outputs to the contactors.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[3:45–4:00] It's designed to be built. Enclosure 90 by 70 by 35, board 80 by 60, flame-retardant plastic. Two things we'd point an engineer to: the battery's 30-plus amps never touch our board — only the shunt's millivolts do — and the mains-side sensing sits behind an isolation moat that the isolated amplifier and optocoupler straddle. On the right, the same board as a 3D render with every chip where the drawing puts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[4:00–4:10] And the simplest version — our bench sketch. Mains through a 6-amp MCB into a Prime-class inverter, a 150 Ah tubular battery with the shunt in its negative lead, an ESP32, and three normally-closed relays for the three tiers. Flipping that MCB is our outage. Let's do exactly that,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[4:10–8:10] LIVE DEMO (about 4 minutes). Switch to Sentinel-Live.html, full screen.</a:t>
            </a:r>
          </a:p>
          <a:p>
            <a:r>
              <a:t>1) Village tab: press ⏭ 18:58 at 180×. Feeder drops at 19:00 — flows turn cyan, street lights go out. Click Home 1 → Power corner: point at shunt, NTC, CT, Sentinel, contactors. ⏭ 20:20: T2 deferred (bedroom dark). ⏭ 21:55: at 22:03 Home 6 goes DARK; Home 1 still lit. Press Reset MCU on Home 1: all loads back, re-shed after reboot.</a:t>
            </a:r>
          </a:p>
          <a:p>
            <a:r>
              <a:t>2) Inverter + Sentinel tab: switch the iron on. Click MAINS MCB → slow motion: relay swings, scope shows the 8 ms gap gold→cyan, timeline +0.0 / +8.0 ms, Sentinel confirms at ~1.5 s. Hover the board: C1 ESP32, C6 metering, C13 DAC.</a:t>
            </a:r>
          </a:p>
          <a:p>
            <a:r>
              <a:t>3) Drag SoC to 38 % → CH3 opens, iron goes cold; fan deferred. Reset MCU → everything back, charger reverts to factory. Restore MCB → S6 then bulk charging. Temp slider to 45 °C → setpoints drop, current derates. Verify chain → alter one byte → broken.</a:t>
            </a:r>
          </a:p>
          <a:p>
            <a:r>
              <a:t>Back to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[8:10–8:40] Credibility is the whole game with R&amp;D judges, so here it is plainly. Proven in code: 245 tests, six C modules that match Python bit for bit, an int8 model that self-tests in C, and a signed log that catches tampering — you just saw it break. Synthetic only: the battery-health accuracy and the appliance numbers, because no real tubular aging data exists yet. Needs hardware: flashing to the ESP32, the physical bench, and the aging campaign. We also cut federated learning from this prototype on purpose — it's designed,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[8:40–9:05] The product is one board sold two ways. Embedded inside new inverters, it adds 450 to 1,300 rupees. As a retrofit for the millions already installed, 750 rupees for the basic battery-and-autopilot box, up to about 2,000 with the energy coach. Against a 15,000-rupee battery that's 5 to 14 percent — for knowing when to replace it, and keeping the fridge alive when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[9:05–9:35] Our roadmap is written as gates, not dates. Gate one: a proper aging campaign in V-Guard's Kochi reliability lab — that's what turns our synthetic accuracy into real accuracy. Gate two: a hundred retrofit homes for six months with hard pass criteria. Gate three: the embedded version inside the Smart Pro family, which already has Wi-Fi and the app. What V-Guard gets: well-timed battery sales, evidence-based warranty, a premium tier, and data no competitor can buy. What we ask for: one opened Prime inverter with its charger schematic, the bench parts, and lab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[9:35–10:00] Three lines to remember. Coil off means loads on — it fails safe. A window, never a date — it's honest about uncertainty. Offline first, fleet second — it works in the village before it ever talks to the cloud. Thank you — we'd love your questions. (Appendix slides follow for Q&amp;A.)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about firmware / RTOS / memory: ESP-IDF, FreeRTOS, Core 1 runs sensing, EKF, autopilot, ML, NILM, PQ, logger; Core 0 radios only. Heartbeat task feeds the external supervisory timer only when every critical task checked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Parts traceability from prototype doc 03. INA228 breakouts aren't sold in India, so the Tier-0 bench uses INA226 + PZEM-004T; Tier 1 places ATM90E32AS on our own PCB.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'what changed since round 2?': these are the design decisions D1–D17 in design/12. Leading with our own corrections builds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about safety certification: we target IS 13252 / IEC 62368-1 as the BIS gate; PQ is 'Class-S-like', never claimed Class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itl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0010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246253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37360"/>
            <a:ext cx="62179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DC300"/>
                </a:solidFill>
                <a:latin typeface="Arial"/>
              </a:rPr>
              <a:t>V-Guard Sentinel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943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The inverter already knows when the power goes. Sentinel teaches it what to keep on — and when its battery will quit.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DC300"/>
                </a:solidFill>
                <a:latin typeface="Arial"/>
              </a:rPr>
              <a:t>Track 4 · From Smart Products to Intelligent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Team Codey Tingle (TI3271)  ·  Ayush Manoj Garg · Eshan Shukla · Tanay Chaplot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Finale · Kochi · 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10:03 pm. The battery dies — with no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Three hours into a power cut, Home 6 in our village goes dark. Home 1 has the same battery and appliances — and stays lit.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9" name="Picture 8" descr="v_home6_dark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5980"/>
            <a:ext cx="7315200" cy="338328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0" y="150876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39200"/>
                </a:solidFill>
                <a:latin typeface="Arial"/>
              </a:rPr>
              <a:t>85 %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2199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Indian households face a power cut every day (LocalCircles, 2023)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D63A4F"/>
                </a:solidFill>
                <a:latin typeface="Arial"/>
              </a:rPr>
              <a:t>×2 wear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7647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every +10 °C: lead-acid life halves with heat — the Indian summer is the battery's enemy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DC300"/>
                </a:solidFill>
                <a:latin typeface="Arial"/>
              </a:rPr>
              <a:t>≈ 1.5 %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30952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V-Guard revenue goes to warranty (≈ ₹69 cr, FY24)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Sentinel turns a smart inverter into an intelligent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Smart products take commands. Intelligent products predict, decide and act — without the cloud.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CONNECTED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app on / 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SMART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schedules · alerts · usage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000104"/>
                </a:solidFill>
                <a:latin typeface="Arial"/>
              </a:rPr>
              <a:t>INTELLIGENT</a:t>
            </a:r>
          </a:p>
          <a:p>
            <a:pPr algn="ctr"/>
            <a:r>
              <a:rPr sz="2000" b="0">
                <a:solidFill>
                  <a:srgbClr val="000104"/>
                </a:solidFill>
                <a:latin typeface="Arial"/>
              </a:rPr>
              <a:t>predicts failure · learns the home</a:t>
            </a:r>
          </a:p>
          <a:p>
            <a:pPr algn="ctr"/>
            <a:r>
              <a:rPr sz="2000" b="0">
                <a:solidFill>
                  <a:srgbClr val="000104"/>
                </a:solidFill>
                <a:latin typeface="Arial"/>
              </a:rPr>
              <a:t>acts on its own —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9200"/>
                </a:solidFill>
                <a:latin typeface="Arial"/>
              </a:rPr>
              <a:t>← Sentinel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Embedded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daughter-board inside new V-Guard inverters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Retrofit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30-minute electrician fit on the installed base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Offline-first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every core function works with zero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small box reads the battery and switches the 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Nothing on the battery or the inverter is modified on the retrofit — only the negative cable passes through a shunt.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v_home1_corne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6964"/>
            <a:ext cx="6949440" cy="4401312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Oval 9"/>
          <p:cNvSpPr/>
          <p:nvPr/>
        </p:nvSpPr>
        <p:spPr>
          <a:xfrm>
            <a:off x="7818120" y="15544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Shunt in the battery − lead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battery current → INA228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24688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231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NTC on the battery post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temperature: the #1 ageing driver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3832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375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CT + voltage tap on AC-OUT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real &amp; reactive power → ATM90E32AS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2976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519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4 NC contactors in the DB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coil off = load ON, always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52120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1663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ESP32-S3 Sentinel Core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90 × 70 × 35 mm, powered by the 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Four jobs, one board — all on the ESP32, no cloud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Battery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Predicts a replacement window — 'replace in 6–14 weeks'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Habit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Keeps the fridge, lights and router alive during a cut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Energy coach + grid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Names the big appliances; logs every sag and swell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Signed health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Tamper-proof record — warranty decided by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Same core, same sensors, different models → the platform extends to pumps, stabilisers and water heaters.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It gives a window, not a date: "replace in 6–14 weeks".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Physics first, learning second — every step runs on the ESP32.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 Hz sensing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I · V · 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96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Kalman filter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SoC · R_int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2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14 + 6 features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per outage cycle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68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int8 CNN × 3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28 k params · 16 KB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Grade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window, never a date</a:t>
            </a:r>
          </a:p>
        </p:txBody>
      </p:sp>
      <p:pic>
        <p:nvPicPr>
          <p:cNvPr id="18" name="Picture 17" descr="soh_ba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7501"/>
            <a:ext cx="7863840" cy="292039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32520" y="274320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39200"/>
                </a:solidFill>
                <a:latin typeface="Arial"/>
              </a:rPr>
              <a:t>8.2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456432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SoH error on 3 never-seen test batteries (synthetic data — honest, not flattering)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16052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+0.01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73752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accuracy lost going float → int8 — it fits on the chip for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577840"/>
            <a:ext cx="31089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C757D"/>
                </a:solidFill>
                <a:latin typeface="Arial"/>
              </a:rPr>
              <a:t>Band is calibrated but wide today; the Kochi aging campaign narrows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Same outage, same battery: only Home 1 keeps its fridge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Battery charge through the 7–11 pm cut, straight from our simulation engine; thresholds from design doc 05.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81381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Oval 9"/>
          <p:cNvSpPr/>
          <p:nvPr/>
        </p:nvSpPr>
        <p:spPr>
          <a:xfrm>
            <a:off x="4042714" y="3535641"/>
            <a:ext cx="146304" cy="14630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7306" y="2740113"/>
            <a:ext cx="2057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860B"/>
                </a:solidFill>
                <a:latin typeface="Arial"/>
              </a:rPr>
              <a:t>8:24 pm · fans &amp; TV deferred
(T2 at 55 %)</a:t>
            </a:r>
          </a:p>
        </p:txBody>
      </p:sp>
      <p:sp>
        <p:nvSpPr>
          <p:cNvPr id="12" name="Oval 11"/>
          <p:cNvSpPr/>
          <p:nvPr/>
        </p:nvSpPr>
        <p:spPr>
          <a:xfrm>
            <a:off x="6393738" y="4829403"/>
            <a:ext cx="146304" cy="146304"/>
          </a:xfrm>
          <a:prstGeom prst="ellipse">
            <a:avLst/>
          </a:prstGeom>
          <a:solidFill>
            <a:srgbClr val="D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8050" y="5039715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63A4F"/>
                </a:solidFill>
                <a:latin typeface="Arial"/>
              </a:rPr>
              <a:t>10:03 pm · Home 6 cut-off:
fridge, router, lights OFF</a:t>
            </a:r>
          </a:p>
        </p:txBody>
      </p:sp>
      <p:sp>
        <p:nvSpPr>
          <p:cNvPr id="14" name="Oval 13"/>
          <p:cNvSpPr/>
          <p:nvPr/>
        </p:nvSpPr>
        <p:spPr>
          <a:xfrm>
            <a:off x="7216597" y="4090111"/>
            <a:ext cx="146304" cy="146304"/>
          </a:xfrm>
          <a:prstGeom prst="ellipse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2469" y="4346143"/>
            <a:ext cx="23774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10:37 pm · heavy sockets shed
(T3 at 40 %)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46304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D63A4F"/>
                </a:solidFill>
                <a:latin typeface="Arial"/>
              </a:rPr>
              <a:t>57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7627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6 sat in the dark until mains returned at 11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92608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9E5A"/>
                </a:solidFill>
                <a:latin typeface="Arial"/>
              </a:rPr>
              <a:t>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3931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1's fridge, router and hall light were never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34840"/>
            <a:ext cx="283464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Coil off = load on.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NC contactors, a hardware supervisory timer and a medical jumper: any crash or reset brings every load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sensor saves energy and catches a misbehaving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Both run on the metering front-end (ATM90E32AS) and the isolated voltage tap (AMC1311) — outputs of the team's own detector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pic>
        <p:nvPicPr>
          <p:cNvPr id="9" name="Picture 8" descr="nilm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6271"/>
            <a:ext cx="5577840" cy="2262497"/>
          </a:xfrm>
          <a:prstGeom prst="rect">
            <a:avLst/>
          </a:prstGeom>
        </p:spPr>
      </p:pic>
      <p:pic>
        <p:nvPicPr>
          <p:cNvPr id="10" name="Picture 9" descr="pq_d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18277"/>
            <a:ext cx="5577840" cy="2198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Energy Coach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123 switch-ON/OFF events found in 3 h of whole-home power; each becomes a 13-number signature. Fridge F1 0.97, iron 1.00.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63A4F"/>
                </a:solidFill>
                <a:latin typeface="Arial"/>
              </a:rPr>
              <a:t>Grid Shield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 120 ms sag to 0.55 pu measured as 0.54; a 100 ms swell to 1.15 pu as 1.16. 13 / 13 dips caught. Logged, dated, signed.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Inside the inverter, Sentinel taps what's already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Our 3D proof of concept of the Embedded SKU: lid off, every part clickable, live power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10" name="Picture 9" descr="b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3515"/>
            <a:ext cx="7040880" cy="456249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7863840" y="150876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Inverter's own shunt (I8)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INA228 · battery current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441448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Mode / mains line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PC817 opto · outage vote s2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3374136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28416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SG3525 charge feedback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MCP4725 DAC · temperature-compensated charging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306824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261104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AC-OUT rail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AMC1311 + ATM90E32AS · V, P, Q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5239512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93792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 coil outputs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NC contactor panel · T1 / T2 / T3 / medical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Designed to be built: 90 × 70 × 35 mm, HV zone fenced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Mechanical drawing from our round-3 spec, and the same board as a 3D render in the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pic>
        <p:nvPicPr>
          <p:cNvPr id="10" name="Picture 9" descr="cad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3067"/>
            <a:ext cx="7589520" cy="4269105"/>
          </a:xfrm>
          <a:prstGeom prst="rect">
            <a:avLst/>
          </a:prstGeom>
        </p:spPr>
      </p:pic>
      <p:pic>
        <p:nvPicPr>
          <p:cNvPr id="11" name="Picture 10" descr="b_boar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488277"/>
            <a:ext cx="3520440" cy="228124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79" y="3931920"/>
            <a:ext cx="356616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Battery current never enters the PCB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only the shunt's millivolts do.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Isolation moat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AMC1311 and PC817 straddle the HV zone.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UL94 V-0 PC/ABS, 4× M3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DIN or screw mount beside the inverter.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And this is exactly how the bench is wired.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Tier-0 demonstrator from prototype doc 05 — every part available from Indian distributors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pic>
        <p:nvPicPr>
          <p:cNvPr id="9" name="Picture 8" descr="bench_ske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60" y="1325880"/>
            <a:ext cx="8940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Let's watch it happen —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Sentinel Live runs offline in one HTML file. Three moments to watch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pic>
        <p:nvPicPr>
          <p:cNvPr id="10" name="Picture 9" descr="v_overview_ou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1 · The village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Feeder cuts at 7 pm. Watch Home 6 go dark at 10:03 while its twin stays lit.</a:t>
            </a:r>
          </a:p>
        </p:txBody>
      </p:sp>
      <p:pic>
        <p:nvPicPr>
          <p:cNvPr id="13" name="Picture 12" descr="b_transfer_slow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4340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2 · Flip the MCB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Relay swings in slow motion: 8 ms gap on the scope, outage confirmed in 1.5 s.</a:t>
            </a:r>
          </a:p>
        </p:txBody>
      </p:sp>
      <p:pic>
        <p:nvPicPr>
          <p:cNvPr id="16" name="Picture 15" descr="b_failsafe_re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13816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3 · Crash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Drop SoC below 40 % → the iron sheds. Reset the chip → every load comes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What's proven, what's synthetic, and what still needs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We'd rather you trust three honest columns than one shiny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automated tests, all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C modules bit-identical to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Kalman SoC error vs 7.2 %/week 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13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grid dips detected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PROVEN IN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int8 model exported + golden self-test in C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autopilot: 50 / 50 C scenarios, zero chatter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signed log: tamper, delete, replay caught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SYNTHETIC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SoH 8.2 pt on simulated tubular batteries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RUL band calibrated (0.99) but wide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NILM / PQ on synthetic streams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NEEDS HARDWARE /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ESP32 flash + latency on silicon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real bench: battery, CT, relays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aging campaign → real SoH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Two SKUs, one board — for 5–14 % of what one battery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Cost stated by the engines each tier enables (design decision D7), against a ₹15 k tubular battery.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80673" y="3922776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1587" y="346630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502" y="1944745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₹1,650–2,050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3416" y="3998854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₹450–700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4331" y="308591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₹850–1,300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6304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60020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Sentinel-Embedded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0312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Inside new V-Guard inverters. Taps the inverter's own shunt; controls the charger through a DAC with a hardware ceiling. Life-extension claims live here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4048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397764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Sentinel-Retrofit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48056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Box beside any inverter. External shunt, NTC, CT and 4 fail-safe contactors. Advisory on charging, protective on loads. ≈ 2.6 mA average draw.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Three validation gates — and what we need to pass the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23444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1 ·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6–8 months · Kochi reliability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24–36 tubular batteries at 3 temperatures × 3 depths → real SoH labels and a measured life-extension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2 · FIELD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6 months · 100 retrofit homes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SoC within 3 %, ≥ 75 % RUL-window hit rate, zero unsafe sheds, fridge/AC F1 ≥ 0.8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3 ·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Smart Pro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Embedded SKU into the inverter that already has Wi-Fi, BLE and the Smart 2.0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51206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V-Guard gains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battery replacements at the right time · warranty by evidence · a premium 'intelligent' tier · a fleet-data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63440"/>
            <a:ext cx="52120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we ask for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one opened Prime-series inverter + charger schematic · ESP32 bench parts · batteries and cyclers for Gate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_home1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96085"/>
            <a:ext cx="5788152" cy="36658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0010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760720" cy="237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Coil off means loads on.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A window, never a date.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Offline first, fleet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1097280" cy="54864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4864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Thank you — we'd love your questions.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Team Codey Tingle (TI3271)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0720"/>
            <a:ext cx="21107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Q&amp;A · Firmware: two cores, no network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8575" y="33832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C757D"/>
                </a:solidFill>
                <a:latin typeface="Arial"/>
              </a:rPr>
              <a:t>APPENDIX · Q&amp;A</a:t>
            </a:r>
          </a:p>
        </p:txBody>
      </p:sp>
      <p:pic>
        <p:nvPicPr>
          <p:cNvPr id="10" name="Picture 9" descr="firmware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7" y="1234440"/>
            <a:ext cx="10958406" cy="448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Fixed int8 weights in flash · one inference per outage cycle · no training on the device · task watchdog + external supervisory timer.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Q&amp;A · Every part on the board, and the job it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8575" y="33832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C757D"/>
                </a:solidFill>
                <a:latin typeface="Arial"/>
              </a:rPr>
              <a:t>APPENDIX · Q&amp;A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2527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ESP32-S3-WROOM-1 N16R8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the brain: EKF, int8 CNN, NILM, PQ, autopilot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385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MP2315 buck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power from the 12 V battery (≈ 2.6 mA avg)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243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INA228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shunt mV + battery V; hardware coulomb counter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375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101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NTC input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battery temperature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AMC1311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isolated fast AC tap: outage, sag, swell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091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817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ATM90E32AS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P, Q, PF at 3 Hz for the energy coach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675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ULN2003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4 × 12 V coil drivers; coil off on reset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2801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2527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Supervisory timer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no heartbeat for 2 s → all coils off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9659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9385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JP1 medical jumper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one channel can never be shed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6517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6243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DS3231 + CR2032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time of day through outages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375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3101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ATECC608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private key signs the health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233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9959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PC817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inverter mode line → outage vote s2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091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6817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MCP4725 (Embedded)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charge-setpoint offset into SG3525 feedback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394960"/>
            <a:ext cx="685800" cy="5029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221E1F"/>
                </a:solidFill>
                <a:latin typeface="Arial"/>
              </a:rPr>
              <a:t>C14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367528"/>
            <a:ext cx="475488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USB-C · LEDs · TVS  </a:t>
            </a:r>
            <a:r>
              <a:rPr sz="1300" b="0" i="0">
                <a:solidFill>
                  <a:srgbClr val="6C757D"/>
                </a:solidFill>
                <a:latin typeface="Arial"/>
              </a:rPr>
              <a:t>service and protection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Q&amp;A · Corrections to our own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From the design register — the positions we defend.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88575" y="33832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C757D"/>
                </a:solidFill>
                <a:latin typeface="Arial"/>
              </a:rPr>
              <a:t>APPENDIX ·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508760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A battery shunt can't see appliances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added a metering front-end + CT on AC-OUT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21408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67128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Retrofit can't command the charger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67128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split into Embedded (controls) and Retrofit (advises)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779776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25496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Float voltage isn't open-circuit voltage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25496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anchor SoC on charge taper; OCV only after true 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38144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83864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'Fail-safe' needed a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483864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NC contactors, pull-downs, supervisory timer, medical jumper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96512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142232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Uncertainty method unspecified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42232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quantile heads + 3 seeds + conformal band → a window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79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00599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Federated learning in the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00599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cut on purpose: designed, not built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13248"/>
            <a:ext cx="777240" cy="5029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5458968"/>
            <a:ext cx="45720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21E1F"/>
                </a:solidFill>
                <a:latin typeface="Arial"/>
              </a:rPr>
              <a:t>'Neural accelerator', 'microamp draw'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458968"/>
            <a:ext cx="54864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→  ESP-NN vector extensions; ≈ 2.6 mA average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Q&amp;A · Safety and standards we design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8575" y="338328"/>
            <a:ext cx="1554480" cy="3474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6C757D"/>
                </a:solidFill>
                <a:latin typeface="Arial"/>
              </a:rPr>
              <a:t>APPENDIX · Q&amp;A</a:t>
            </a:r>
          </a:p>
        </p:txBody>
      </p:sp>
      <p:pic>
        <p:nvPicPr>
          <p:cNvPr id="10" name="Picture 9" descr="b_she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5740"/>
            <a:ext cx="5852160" cy="3792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1325880"/>
            <a:ext cx="5029200" cy="4754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Isolation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reinforced AMC1311 barrier; HV zone behind a moat; TVS on every line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Fail-safe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NC contactors — any fault, reset or brown-out brings loads back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Standards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IS 13252 / IEC 62368-1 (BIS gate) · IEC 62040 UPS · IEC 61000 EMC · IEEE 1159 / IEC 61000-4-30 Class-S-like PQ · UL94 V-0 enclosure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Charging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−24 mV/°C compensation, derate above 45 °C, stop at 58 °C, 2 s heartbeat revert to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4056</Words>
  <Application>Microsoft Office PowerPoint</Application>
  <PresentationFormat>Widescreen</PresentationFormat>
  <Paragraphs>309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Manoj Garg</cp:lastModifiedBy>
  <cp:revision>1</cp:revision>
  <dcterms:created xsi:type="dcterms:W3CDTF">2013-01-27T09:14:16Z</dcterms:created>
  <dcterms:modified xsi:type="dcterms:W3CDTF">2026-09-22T18:23:05Z</dcterms:modified>
  <cp:category/>
</cp:coreProperties>
</file>