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4630400" cy="8229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8.png"/><Relationship Id="rId4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image" Target="../media/image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image" Target="../media/image2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image" Target="../media/image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727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00" cy="8229600"/>
          </a:xfrm>
          <a:prstGeom prst="rect">
            <a:avLst/>
          </a:prstGeom>
          <a:solidFill>
            <a:srgbClr val="1B1B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panel_tit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1" y="0"/>
            <a:ext cx="5484077" cy="82296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345936" y="1828800"/>
            <a:ext cx="7680960" cy="15544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0000"/>
              </a:lnSpc>
            </a:pPr>
            <a:r>
              <a:rPr sz="4300" b="1" i="0">
                <a:solidFill>
                  <a:srgbClr val="FFE14D"/>
                </a:solidFill>
                <a:latin typeface="Raleway"/>
              </a:rPr>
              <a:t>V-Guard Sentinel: the self-aware home inverter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45936" y="3840480"/>
            <a:ext cx="7680960" cy="8229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2400" b="1">
                <a:solidFill>
                  <a:srgbClr val="FFFFFF"/>
                </a:solidFill>
                <a:latin typeface="Raleway"/>
              </a:rPr>
              <a:t>Team: </a:t>
            </a:r>
            <a:r>
              <a:rPr sz="2400" b="0">
                <a:solidFill>
                  <a:srgbClr val="D7D4CC"/>
                </a:solidFill>
                <a:latin typeface="Raleway"/>
              </a:rPr>
              <a:t>Codey Tingle (TI3271) · Ayush Manoj Garg, Eshan Shukla, Tanay Chaplot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55664" y="5074920"/>
            <a:ext cx="7498079" cy="18288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900" b="1">
                <a:solidFill>
                  <a:srgbClr val="FFFFFF"/>
                </a:solidFill>
                <a:latin typeface="Raleway"/>
              </a:rPr>
              <a:t>Problem: </a:t>
            </a:r>
            <a:r>
              <a:rPr sz="1900" b="0">
                <a:solidFill>
                  <a:srgbClr val="D7D4CC"/>
                </a:solidFill>
                <a:latin typeface="Raleway"/>
              </a:rPr>
              <a:t>India's home inverters switch in under 10 ms but are blind to the one part that actually fails — the battery. It dies without warning, the family loses backup and pays ₹15–18 k, and V-Guard pays inside the warranty window. Today's products sense voltage and current and turn none of it into foresight.</a:t>
            </a:r>
          </a:p>
        </p:txBody>
      </p:sp>
      <p:pic>
        <p:nvPicPr>
          <p:cNvPr id="8" name="Picture 7" descr="vguard-big-idea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10744" y="7616952"/>
            <a:ext cx="1899666" cy="493776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365760" y="7699248"/>
            <a:ext cx="7315200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 i="0">
                <a:solidFill>
                  <a:srgbClr val="9A9A9E"/>
                </a:solidFill>
                <a:latin typeface="Raleway"/>
              </a:rPr>
              <a:t>V-Guard Sentinel · Team Codey Tingle (TI3271) · Big Idea Tech 2026, Track 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727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144000" y="0"/>
            <a:ext cx="5486400" cy="8229600"/>
          </a:xfrm>
          <a:prstGeom prst="rect">
            <a:avLst/>
          </a:prstGeom>
          <a:solidFill>
            <a:srgbClr val="1B1B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panel_vis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77240" y="914400"/>
            <a:ext cx="8229600" cy="9144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0000"/>
              </a:lnSpc>
            </a:pPr>
            <a:r>
              <a:rPr sz="4300" b="1" i="0">
                <a:solidFill>
                  <a:srgbClr val="FFE14D"/>
                </a:solidFill>
                <a:latin typeface="Raleway"/>
              </a:rPr>
              <a:t>Our Vision &amp; Mission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59536" y="1984248"/>
            <a:ext cx="7415783" cy="1773936"/>
          </a:xfrm>
          <a:prstGeom prst="roundRect">
            <a:avLst>
              <a:gd name="adj" fmla="val 6000"/>
            </a:avLst>
          </a:prstGeom>
          <a:solidFill>
            <a:srgbClr val="4646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06424" y="2231136"/>
            <a:ext cx="2743200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0000"/>
              </a:lnSpc>
            </a:pPr>
            <a:r>
              <a:rPr sz="2150" b="1" i="0">
                <a:solidFill>
                  <a:srgbClr val="FFFFFF"/>
                </a:solidFill>
                <a:latin typeface="Raleway"/>
              </a:rPr>
              <a:t>Vision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" y="2724912"/>
            <a:ext cx="6922008" cy="9144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0000"/>
              </a:lnSpc>
            </a:pPr>
            <a:r>
              <a:rPr sz="1900" b="0" i="0">
                <a:solidFill>
                  <a:srgbClr val="D7D4CC"/>
                </a:solidFill>
                <a:latin typeface="Raleway"/>
              </a:rPr>
              <a:t>Every V-Guard product moves from smart to intelligent: it predicts its own failure, learns its owner's habits and acts on its own — offline, on a ₹300 microcontroller.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9536" y="4288536"/>
            <a:ext cx="2743200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0000"/>
              </a:lnSpc>
            </a:pPr>
            <a:r>
              <a:rPr sz="2150" b="1" i="0">
                <a:solidFill>
                  <a:srgbClr val="FFE14D"/>
                </a:solidFill>
                <a:latin typeface="Raleway"/>
              </a:rPr>
              <a:t>Goals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9536" y="4800600"/>
            <a:ext cx="3657600" cy="23774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lnSpc>
                <a:spcPct val="115000"/>
              </a:lnSpc>
              <a:spcAft>
                <a:spcPts val="900"/>
              </a:spcAft>
            </a:pPr>
            <a:r>
              <a:rPr sz="1800" b="0">
                <a:solidFill>
                  <a:srgbClr val="FFE14D"/>
                </a:solidFill>
                <a:latin typeface="Raleway"/>
              </a:rPr>
              <a:t>•  </a:t>
            </a:r>
            <a:r>
              <a:rPr sz="1800" b="0">
                <a:solidFill>
                  <a:srgbClr val="D7D4CC"/>
                </a:solidFill>
                <a:latin typeface="Raleway"/>
              </a:rPr>
              <a:t>Never let a battery die unannounced</a:t>
            </a:r>
          </a:p>
          <a:p>
            <a:pPr>
              <a:lnSpc>
                <a:spcPct val="115000"/>
              </a:lnSpc>
              <a:spcAft>
                <a:spcPts val="900"/>
              </a:spcAft>
            </a:pPr>
            <a:r>
              <a:rPr sz="1800" b="0">
                <a:solidFill>
                  <a:srgbClr val="FFE14D"/>
                </a:solidFill>
                <a:latin typeface="Raleway"/>
              </a:rPr>
              <a:t>•  </a:t>
            </a:r>
            <a:r>
              <a:rPr sz="1800" b="0">
                <a:solidFill>
                  <a:srgbClr val="D7D4CC"/>
                </a:solidFill>
                <a:latin typeface="Raleway"/>
              </a:rPr>
              <a:t>Keep the essentials alive through every blackout</a:t>
            </a:r>
          </a:p>
          <a:p>
            <a:pPr>
              <a:lnSpc>
                <a:spcPct val="115000"/>
              </a:lnSpc>
              <a:spcAft>
                <a:spcPts val="900"/>
              </a:spcAft>
            </a:pPr>
            <a:r>
              <a:rPr sz="1800" b="0">
                <a:solidFill>
                  <a:srgbClr val="FFE14D"/>
                </a:solidFill>
                <a:latin typeface="Raleway"/>
              </a:rPr>
              <a:t>•  </a:t>
            </a:r>
            <a:r>
              <a:rPr sz="1800" b="0">
                <a:solidFill>
                  <a:srgbClr val="D7D4CC"/>
                </a:solidFill>
                <a:latin typeface="Raleway"/>
              </a:rPr>
              <a:t>Turn warranty into evidence, not argument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82896" y="4288536"/>
            <a:ext cx="2743200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0000"/>
              </a:lnSpc>
            </a:pPr>
            <a:r>
              <a:rPr sz="2150" b="1" i="0">
                <a:solidFill>
                  <a:srgbClr val="FFE14D"/>
                </a:solidFill>
                <a:latin typeface="Raleway"/>
              </a:rPr>
              <a:t>Tech Stack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82896" y="4800600"/>
            <a:ext cx="3840480" cy="23774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0000"/>
              </a:lnSpc>
            </a:pPr>
            <a:r>
              <a:rPr sz="1700" b="0" i="0">
                <a:solidFill>
                  <a:srgbClr val="D7D4CC"/>
                </a:solidFill>
                <a:latin typeface="Raleway"/>
              </a:rPr>
              <a:t>ESP32-S3 · TensorFlow Lite Micro (int8) · Kalman filtering · event-based NILM · IEEE 1159 power quality · ECDSA-signed logs · Flask dashboard · ESP-IDF firmware · Python/C prototype with 245 tests</a:t>
            </a:r>
          </a:p>
        </p:txBody>
      </p:sp>
      <p:pic>
        <p:nvPicPr>
          <p:cNvPr id="13" name="Picture 12" descr="vguard-big-idea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10744" y="7616952"/>
            <a:ext cx="1899666" cy="493776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365760" y="7699248"/>
            <a:ext cx="7315200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 i="0">
                <a:solidFill>
                  <a:srgbClr val="9A9A9E"/>
                </a:solidFill>
                <a:latin typeface="Raleway"/>
              </a:rPr>
              <a:t>V-Guard Sentinel · Team Codey Tingle (TI3271) · Big Idea Tech 2026, Track 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727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00" cy="8229600"/>
          </a:xfrm>
          <a:prstGeom prst="rect">
            <a:avLst/>
          </a:prstGeom>
          <a:solidFill>
            <a:srgbClr val="1B1B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panel_su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089904" y="502920"/>
            <a:ext cx="7955279" cy="5486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0000"/>
              </a:lnSpc>
            </a:pPr>
            <a:r>
              <a:rPr sz="3000" b="1" i="0">
                <a:solidFill>
                  <a:srgbClr val="FFE14D"/>
                </a:solidFill>
                <a:latin typeface="Raleway"/>
              </a:rPr>
              <a:t>Sentinel Engine Suite</a:t>
            </a:r>
          </a:p>
        </p:txBody>
      </p:sp>
      <p:sp>
        <p:nvSpPr>
          <p:cNvPr id="6" name="Rectangle 5"/>
          <p:cNvSpPr/>
          <p:nvPr/>
        </p:nvSpPr>
        <p:spPr>
          <a:xfrm>
            <a:off x="6089904" y="1234440"/>
            <a:ext cx="384048" cy="384048"/>
          </a:xfrm>
          <a:prstGeom prst="rect">
            <a:avLst/>
          </a:prstGeom>
          <a:solidFill>
            <a:srgbClr val="FFE1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089904" y="1252728"/>
            <a:ext cx="384048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lnSpc>
                <a:spcPct val="110000"/>
              </a:lnSpc>
            </a:pPr>
            <a:r>
              <a:rPr sz="1700" b="1" i="0">
                <a:solidFill>
                  <a:srgbClr val="1B1B1E"/>
                </a:solidFill>
                <a:latin typeface="Raleway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29400" y="1216152"/>
            <a:ext cx="7315200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1" i="0">
                <a:solidFill>
                  <a:srgbClr val="FFFFFF"/>
                </a:solidFill>
                <a:latin typeface="Raleway"/>
              </a:rPr>
              <a:t>Engine 1 · Battery Health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89904" y="1691640"/>
            <a:ext cx="7955279" cy="8686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0" i="0">
                <a:solidFill>
                  <a:srgbClr val="D7D4CC"/>
                </a:solidFill>
                <a:latin typeface="Raleway"/>
              </a:rPr>
              <a:t>Coulomb counting and a Kalman filter fuse current, voltage and temperature into state of charge; a 28 k-parameter int8 network turns each outage cycle into a state-of-health band and the warning “replace within 6–14 weeks”.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089904" y="2606040"/>
            <a:ext cx="384048" cy="384048"/>
          </a:xfrm>
          <a:prstGeom prst="rect">
            <a:avLst/>
          </a:prstGeom>
          <a:solidFill>
            <a:srgbClr val="FFE1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089904" y="2624328"/>
            <a:ext cx="384048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lnSpc>
                <a:spcPct val="110000"/>
              </a:lnSpc>
            </a:pPr>
            <a:r>
              <a:rPr sz="1700" b="1" i="0">
                <a:solidFill>
                  <a:srgbClr val="1B1B1E"/>
                </a:solidFill>
                <a:latin typeface="Raleway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29400" y="2587752"/>
            <a:ext cx="7315200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1" i="0">
                <a:solidFill>
                  <a:srgbClr val="FFFFFF"/>
                </a:solidFill>
                <a:latin typeface="Raleway"/>
              </a:rPr>
              <a:t>Engine 2 · Habit Autopilot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89904" y="3063240"/>
            <a:ext cx="7955279" cy="8686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0" i="0">
                <a:solidFill>
                  <a:srgbClr val="D7D4CC"/>
                </a:solidFill>
                <a:latin typeface="Raleway"/>
              </a:rPr>
              <a:t>Learns the home's load and outage rhythm, detects a blackout in under 2 s by a 2-of-3 vote, and sheds heavy loads by tier so the fridge, lights and router last longest. Every fault fails safe: coil off means loads on.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089904" y="3977640"/>
            <a:ext cx="384048" cy="384048"/>
          </a:xfrm>
          <a:prstGeom prst="rect">
            <a:avLst/>
          </a:prstGeom>
          <a:solidFill>
            <a:srgbClr val="FFE1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089904" y="3995928"/>
            <a:ext cx="384048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lnSpc>
                <a:spcPct val="110000"/>
              </a:lnSpc>
            </a:pPr>
            <a:r>
              <a:rPr sz="1700" b="1" i="0">
                <a:solidFill>
                  <a:srgbClr val="1B1B1E"/>
                </a:solidFill>
                <a:latin typeface="Raleway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29400" y="3959352"/>
            <a:ext cx="7315200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1" i="0">
                <a:solidFill>
                  <a:srgbClr val="FFFFFF"/>
                </a:solidFill>
                <a:latin typeface="Raleway"/>
              </a:rPr>
              <a:t>Engine 3 · Energy Coach &amp; Grid Shield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89904" y="4434840"/>
            <a:ext cx="7955279" cy="8686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0" i="0">
                <a:solidFill>
                  <a:srgbClr val="D7D4CC"/>
                </a:solidFill>
                <a:latin typeface="Raleway"/>
              </a:rPr>
              <a:t>A metering front-end on the inverter output gives real and reactive power. Appliance events are recognised and priced; sags, swells and interruptions are logged as appliance-protection evidence.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089904" y="5349240"/>
            <a:ext cx="384048" cy="384048"/>
          </a:xfrm>
          <a:prstGeom prst="rect">
            <a:avLst/>
          </a:prstGeom>
          <a:solidFill>
            <a:srgbClr val="FFE1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089904" y="5367528"/>
            <a:ext cx="384048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lnSpc>
                <a:spcPct val="110000"/>
              </a:lnSpc>
            </a:pPr>
            <a:r>
              <a:rPr sz="1700" b="1" i="0">
                <a:solidFill>
                  <a:srgbClr val="1B1B1E"/>
                </a:solidFill>
                <a:latin typeface="Raleway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29400" y="5330952"/>
            <a:ext cx="7315200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1" i="0">
                <a:solidFill>
                  <a:srgbClr val="FFFFFF"/>
                </a:solidFill>
                <a:latin typeface="Raleway"/>
              </a:rPr>
              <a:t>Engine 4 · Fleet Intelligence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089904" y="5806440"/>
            <a:ext cx="7955279" cy="8686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0" i="0">
                <a:solidFill>
                  <a:srgbClr val="D7D4CC"/>
                </a:solidFill>
                <a:latin typeface="Raleway"/>
              </a:rPr>
              <a:t>Consented, pseudonymised per-cycle summaries (~1 KB/day) train better models centrally and return over the air. Federated learning is designed and deliberately on hold.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089904" y="6812280"/>
            <a:ext cx="7936992" cy="731520"/>
          </a:xfrm>
          <a:prstGeom prst="roundRect">
            <a:avLst>
              <a:gd name="adj" fmla="val 6000"/>
            </a:avLst>
          </a:prstGeom>
          <a:solidFill>
            <a:srgbClr val="4D4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91072" y="7086600"/>
            <a:ext cx="182880" cy="182880"/>
          </a:xfrm>
          <a:prstGeom prst="rect">
            <a:avLst/>
          </a:prstGeom>
          <a:solidFill>
            <a:srgbClr val="FFE1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92824" y="6903720"/>
            <a:ext cx="7296912" cy="5943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350" b="1">
                <a:solidFill>
                  <a:srgbClr val="FFE14D"/>
                </a:solidFill>
                <a:latin typeface="Raleway"/>
              </a:rPr>
              <a:t>Key advantage: </a:t>
            </a:r>
            <a:r>
              <a:rPr sz="1350" b="0">
                <a:solidFill>
                  <a:srgbClr val="D7D4CC"/>
                </a:solidFill>
                <a:latin typeface="Raleway"/>
              </a:rPr>
              <a:t>every core function runs with zero internet — a virtue in India, not a compromise; retrofits the installed base or embeds in new inverters.</a:t>
            </a:r>
          </a:p>
        </p:txBody>
      </p:sp>
      <p:pic>
        <p:nvPicPr>
          <p:cNvPr id="25" name="Picture 24" descr="vguard-big-idea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10744" y="7616952"/>
            <a:ext cx="1899666" cy="493776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365760" y="7699248"/>
            <a:ext cx="7315200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 i="0">
                <a:solidFill>
                  <a:srgbClr val="9A9A9E"/>
                </a:solidFill>
                <a:latin typeface="Raleway"/>
              </a:rPr>
              <a:t>V-Guard Sentinel · Team Codey Tingle (TI3271) · Big Idea Tech 2026, Track 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727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566928"/>
            <a:ext cx="8229600" cy="9144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0000"/>
              </a:lnSpc>
            </a:pPr>
            <a:r>
              <a:rPr sz="3950" b="1" i="0">
                <a:solidFill>
                  <a:srgbClr val="FFE14D"/>
                </a:solidFill>
                <a:latin typeface="Raleway"/>
              </a:rPr>
              <a:t>The Product Kits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95528" y="1719072"/>
            <a:ext cx="6400800" cy="2532888"/>
          </a:xfrm>
          <a:prstGeom prst="roundRect">
            <a:avLst>
              <a:gd name="adj" fmla="val 6000"/>
            </a:avLst>
          </a:prstGeom>
          <a:solidFill>
            <a:srgbClr val="2727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32104" y="1746504"/>
            <a:ext cx="6327648" cy="685800"/>
          </a:xfrm>
          <a:prstGeom prst="roundRect">
            <a:avLst>
              <a:gd name="adj" fmla="val 6000"/>
            </a:avLst>
          </a:prstGeom>
          <a:solidFill>
            <a:srgbClr val="4646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69848" y="1883664"/>
            <a:ext cx="5852160" cy="4114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lnSpc>
                <a:spcPct val="110000"/>
              </a:lnSpc>
            </a:pPr>
            <a:r>
              <a:rPr sz="1900" b="1" i="0">
                <a:solidFill>
                  <a:srgbClr val="FFFFFF"/>
                </a:solidFill>
                <a:latin typeface="Raleway"/>
              </a:rPr>
              <a:t>Sentinel-Retrofit box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9848" y="2633472"/>
            <a:ext cx="5852160" cy="8229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0" i="0">
                <a:solidFill>
                  <a:srgbClr val="D7D4CC"/>
                </a:solidFill>
                <a:latin typeface="Raleway"/>
              </a:rPr>
              <a:t>Core board beside the inverter · external 0.1 mΩ shunt in the battery negative lead · NTC on the battery · CT + voltage tap on AC-OUT · 4 fail-safe contactor channels.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9848" y="3383280"/>
            <a:ext cx="5852160" cy="7315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500" b="1">
                <a:solidFill>
                  <a:srgbClr val="FFE14D"/>
                </a:solidFill>
                <a:latin typeface="Raleway"/>
              </a:rPr>
              <a:t>Perfect for: </a:t>
            </a:r>
            <a:r>
              <a:rPr sz="1500" b="0">
                <a:solidFill>
                  <a:srgbClr val="D7D4CC"/>
                </a:solidFill>
                <a:latin typeface="Raleway"/>
              </a:rPr>
              <a:t>the installed base — a 30–45 minute electrician install, no inverter modification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24927" y="1719072"/>
            <a:ext cx="6400800" cy="2532888"/>
          </a:xfrm>
          <a:prstGeom prst="roundRect">
            <a:avLst>
              <a:gd name="adj" fmla="val 6000"/>
            </a:avLst>
          </a:prstGeom>
          <a:solidFill>
            <a:srgbClr val="2727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461503" y="1746504"/>
            <a:ext cx="6327648" cy="685800"/>
          </a:xfrm>
          <a:prstGeom prst="roundRect">
            <a:avLst>
              <a:gd name="adj" fmla="val 6000"/>
            </a:avLst>
          </a:prstGeom>
          <a:solidFill>
            <a:srgbClr val="4646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99247" y="1883664"/>
            <a:ext cx="5852160" cy="4114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lnSpc>
                <a:spcPct val="110000"/>
              </a:lnSpc>
            </a:pPr>
            <a:r>
              <a:rPr sz="1900" b="1" i="0">
                <a:solidFill>
                  <a:srgbClr val="FFFFFF"/>
                </a:solidFill>
                <a:latin typeface="Raleway"/>
              </a:rPr>
              <a:t>Sentinel-Embedded board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99247" y="2633472"/>
            <a:ext cx="5852160" cy="8229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0" i="0">
                <a:solidFill>
                  <a:srgbClr val="D7D4CC"/>
                </a:solidFill>
                <a:latin typeface="Raleway"/>
              </a:rPr>
              <a:t>Daughter-board inside a new V-Guard inverter · Kelvin-taps the inverter's own shunt · commands the charger through a DAC on the PWM node with a hardware voltage/thermal ceiling.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99247" y="3383280"/>
            <a:ext cx="5852160" cy="7315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500" b="1">
                <a:solidFill>
                  <a:srgbClr val="FFE14D"/>
                </a:solidFill>
                <a:latin typeface="Raleway"/>
              </a:rPr>
              <a:t>Perfect for: </a:t>
            </a:r>
            <a:r>
              <a:rPr sz="1500" b="0">
                <a:solidFill>
                  <a:srgbClr val="D7D4CC"/>
                </a:solidFill>
                <a:latin typeface="Raleway"/>
              </a:rPr>
              <a:t>the Smart Pro family — adaptive charging and the life-extension claim live here only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95528" y="4471416"/>
            <a:ext cx="6400800" cy="2532888"/>
          </a:xfrm>
          <a:prstGeom prst="roundRect">
            <a:avLst>
              <a:gd name="adj" fmla="val 6000"/>
            </a:avLst>
          </a:prstGeom>
          <a:solidFill>
            <a:srgbClr val="2727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32104" y="4498848"/>
            <a:ext cx="6327648" cy="685800"/>
          </a:xfrm>
          <a:prstGeom prst="roundRect">
            <a:avLst>
              <a:gd name="adj" fmla="val 6000"/>
            </a:avLst>
          </a:prstGeom>
          <a:solidFill>
            <a:srgbClr val="4646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69848" y="4636008"/>
            <a:ext cx="5852160" cy="4114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lnSpc>
                <a:spcPct val="110000"/>
              </a:lnSpc>
            </a:pPr>
            <a:r>
              <a:rPr sz="1900" b="1" i="0">
                <a:solidFill>
                  <a:srgbClr val="FFFFFF"/>
                </a:solidFill>
                <a:latin typeface="Raleway"/>
              </a:rPr>
              <a:t>Energy Coach kit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9848" y="5385816"/>
            <a:ext cx="5852160" cy="8229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0" i="0">
                <a:solidFill>
                  <a:srgbClr val="D7D4CC"/>
                </a:solidFill>
                <a:latin typeface="Raleway"/>
              </a:rPr>
              <a:t>ATM90E32AS metering front-end + split-core CT + voltage tap + isolator: real and reactive power at 3 Hz on the inverter output (optional second CT on the mains).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69848" y="6135624"/>
            <a:ext cx="5852160" cy="7315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500" b="1">
                <a:solidFill>
                  <a:srgbClr val="FFE14D"/>
                </a:solidFill>
                <a:latin typeface="Raleway"/>
              </a:rPr>
              <a:t>Perfect for: </a:t>
            </a:r>
            <a:r>
              <a:rPr sz="1500" b="0">
                <a:solidFill>
                  <a:srgbClr val="D7D4CC"/>
                </a:solidFill>
                <a:latin typeface="Raleway"/>
              </a:rPr>
              <a:t>homes that want appliance-level kWh, ₹ at ToD tariff and grid-event evidence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424927" y="4471416"/>
            <a:ext cx="6400800" cy="2532888"/>
          </a:xfrm>
          <a:prstGeom prst="roundRect">
            <a:avLst>
              <a:gd name="adj" fmla="val 6000"/>
            </a:avLst>
          </a:prstGeom>
          <a:solidFill>
            <a:srgbClr val="2727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7461503" y="4498848"/>
            <a:ext cx="6327648" cy="685800"/>
          </a:xfrm>
          <a:prstGeom prst="roundRect">
            <a:avLst>
              <a:gd name="adj" fmla="val 6000"/>
            </a:avLst>
          </a:prstGeom>
          <a:solidFill>
            <a:srgbClr val="4646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699247" y="4636008"/>
            <a:ext cx="5852160" cy="4114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lnSpc>
                <a:spcPct val="110000"/>
              </a:lnSpc>
            </a:pPr>
            <a:r>
              <a:rPr sz="1900" b="1" i="0">
                <a:solidFill>
                  <a:srgbClr val="FFFFFF"/>
                </a:solidFill>
                <a:latin typeface="Raleway"/>
              </a:rPr>
              <a:t>Contactor panel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699247" y="5385816"/>
            <a:ext cx="5852160" cy="8229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0" i="0">
                <a:solidFill>
                  <a:srgbClr val="D7D4CC"/>
                </a:solidFill>
                <a:latin typeface="Raleway"/>
              </a:rPr>
              <a:t>2–4 × 25 A normally-closed DIN contactors with 12 V coils, one hardware-locked medical channel and a supervisory timer that drops every coil if the processor stops its heartbeat.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699247" y="6135624"/>
            <a:ext cx="5852160" cy="7315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500" b="1">
                <a:solidFill>
                  <a:srgbClr val="FFE14D"/>
                </a:solidFill>
                <a:latin typeface="Raleway"/>
              </a:rPr>
              <a:t>Perfect for: </a:t>
            </a:r>
            <a:r>
              <a:rPr sz="1500" b="0">
                <a:solidFill>
                  <a:srgbClr val="D7D4CC"/>
                </a:solidFill>
                <a:latin typeface="Raleway"/>
              </a:rPr>
              <a:t>tiered load-shedding — granularity equals the number of channels wired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95528" y="7132320"/>
            <a:ext cx="11887200" cy="4572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350" b="1">
                <a:solidFill>
                  <a:srgbClr val="FFE14D"/>
                </a:solidFill>
                <a:latin typeface="Raleway"/>
              </a:rPr>
              <a:t>Cost by engine: </a:t>
            </a:r>
            <a:r>
              <a:rPr sz="1350" b="0">
                <a:solidFill>
                  <a:srgbClr val="D7D4CC"/>
                </a:solidFill>
                <a:latin typeface="Raleway"/>
              </a:rPr>
              <a:t>basic board ≈ ₹750 · with shunt ≈ ₹1,050 · full retrofit with Coach ≈ ₹1,650–2,050 · embedded increment ₹450–1,300 — single-digit % of a ₹15 k battery.</a:t>
            </a:r>
          </a:p>
        </p:txBody>
      </p:sp>
      <p:pic>
        <p:nvPicPr>
          <p:cNvPr id="25" name="Picture 24" descr="vguard-big-idea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10744" y="7616952"/>
            <a:ext cx="1899666" cy="493776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365760" y="7699248"/>
            <a:ext cx="7315200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 i="0">
                <a:solidFill>
                  <a:srgbClr val="9A9A9E"/>
                </a:solidFill>
                <a:latin typeface="Raleway"/>
              </a:rPr>
              <a:t>V-Guard Sentinel · Team Codey Tingle (TI3271) · Big Idea Tech 2026, Track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727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00" cy="2770632"/>
          </a:xfrm>
          <a:prstGeom prst="rect">
            <a:avLst/>
          </a:prstGeom>
          <a:solidFill>
            <a:srgbClr val="1B1B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soh_ba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24346" y="0"/>
            <a:ext cx="6981708" cy="277063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77240" y="3017520"/>
            <a:ext cx="10972800" cy="6400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0000"/>
              </a:lnSpc>
            </a:pPr>
            <a:r>
              <a:rPr sz="3850" b="1" i="0">
                <a:solidFill>
                  <a:srgbClr val="FFE14D"/>
                </a:solidFill>
                <a:latin typeface="Raleway"/>
              </a:rPr>
              <a:t>Engine 1: Predicting Battery Life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3977639"/>
            <a:ext cx="45720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0000"/>
              </a:lnSpc>
            </a:pPr>
            <a:r>
              <a:rPr sz="1700" b="0" i="0">
                <a:solidFill>
                  <a:srgbClr val="FFE14D"/>
                </a:solidFill>
                <a:latin typeface="Raleway"/>
              </a:rPr>
              <a:t>01</a:t>
            </a:r>
          </a:p>
        </p:txBody>
      </p:sp>
      <p:sp>
        <p:nvSpPr>
          <p:cNvPr id="7" name="Rectangle 6"/>
          <p:cNvSpPr/>
          <p:nvPr/>
        </p:nvSpPr>
        <p:spPr>
          <a:xfrm>
            <a:off x="777240" y="4325111"/>
            <a:ext cx="4215384" cy="27432"/>
          </a:xfrm>
          <a:prstGeom prst="rect">
            <a:avLst/>
          </a:prstGeom>
          <a:solidFill>
            <a:srgbClr val="FFE1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4489703"/>
            <a:ext cx="4215384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0000"/>
              </a:lnSpc>
            </a:pPr>
            <a:r>
              <a:rPr sz="1900" b="1" i="0">
                <a:solidFill>
                  <a:srgbClr val="FFFFFF"/>
                </a:solidFill>
                <a:latin typeface="Raleway"/>
              </a:rPr>
              <a:t>Estimate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4937759"/>
            <a:ext cx="4215384" cy="12801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0000"/>
              </a:lnSpc>
            </a:pPr>
            <a:r>
              <a:rPr sz="1550" b="0" i="0">
                <a:solidFill>
                  <a:srgbClr val="D7D4CC"/>
                </a:solidFill>
                <a:latin typeface="Raleway"/>
              </a:rPr>
              <a:t>A 3-state Kalman filter (SoC, polarisation, R0) on 1 Hz current, voltage and temperature. SoC re-anchors to 100 % on charge-current taper and to the OCV table only after a true rest with the charger off.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212080" y="3977639"/>
            <a:ext cx="45720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0000"/>
              </a:lnSpc>
            </a:pPr>
            <a:r>
              <a:rPr sz="1700" b="0" i="0">
                <a:solidFill>
                  <a:srgbClr val="FFE14D"/>
                </a:solidFill>
                <a:latin typeface="Raleway"/>
              </a:rPr>
              <a:t>02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212080" y="4325111"/>
            <a:ext cx="4215384" cy="27432"/>
          </a:xfrm>
          <a:prstGeom prst="rect">
            <a:avLst/>
          </a:prstGeom>
          <a:solidFill>
            <a:srgbClr val="FFE1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212080" y="4489703"/>
            <a:ext cx="4215384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0000"/>
              </a:lnSpc>
            </a:pPr>
            <a:r>
              <a:rPr sz="1900" b="1" i="0">
                <a:solidFill>
                  <a:srgbClr val="FFFFFF"/>
                </a:solidFill>
                <a:latin typeface="Raleway"/>
              </a:rPr>
              <a:t>Reduce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212080" y="4937759"/>
            <a:ext cx="4215384" cy="12801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0000"/>
              </a:lnSpc>
            </a:pPr>
            <a:r>
              <a:rPr sz="1550" b="0" i="0">
                <a:solidFill>
                  <a:srgbClr val="D7D4CC"/>
                </a:solidFill>
                <a:latin typeface="Raleway"/>
              </a:rPr>
              <a:t>Each outage cycle becomes 14 physics features plus 6 lifetime integrals: resistance and sag vs the battery's own baseline, throughput, depth of discharge, coulombic efficiency, charge acceptance, dQ/dV, Arrhenius heat stress.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46920" y="3977639"/>
            <a:ext cx="45720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0000"/>
              </a:lnSpc>
            </a:pPr>
            <a:r>
              <a:rPr sz="1700" b="0" i="0">
                <a:solidFill>
                  <a:srgbClr val="FFE14D"/>
                </a:solidFill>
                <a:latin typeface="Raleway"/>
              </a:rPr>
              <a:t>03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646920" y="4325111"/>
            <a:ext cx="4215384" cy="27432"/>
          </a:xfrm>
          <a:prstGeom prst="rect">
            <a:avLst/>
          </a:prstGeom>
          <a:solidFill>
            <a:srgbClr val="FFE1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46920" y="4489703"/>
            <a:ext cx="4215384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0000"/>
              </a:lnSpc>
            </a:pPr>
            <a:r>
              <a:rPr sz="1900" b="1" i="0">
                <a:solidFill>
                  <a:srgbClr val="FFFFFF"/>
                </a:solidFill>
                <a:latin typeface="Raleway"/>
              </a:rPr>
              <a:t>Infer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46920" y="4937759"/>
            <a:ext cx="4215384" cy="12801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0000"/>
              </a:lnSpc>
            </a:pPr>
            <a:r>
              <a:rPr sz="1550" b="0" i="0">
                <a:solidFill>
                  <a:srgbClr val="D7D4CC"/>
                </a:solidFill>
                <a:latin typeface="Raleway"/>
              </a:rPr>
              <a:t>An int8 1-D CNN over the last 30 cycles, three seeds averaged, quantile heads P10/P50/P90 with conformal calibration — a window, never a date. 16 KB of RAM, ~1–10 ms per inference on the ESP32-S3.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77240" y="6565392"/>
            <a:ext cx="27432" cy="850392"/>
          </a:xfrm>
          <a:prstGeom prst="rect">
            <a:avLst/>
          </a:prstGeom>
          <a:solidFill>
            <a:srgbClr val="FFE1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106424" y="6601968"/>
            <a:ext cx="12710160" cy="8229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500" b="1">
                <a:solidFill>
                  <a:srgbClr val="FFE14D"/>
                </a:solidFill>
                <a:latin typeface="Raleway"/>
              </a:rPr>
              <a:t>Measured today (synthetic tubular data, independent test split): </a:t>
            </a:r>
            <a:r>
              <a:rPr sz="1500" b="0">
                <a:solidFill>
                  <a:srgbClr val="D7D4CC"/>
                </a:solidFill>
                <a:latin typeface="Raleway"/>
              </a:rPr>
              <a:t>SoH MAE 8.2 pt · 80 % band coverage 0.66 → 0.99 after calibration but still 34 pt wide · EKF within ±3 % vs 7 %/week naive drift · int8 costs +0.01 pt · target ≤ 3 pt needs the aging campaign.</a:t>
            </a:r>
          </a:p>
        </p:txBody>
      </p:sp>
      <p:pic>
        <p:nvPicPr>
          <p:cNvPr id="20" name="Picture 19" descr="vguard-big-idea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10744" y="7616952"/>
            <a:ext cx="1899666" cy="493776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365760" y="7699248"/>
            <a:ext cx="7315200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 i="0">
                <a:solidFill>
                  <a:srgbClr val="9A9A9E"/>
                </a:solidFill>
                <a:latin typeface="Raleway"/>
              </a:rPr>
              <a:t>V-Guard Sentinel · Team Codey Tingle (TI3271) · Big Idea Tech 2026, Track 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727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00" cy="2560320"/>
          </a:xfrm>
          <a:prstGeom prst="rect">
            <a:avLst/>
          </a:prstGeom>
          <a:solidFill>
            <a:srgbClr val="1B1B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autopilot_lad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65765" y="0"/>
            <a:ext cx="6298871" cy="25603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13232" y="2743200"/>
            <a:ext cx="10972800" cy="6400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0000"/>
              </a:lnSpc>
            </a:pPr>
            <a:r>
              <a:rPr sz="3550" b="1" i="0">
                <a:solidFill>
                  <a:srgbClr val="FFE14D"/>
                </a:solidFill>
                <a:latin typeface="Raleway"/>
              </a:rPr>
              <a:t>Engine 2: Autopilot That Fails Safe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3611880"/>
            <a:ext cx="3657600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0000"/>
              </a:lnSpc>
            </a:pPr>
            <a:r>
              <a:rPr sz="1750" b="1" i="0">
                <a:solidFill>
                  <a:srgbClr val="FFE14D"/>
                </a:solidFill>
                <a:latin typeface="Raleway"/>
              </a:rPr>
              <a:t>How It Works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4069080"/>
            <a:ext cx="6345936" cy="22860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500" b="0">
                <a:solidFill>
                  <a:srgbClr val="FFE14D"/>
                </a:solidFill>
                <a:latin typeface="Raleway"/>
              </a:rPr>
              <a:t>•  </a:t>
            </a:r>
            <a:r>
              <a:rPr sz="1500" b="0">
                <a:solidFill>
                  <a:srgbClr val="D7D4CC"/>
                </a:solidFill>
                <a:latin typeface="Raleway"/>
              </a:rPr>
              <a:t>Hour-of-week load and outage tables (4.7 KB) a judge can read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500" b="0">
                <a:solidFill>
                  <a:srgbClr val="FFE14D"/>
                </a:solidFill>
                <a:latin typeface="Raleway"/>
              </a:rPr>
              <a:t>•  </a:t>
            </a:r>
            <a:r>
              <a:rPr sz="1500" b="0">
                <a:solidFill>
                  <a:srgbClr val="D7D4CC"/>
                </a:solidFill>
                <a:latin typeface="Raleway"/>
              </a:rPr>
              <a:t>Forecasts the roster, not the storm: scheduled cuts are predictable, faults are detected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500" b="0">
                <a:solidFill>
                  <a:srgbClr val="FFE14D"/>
                </a:solidFill>
                <a:latin typeface="Raleway"/>
              </a:rPr>
              <a:t>•  </a:t>
            </a:r>
            <a:r>
              <a:rPr sz="1500" b="0">
                <a:solidFill>
                  <a:srgbClr val="D7D4CC"/>
                </a:solidFill>
                <a:latin typeface="Raleway"/>
              </a:rPr>
              <a:t>Outage declared by a 2-of-3 vote in under 2 s; restore after 10–30 s above 0.9 pu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500" b="0">
                <a:solidFill>
                  <a:srgbClr val="FFE14D"/>
                </a:solidFill>
                <a:latin typeface="Raleway"/>
              </a:rPr>
              <a:t>•  </a:t>
            </a:r>
            <a:r>
              <a:rPr sz="1500" b="0">
                <a:solidFill>
                  <a:srgbClr val="D7D4CC"/>
                </a:solidFill>
                <a:latin typeface="Raleway"/>
              </a:rPr>
              <a:t>T1 never shed · T2 defer ≤ 55 % · T3 shed ≤ 40 %, 15-point hysteresis, 3–5 min dwell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71231" y="3611880"/>
            <a:ext cx="3657600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0000"/>
              </a:lnSpc>
            </a:pPr>
            <a:r>
              <a:rPr sz="1750" b="1" i="0">
                <a:solidFill>
                  <a:srgbClr val="FFE14D"/>
                </a:solidFill>
                <a:latin typeface="Raleway"/>
              </a:rPr>
              <a:t>Key Benefits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71231" y="4069080"/>
            <a:ext cx="6345936" cy="22860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500" b="0">
                <a:solidFill>
                  <a:srgbClr val="FFE14D"/>
                </a:solidFill>
                <a:latin typeface="Raleway"/>
              </a:rPr>
              <a:t>•  </a:t>
            </a:r>
            <a:r>
              <a:rPr sz="1500" b="0">
                <a:solidFill>
                  <a:srgbClr val="D7D4CC"/>
                </a:solidFill>
                <a:latin typeface="Raleway"/>
              </a:rPr>
              <a:t>Fridge, router, lights and medical loads last longest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500" b="0">
                <a:solidFill>
                  <a:srgbClr val="FFE14D"/>
                </a:solidFill>
                <a:latin typeface="Raleway"/>
              </a:rPr>
              <a:t>•  </a:t>
            </a:r>
            <a:r>
              <a:rPr sz="1500" b="0">
                <a:solidFill>
                  <a:srgbClr val="D7D4CC"/>
                </a:solidFill>
                <a:latin typeface="Raleway"/>
              </a:rPr>
              <a:t>No chatter, no compressor short-cycling: 65 tests, 50/50 scripted scenarios in C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500" b="0">
                <a:solidFill>
                  <a:srgbClr val="FFE14D"/>
                </a:solidFill>
                <a:latin typeface="Raleway"/>
              </a:rPr>
              <a:t>•  </a:t>
            </a:r>
            <a:r>
              <a:rPr sz="1500" b="0">
                <a:solidFill>
                  <a:srgbClr val="D7D4CC"/>
                </a:solidFill>
                <a:latin typeface="Raleway"/>
              </a:rPr>
              <a:t>30-minute user override that cannot beat the safety floor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500" b="0">
                <a:solidFill>
                  <a:srgbClr val="FFE14D"/>
                </a:solidFill>
                <a:latin typeface="Raleway"/>
              </a:rPr>
              <a:t>•  </a:t>
            </a:r>
            <a:r>
              <a:rPr sz="1500" b="0">
                <a:solidFill>
                  <a:srgbClr val="D7D4CC"/>
                </a:solidFill>
                <a:latin typeface="Raleway"/>
              </a:rPr>
              <a:t>Works with zero internet and no inverter cooperation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03504" y="6428232"/>
            <a:ext cx="13194792" cy="1143000"/>
          </a:xfrm>
          <a:prstGeom prst="roundRect">
            <a:avLst>
              <a:gd name="adj" fmla="val 6000"/>
            </a:avLst>
          </a:prstGeom>
          <a:solidFill>
            <a:srgbClr val="4646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23544" y="6583680"/>
            <a:ext cx="5486400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0000"/>
              </a:lnSpc>
            </a:pPr>
            <a:r>
              <a:rPr sz="1750" b="1" i="0">
                <a:solidFill>
                  <a:srgbClr val="FFFFFF"/>
                </a:solidFill>
                <a:latin typeface="Raleway"/>
              </a:rPr>
              <a:t>Fail-safe by wiring, not by software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23544" y="6967728"/>
            <a:ext cx="12710160" cy="5486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0" i="0">
                <a:solidFill>
                  <a:srgbClr val="D7D4CC"/>
                </a:solidFill>
                <a:latin typeface="Raleway"/>
              </a:rPr>
              <a:t>Normally-closed contactors: an energised coil sheds, a de-energised coil means loads on. Any crash, brown-out or watchdog reset — and an independent supervisory timer on the driver board — drops every coil within 2 s.</a:t>
            </a:r>
          </a:p>
        </p:txBody>
      </p:sp>
      <p:pic>
        <p:nvPicPr>
          <p:cNvPr id="13" name="Picture 12" descr="vguard-big-idea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10744" y="7616952"/>
            <a:ext cx="1899666" cy="493776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365760" y="7699248"/>
            <a:ext cx="7315200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 i="0">
                <a:solidFill>
                  <a:srgbClr val="9A9A9E"/>
                </a:solidFill>
                <a:latin typeface="Raleway"/>
              </a:rPr>
              <a:t>V-Guard Sentinel · Team Codey Tingle (TI3271) · Big Idea Tech 2026, Track 4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727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144000" y="0"/>
            <a:ext cx="5486400" cy="8229600"/>
          </a:xfrm>
          <a:prstGeom prst="rect">
            <a:avLst/>
          </a:prstGeom>
          <a:solidFill>
            <a:srgbClr val="1B1B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281160" y="548640"/>
            <a:ext cx="5212080" cy="3383280"/>
          </a:xfrm>
          <a:prstGeom prst="rect">
            <a:avLst/>
          </a:prstGeom>
          <a:solidFill>
            <a:srgbClr val="1B1B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nilm_even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81160" y="1192491"/>
            <a:ext cx="5212080" cy="2095579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9281160" y="4297680"/>
            <a:ext cx="5212080" cy="3383280"/>
          </a:xfrm>
          <a:prstGeom prst="rect">
            <a:avLst/>
          </a:prstGeom>
          <a:solidFill>
            <a:srgbClr val="1B1B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pq_di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81160" y="4939252"/>
            <a:ext cx="5212080" cy="2100137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31520" y="649224"/>
            <a:ext cx="8229600" cy="6400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0000"/>
              </a:lnSpc>
            </a:pPr>
            <a:r>
              <a:rPr sz="3000" b="1" i="0">
                <a:solidFill>
                  <a:srgbClr val="FFE14D"/>
                </a:solidFill>
                <a:latin typeface="Raleway"/>
              </a:rPr>
              <a:t>Engine 3: Energy Coach &amp; Grid Shield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463040"/>
            <a:ext cx="7863840" cy="8229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0000"/>
              </a:lnSpc>
            </a:pPr>
            <a:r>
              <a:rPr sz="1650" b="0" i="0">
                <a:solidFill>
                  <a:srgbClr val="D7D4CC"/>
                </a:solidFill>
                <a:latin typeface="Raleway"/>
              </a:rPr>
              <a:t>How the ESP32 tells appliances apart from one aggregate signal — and why the report's first bill of materials could not do it without a metering front-end: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2459736"/>
            <a:ext cx="3730752" cy="1892807"/>
          </a:xfrm>
          <a:prstGeom prst="roundRect">
            <a:avLst>
              <a:gd name="adj" fmla="val 6000"/>
            </a:avLst>
          </a:prstGeom>
          <a:solidFill>
            <a:srgbClr val="1B1B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31520" y="2459736"/>
            <a:ext cx="91440" cy="1892807"/>
          </a:xfrm>
          <a:prstGeom prst="rect">
            <a:avLst/>
          </a:prstGeom>
          <a:solidFill>
            <a:srgbClr val="FFE1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33272" y="2642616"/>
            <a:ext cx="3319272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1" i="0">
                <a:solidFill>
                  <a:srgbClr val="FFFFFF"/>
                </a:solidFill>
                <a:latin typeface="Raleway"/>
              </a:rPr>
              <a:t>1 · Detect the step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33272" y="3054096"/>
            <a:ext cx="3319272" cy="1207007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 i="0">
                <a:solidFill>
                  <a:srgbClr val="D7D4CC"/>
                </a:solidFill>
                <a:latin typeface="Raleway"/>
              </a:rPr>
              <a:t>Moving-average change test on real and reactive power at 3 Hz: ΔP ≥ 25 W, settle-time limit, ON/OFF pairing.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672584" y="2459736"/>
            <a:ext cx="3730752" cy="1892807"/>
          </a:xfrm>
          <a:prstGeom prst="roundRect">
            <a:avLst>
              <a:gd name="adj" fmla="val 6000"/>
            </a:avLst>
          </a:prstGeom>
          <a:solidFill>
            <a:srgbClr val="1B1B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672584" y="2459736"/>
            <a:ext cx="91440" cy="1892807"/>
          </a:xfrm>
          <a:prstGeom prst="rect">
            <a:avLst/>
          </a:prstGeom>
          <a:solidFill>
            <a:srgbClr val="FFE1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974336" y="2642616"/>
            <a:ext cx="3319272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1" i="0">
                <a:solidFill>
                  <a:srgbClr val="FFFFFF"/>
                </a:solidFill>
                <a:latin typeface="Raleway"/>
              </a:rPr>
              <a:t>2 · Sign it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974336" y="3054096"/>
            <a:ext cx="3319272" cy="1207007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 i="0">
                <a:solidFill>
                  <a:srgbClr val="D7D4CC"/>
                </a:solidFill>
                <a:latin typeface="Raleway"/>
              </a:rPr>
              <a:t>13 numbers per event — ΔP, ΔQ, phase angle, inrush ratio, settling time, harmonic share, duration, periodicity, time of day.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4562856"/>
            <a:ext cx="3730752" cy="1600200"/>
          </a:xfrm>
          <a:prstGeom prst="roundRect">
            <a:avLst>
              <a:gd name="adj" fmla="val 6000"/>
            </a:avLst>
          </a:prstGeom>
          <a:solidFill>
            <a:srgbClr val="1B1B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31520" y="4562856"/>
            <a:ext cx="91440" cy="1600200"/>
          </a:xfrm>
          <a:prstGeom prst="rect">
            <a:avLst/>
          </a:prstGeom>
          <a:solidFill>
            <a:srgbClr val="FFE1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4745736"/>
            <a:ext cx="3319272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1" i="0">
                <a:solidFill>
                  <a:srgbClr val="FFFFFF"/>
                </a:solidFill>
                <a:latin typeface="Raleway"/>
              </a:rPr>
              <a:t>3 · Match it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33272" y="5157216"/>
            <a:ext cx="3319272" cy="9144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 i="0">
                <a:solidFill>
                  <a:srgbClr val="D7D4CC"/>
                </a:solidFill>
                <a:latin typeface="Raleway"/>
              </a:rPr>
              <a:t>Rules + k-NN against a per-home library seeded from an Indian appliance table and named by the user: “what just turned on?”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672584" y="4562856"/>
            <a:ext cx="3730752" cy="1600200"/>
          </a:xfrm>
          <a:prstGeom prst="roundRect">
            <a:avLst>
              <a:gd name="adj" fmla="val 6000"/>
            </a:avLst>
          </a:prstGeom>
          <a:solidFill>
            <a:srgbClr val="1B1B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672584" y="4562856"/>
            <a:ext cx="91440" cy="1600200"/>
          </a:xfrm>
          <a:prstGeom prst="rect">
            <a:avLst/>
          </a:prstGeom>
          <a:solidFill>
            <a:srgbClr val="FFE1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974336" y="4745736"/>
            <a:ext cx="3319272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1" i="0">
                <a:solidFill>
                  <a:srgbClr val="FFFFFF"/>
                </a:solidFill>
                <a:latin typeface="Raleway"/>
              </a:rPr>
              <a:t>Grid Shield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974336" y="5157216"/>
            <a:ext cx="3319272" cy="9144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 i="0">
                <a:solidFill>
                  <a:srgbClr val="D7D4CC"/>
                </a:solidFill>
                <a:latin typeface="Raleway"/>
              </a:rPr>
              <a:t>Half-cycle RMS on an isolated tap, IEEE 1159 buckets, 4-cycle FFT for THD. Class-S-like, never “Class A”.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31520" y="6355080"/>
            <a:ext cx="7671816" cy="1225296"/>
          </a:xfrm>
          <a:prstGeom prst="roundRect">
            <a:avLst>
              <a:gd name="adj" fmla="val 6000"/>
            </a:avLst>
          </a:prstGeom>
          <a:solidFill>
            <a:srgbClr val="4D4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932688" y="6876288"/>
            <a:ext cx="182880" cy="182880"/>
          </a:xfrm>
          <a:prstGeom prst="rect">
            <a:avLst/>
          </a:prstGeom>
          <a:solidFill>
            <a:srgbClr val="FFE1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234440" y="6446520"/>
            <a:ext cx="7031736" cy="108813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400" b="1">
                <a:solidFill>
                  <a:srgbClr val="FFE14D"/>
                </a:solidFill>
                <a:latin typeface="Raleway"/>
              </a:rPr>
              <a:t>Measured: </a:t>
            </a:r>
            <a:r>
              <a:rPr sz="1400" b="0">
                <a:solidFill>
                  <a:srgbClr val="D7D4CC"/>
                </a:solidFill>
                <a:latin typeface="Raleway"/>
              </a:rPr>
              <a:t>event recall 1.00, fridge F1 0.97; 13/13 dips detected, magnitude error &lt; 1 %, duration error 0 half-cycles. Honest scope: fridge, AC, geyser, pump, iron/kettle — not two identical fans, not loads under 40 W.</a:t>
            </a:r>
          </a:p>
        </p:txBody>
      </p:sp>
      <p:pic>
        <p:nvPicPr>
          <p:cNvPr id="29" name="Picture 28" descr="vguard-big-idea-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10744" y="7616952"/>
            <a:ext cx="1899666" cy="493776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365760" y="7699248"/>
            <a:ext cx="7315200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 i="0">
                <a:solidFill>
                  <a:srgbClr val="9A9A9E"/>
                </a:solidFill>
                <a:latin typeface="Raleway"/>
              </a:rPr>
              <a:t>V-Guard Sentinel · Team Codey Tingle (TI3271) · Big Idea Tech 2026, Track 4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727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76072" y="457200"/>
            <a:ext cx="9144000" cy="5486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0000"/>
              </a:lnSpc>
            </a:pPr>
            <a:r>
              <a:rPr sz="2850" b="1" i="0">
                <a:solidFill>
                  <a:srgbClr val="FFE14D"/>
                </a:solidFill>
                <a:latin typeface="Raleway"/>
              </a:rPr>
              <a:t>The Prototype: What Actually Runs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76072" y="1161288"/>
            <a:ext cx="13478256" cy="1581912"/>
          </a:xfrm>
          <a:prstGeom prst="roundRect">
            <a:avLst>
              <a:gd name="adj" fmla="val 6000"/>
            </a:avLst>
          </a:prstGeom>
          <a:solidFill>
            <a:srgbClr val="4646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40664" y="1325880"/>
            <a:ext cx="493776" cy="493776"/>
          </a:xfrm>
          <a:prstGeom prst="rect">
            <a:avLst/>
          </a:prstGeom>
          <a:solidFill>
            <a:srgbClr val="FFE1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40664" y="1371600"/>
            <a:ext cx="493776" cy="4572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lnSpc>
                <a:spcPct val="110000"/>
              </a:lnSpc>
            </a:pPr>
            <a:r>
              <a:rPr sz="2400" b="1" i="0">
                <a:solidFill>
                  <a:srgbClr val="1B1B1E"/>
                </a:solidFill>
                <a:latin typeface="Raleway"/>
              </a:rPr>
              <a:t>✓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298448"/>
            <a:ext cx="12435840" cy="5486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0000"/>
              </a:lnSpc>
            </a:pPr>
            <a:r>
              <a:rPr sz="2000" b="1" i="0">
                <a:solidFill>
                  <a:srgbClr val="FFFFFF"/>
                </a:solidFill>
                <a:latin typeface="Raleway"/>
              </a:rPr>
              <a:t>245 automated tests · 6 C modules bit-identical to Python · full-int8 model on 3 seeds · firmware host build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0664" y="2057400"/>
            <a:ext cx="13167360" cy="5486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 i="0">
                <a:solidFill>
                  <a:srgbClr val="D7D4CC"/>
                </a:solidFill>
                <a:latin typeface="Raleway"/>
              </a:rPr>
              <a:t>Not a slide deck — a codebase. Every engine implemented, tested and reproducible with one script; the same C is linked into the ESP-IDF firmware.</a:t>
            </a:r>
          </a:p>
        </p:txBody>
      </p:sp>
      <p:sp>
        <p:nvSpPr>
          <p:cNvPr id="9" name="Rectangle 8"/>
          <p:cNvSpPr/>
          <p:nvPr/>
        </p:nvSpPr>
        <p:spPr>
          <a:xfrm>
            <a:off x="566928" y="3108960"/>
            <a:ext cx="6583680" cy="4297680"/>
          </a:xfrm>
          <a:prstGeom prst="rect">
            <a:avLst/>
          </a:prstGeom>
          <a:solidFill>
            <a:srgbClr val="1B1B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tests_per_modu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3796186"/>
            <a:ext cx="6583680" cy="2923227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589520" y="3108960"/>
            <a:ext cx="6400800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0000"/>
              </a:lnSpc>
            </a:pPr>
            <a:r>
              <a:rPr sz="2000" b="1" i="0">
                <a:solidFill>
                  <a:srgbClr val="FFE14D"/>
                </a:solidFill>
                <a:latin typeface="Raleway"/>
              </a:rPr>
              <a:t>Inside the repository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589520" y="3566160"/>
            <a:ext cx="6492240" cy="40233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450" b="0">
                <a:solidFill>
                  <a:srgbClr val="FFE14D"/>
                </a:solidFill>
                <a:latin typeface="Raleway"/>
              </a:rPr>
              <a:t>•  </a:t>
            </a:r>
            <a:r>
              <a:rPr sz="1450" b="1">
                <a:solidFill>
                  <a:srgbClr val="FFFFFF"/>
                </a:solidFill>
                <a:latin typeface="Raleway"/>
              </a:rPr>
              <a:t>Simulator + features:</a:t>
            </a:r>
            <a:r>
              <a:rPr sz="1450" b="0">
                <a:solidFill>
                  <a:srgbClr val="D7D4CC"/>
                </a:solidFill>
                <a:latin typeface="Raleway"/>
              </a:rPr>
              <a:t> synthetic Indian tubular duty cycles at 1 Hz → 14 + 6 physics features per cycle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450" b="0">
                <a:solidFill>
                  <a:srgbClr val="FFE14D"/>
                </a:solidFill>
                <a:latin typeface="Raleway"/>
              </a:rPr>
              <a:t>•  </a:t>
            </a:r>
            <a:r>
              <a:rPr sz="1450" b="1">
                <a:solidFill>
                  <a:srgbClr val="FFFFFF"/>
                </a:solidFill>
                <a:latin typeface="Raleway"/>
              </a:rPr>
              <a:t>Model pipeline:</a:t>
            </a:r>
            <a:r>
              <a:rPr sz="1450" b="0">
                <a:solidFill>
                  <a:srgbClr val="D7D4CC"/>
                </a:solidFill>
                <a:latin typeface="Raleway"/>
              </a:rPr>
              <a:t> train → evaluate → int8 → .tflite, independent test split, leakage guard, transfer ablation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450" b="0">
                <a:solidFill>
                  <a:srgbClr val="FFE14D"/>
                </a:solidFill>
                <a:latin typeface="Raleway"/>
              </a:rPr>
              <a:t>•  </a:t>
            </a:r>
            <a:r>
              <a:rPr sz="1450" b="1">
                <a:solidFill>
                  <a:srgbClr val="FFFFFF"/>
                </a:solidFill>
                <a:latin typeface="Raleway"/>
              </a:rPr>
              <a:t>EKF · autopilot · NILM · PQ · health log · charger policy:</a:t>
            </a:r>
            <a:r>
              <a:rPr sz="1450" b="0">
                <a:solidFill>
                  <a:srgbClr val="D7D4CC"/>
                </a:solidFill>
                <a:latin typeface="Raleway"/>
              </a:rPr>
              <a:t> Python reference + C99 port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450" b="0">
                <a:solidFill>
                  <a:srgbClr val="FFE14D"/>
                </a:solidFill>
                <a:latin typeface="Raleway"/>
              </a:rPr>
              <a:t>•  </a:t>
            </a:r>
            <a:r>
              <a:rPr sz="1450" b="1">
                <a:solidFill>
                  <a:srgbClr val="FFFFFF"/>
                </a:solidFill>
                <a:latin typeface="Raleway"/>
              </a:rPr>
              <a:t>Firmware:</a:t>
            </a:r>
            <a:r>
              <a:rPr sz="1450" b="0">
                <a:solidFill>
                  <a:srgbClr val="D7D4CC"/>
                </a:solidFill>
                <a:latin typeface="Raleway"/>
              </a:rPr>
              <a:t> ESP-IDF task map; host binary runs the loop on a battery CSV and feeds the dashboard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450" b="0">
                <a:solidFill>
                  <a:srgbClr val="FFE14D"/>
                </a:solidFill>
                <a:latin typeface="Raleway"/>
              </a:rPr>
              <a:t>•  </a:t>
            </a:r>
            <a:r>
              <a:rPr sz="1450" b="1">
                <a:solidFill>
                  <a:srgbClr val="FFFFFF"/>
                </a:solidFill>
                <a:latin typeface="Raleway"/>
              </a:rPr>
              <a:t>Dashboard:</a:t>
            </a:r>
            <a:r>
              <a:rPr sz="1450" b="0">
                <a:solidFill>
                  <a:srgbClr val="D7D4CC"/>
                </a:solidFill>
                <a:latin typeface="Raleway"/>
              </a:rPr>
              <a:t> Flask + one page; scripted finale sequence or live device file</a:t>
            </a:r>
          </a:p>
        </p:txBody>
      </p:sp>
      <p:pic>
        <p:nvPicPr>
          <p:cNvPr id="13" name="Picture 12" descr="vguard-big-idea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10744" y="7616952"/>
            <a:ext cx="1899666" cy="493776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365760" y="7699248"/>
            <a:ext cx="7315200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 i="0">
                <a:solidFill>
                  <a:srgbClr val="9A9A9E"/>
                </a:solidFill>
                <a:latin typeface="Raleway"/>
              </a:rPr>
              <a:t>V-Guard Sentinel · Team Codey Tingle (TI3271) · Big Idea Tech 2026, Track 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727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11480" y="1600200"/>
            <a:ext cx="7680960" cy="5120640"/>
          </a:xfrm>
          <a:prstGeom prst="rect">
            <a:avLst/>
          </a:prstGeom>
          <a:solidFill>
            <a:srgbClr val="1B1B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firmware_task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2938549"/>
            <a:ext cx="7680960" cy="244394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29768" y="457200"/>
            <a:ext cx="10972800" cy="5486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0000"/>
              </a:lnSpc>
            </a:pPr>
            <a:r>
              <a:rPr sz="3000" b="1" i="0">
                <a:solidFill>
                  <a:srgbClr val="FFE14D"/>
                </a:solidFill>
                <a:latin typeface="Raleway"/>
              </a:rPr>
              <a:t>Self-Contained by Construction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29768" y="1051560"/>
            <a:ext cx="10972800" cy="4572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0" i="0">
                <a:solidFill>
                  <a:srgbClr val="D7D4CC"/>
                </a:solidFill>
                <a:latin typeface="Raleway"/>
              </a:rPr>
              <a:t>Unplug the router for a year: every function below still works. The cloud only adds updates and fleet learning.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1645920"/>
            <a:ext cx="5669280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0000"/>
              </a:lnSpc>
            </a:pPr>
            <a:r>
              <a:rPr sz="1900" b="1" i="0">
                <a:solidFill>
                  <a:srgbClr val="FFE14D"/>
                </a:solidFill>
                <a:latin typeface="Raleway"/>
              </a:rPr>
              <a:t>How the TinyML actually runs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03920" y="2103120"/>
            <a:ext cx="5760720" cy="41148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450" b="0">
                <a:solidFill>
                  <a:srgbClr val="FFE14D"/>
                </a:solidFill>
                <a:latin typeface="Raleway"/>
              </a:rPr>
              <a:t>•  </a:t>
            </a:r>
            <a:r>
              <a:rPr sz="1450" b="0">
                <a:solidFill>
                  <a:srgbClr val="D7D4CC"/>
                </a:solidFill>
                <a:latin typeface="Raleway"/>
              </a:rPr>
              <a:t>Fixed int8 weights (3 × 36.7 KB) in a signed model partition, updated independently of firmware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450" b="0">
                <a:solidFill>
                  <a:srgbClr val="FFE14D"/>
                </a:solidFill>
                <a:latin typeface="Raleway"/>
              </a:rPr>
              <a:t>•  </a:t>
            </a:r>
            <a:r>
              <a:rPr sz="1450" b="0">
                <a:solidFill>
                  <a:srgbClr val="D7D4CC"/>
                </a:solidFill>
                <a:latin typeface="Raleway"/>
              </a:rPr>
              <a:t>TFLite Micro with six registered ops and a 16 KB arena; golden self-test at boot, fallback slot on failure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450" b="0">
                <a:solidFill>
                  <a:srgbClr val="FFE14D"/>
                </a:solidFill>
                <a:latin typeface="Raleway"/>
              </a:rPr>
              <a:t>•  </a:t>
            </a:r>
            <a:r>
              <a:rPr sz="1450" b="0">
                <a:solidFill>
                  <a:srgbClr val="D7D4CC"/>
                </a:solidFill>
                <a:latin typeface="Raleway"/>
              </a:rPr>
              <a:t>One inference per outage cycle: the last 30 cycles in, three quantiles out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450" b="0">
                <a:solidFill>
                  <a:srgbClr val="FFE14D"/>
                </a:solidFill>
                <a:latin typeface="Raleway"/>
              </a:rPr>
              <a:t>•  </a:t>
            </a:r>
            <a:r>
              <a:rPr sz="1450" b="0">
                <a:solidFill>
                  <a:srgbClr val="D7D4CC"/>
                </a:solidFill>
                <a:latin typeface="Raleway"/>
              </a:rPr>
              <a:t>Plain C turns quantiles into weeks and “replace within N weeks” with hysteresis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450" b="0">
                <a:solidFill>
                  <a:srgbClr val="FFE14D"/>
                </a:solidFill>
                <a:latin typeface="Raleway"/>
              </a:rPr>
              <a:t>•  </a:t>
            </a:r>
            <a:r>
              <a:rPr sz="1450" b="0">
                <a:solidFill>
                  <a:srgbClr val="D7D4CC"/>
                </a:solidFill>
                <a:latin typeface="Raleway"/>
              </a:rPr>
              <a:t>No training on the device, ever — personalisation is ratio-to-baseline features and a conformal offset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503920" y="6355080"/>
            <a:ext cx="5669280" cy="822960"/>
          </a:xfrm>
          <a:prstGeom prst="roundRect">
            <a:avLst>
              <a:gd name="adj" fmla="val 6000"/>
            </a:avLst>
          </a:prstGeom>
          <a:solidFill>
            <a:srgbClr val="4D4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705088" y="6675120"/>
            <a:ext cx="182880" cy="182880"/>
          </a:xfrm>
          <a:prstGeom prst="rect">
            <a:avLst/>
          </a:prstGeom>
          <a:solidFill>
            <a:srgbClr val="FFE1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006840" y="6446520"/>
            <a:ext cx="5029200" cy="6858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350" b="1">
                <a:solidFill>
                  <a:srgbClr val="FFE14D"/>
                </a:solidFill>
                <a:latin typeface="Raleway"/>
              </a:rPr>
              <a:t>Draw: </a:t>
            </a:r>
            <a:r>
              <a:rPr sz="1350" b="0">
                <a:solidFill>
                  <a:srgbClr val="D7D4CC"/>
                </a:solidFill>
                <a:latin typeface="Raleway"/>
              </a:rPr>
              <a:t>≈ 2.6 mA average from the battery — 0.04 % of a 150 Ah battery per day.</a:t>
            </a:r>
          </a:p>
        </p:txBody>
      </p:sp>
      <p:pic>
        <p:nvPicPr>
          <p:cNvPr id="12" name="Picture 11" descr="vguard-big-idea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10744" y="7616952"/>
            <a:ext cx="1899666" cy="493776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365760" y="7699248"/>
            <a:ext cx="7315200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 i="0">
                <a:solidFill>
                  <a:srgbClr val="9A9A9E"/>
                </a:solidFill>
                <a:latin typeface="Raleway"/>
              </a:rPr>
              <a:t>V-Guard Sentinel · Team Codey Tingle (TI3271) · Big Idea Tech 2026, Track 4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727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29768" y="338328"/>
            <a:ext cx="10972800" cy="5486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0000"/>
              </a:lnSpc>
            </a:pPr>
            <a:r>
              <a:rPr sz="2850" b="1" i="0">
                <a:solidFill>
                  <a:srgbClr val="FFE14D"/>
                </a:solidFill>
                <a:latin typeface="Raleway"/>
              </a:rPr>
              <a:t>Live Demonstration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1005840"/>
            <a:ext cx="13807440" cy="2834640"/>
          </a:xfrm>
          <a:prstGeom prst="rect">
            <a:avLst/>
          </a:prstGeom>
          <a:solidFill>
            <a:srgbClr val="1B1B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demo_fl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5644" y="1005840"/>
            <a:ext cx="12039112" cy="283464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411480" y="4114800"/>
            <a:ext cx="6675120" cy="2377440"/>
          </a:xfrm>
          <a:prstGeom prst="roundRect">
            <a:avLst>
              <a:gd name="adj" fmla="val 6000"/>
            </a:avLst>
          </a:prstGeom>
          <a:solidFill>
            <a:srgbClr val="1B1B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4251960"/>
            <a:ext cx="6126480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1" i="0">
                <a:solidFill>
                  <a:srgbClr val="FFFFFF"/>
                </a:solidFill>
                <a:latin typeface="Raleway"/>
              </a:rPr>
              <a:t>Demo Concept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663440"/>
            <a:ext cx="6126480" cy="17373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0000"/>
              </a:lnSpc>
            </a:pPr>
            <a:r>
              <a:rPr sz="1550" b="0" i="1">
                <a:solidFill>
                  <a:srgbClr val="D7D4CC"/>
                </a:solidFill>
                <a:latin typeface="Raleway"/>
              </a:rPr>
              <a:t>“A real 12 V tubular battery and inverter on the table, three relay-switched load tiers, nothing connected to the internet — and we pull the processor's reset while the heater circuit is shed to prove that loads come back.”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98079" y="4114800"/>
            <a:ext cx="6720840" cy="2377440"/>
          </a:xfrm>
          <a:prstGeom prst="roundRect">
            <a:avLst>
              <a:gd name="adj" fmla="val 6000"/>
            </a:avLst>
          </a:prstGeom>
          <a:solidFill>
            <a:srgbClr val="1B1B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818120" y="4251960"/>
            <a:ext cx="6217920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1" i="0">
                <a:solidFill>
                  <a:srgbClr val="FFFFFF"/>
                </a:solidFill>
                <a:latin typeface="Raleway"/>
              </a:rPr>
              <a:t>Real vs replayed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18120" y="4663440"/>
            <a:ext cx="6217920" cy="18288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400" b="0">
                <a:solidFill>
                  <a:srgbClr val="FFE14D"/>
                </a:solidFill>
                <a:latin typeface="Raleway"/>
              </a:rPr>
              <a:t>•  </a:t>
            </a:r>
            <a:r>
              <a:rPr sz="1400" b="1">
                <a:solidFill>
                  <a:srgbClr val="FFFFFF"/>
                </a:solidFill>
                <a:latin typeface="Raleway"/>
              </a:rPr>
              <a:t>Real:</a:t>
            </a:r>
            <a:r>
              <a:rPr sz="1400" b="0">
                <a:solidFill>
                  <a:srgbClr val="D7D4CC"/>
                </a:solidFill>
                <a:latin typeface="Raleway"/>
              </a:rPr>
              <a:t> SoC and R0 from the shunt and Kalman filter, outage detection, tiered shedding, fail-safe restore, appliance events, signed-log verification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400" b="0">
                <a:solidFill>
                  <a:srgbClr val="FFE14D"/>
                </a:solidFill>
                <a:latin typeface="Raleway"/>
              </a:rPr>
              <a:t>•  </a:t>
            </a:r>
            <a:r>
              <a:rPr sz="1400" b="1">
                <a:solidFill>
                  <a:srgbClr val="FFFFFF"/>
                </a:solidFill>
                <a:latin typeface="Raleway"/>
              </a:rPr>
              <a:t>Replayed, labelled on screen:</a:t>
            </a:r>
            <a:r>
              <a:rPr sz="1400" b="0">
                <a:solidFill>
                  <a:srgbClr val="D7D4CC"/>
                </a:solidFill>
                <a:latin typeface="Raleway"/>
              </a:rPr>
              <a:t> the SoH walk to “Replace within N weeks” — a bench battery does not age in a week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11480" y="6675120"/>
            <a:ext cx="13807440" cy="777240"/>
          </a:xfrm>
          <a:prstGeom prst="roundRect">
            <a:avLst>
              <a:gd name="adj" fmla="val 6000"/>
            </a:avLst>
          </a:prstGeom>
          <a:solidFill>
            <a:srgbClr val="4D4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6839712"/>
            <a:ext cx="13258800" cy="5486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500" b="1">
                <a:solidFill>
                  <a:srgbClr val="FFE14D"/>
                </a:solidFill>
                <a:latin typeface="Raleway"/>
              </a:rPr>
              <a:t>REPOSITORY (PRIVATE):  </a:t>
            </a:r>
            <a:r>
              <a:rPr sz="1500" b="0">
                <a:solidFill>
                  <a:srgbClr val="D7D4CC"/>
                </a:solidFill>
                <a:latin typeface="Raleway"/>
              </a:rPr>
              <a:t>github.com/epshukla/vguard-sentinel — design register (17 decisions), prototype code, run_all.sh reproduces every number on this deck</a:t>
            </a:r>
          </a:p>
        </p:txBody>
      </p:sp>
      <p:pic>
        <p:nvPicPr>
          <p:cNvPr id="14" name="Picture 13" descr="vguard-big-idea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10744" y="7616952"/>
            <a:ext cx="1899666" cy="493776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365760" y="7699248"/>
            <a:ext cx="7315200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 i="0">
                <a:solidFill>
                  <a:srgbClr val="9A9A9E"/>
                </a:solidFill>
                <a:latin typeface="Raleway"/>
              </a:rPr>
              <a:t>V-Guard Sentinel · Team Codey Tingle (TI3271) · Big Idea Tech 2026, Track 4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727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76072" y="457200"/>
            <a:ext cx="12801600" cy="5486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0000"/>
              </a:lnSpc>
            </a:pPr>
            <a:r>
              <a:rPr sz="3000" b="1" i="0">
                <a:solidFill>
                  <a:srgbClr val="FFE14D"/>
                </a:solidFill>
                <a:latin typeface="Raleway"/>
              </a:rPr>
              <a:t>Proven · Synthetic · Still Needs Hardware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76072" y="1051560"/>
            <a:ext cx="12801600" cy="4572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0" i="0">
                <a:solidFill>
                  <a:srgbClr val="D7D4CC"/>
                </a:solidFill>
                <a:latin typeface="Raleway"/>
              </a:rPr>
              <a:t>We separate what is deployable today from what is a research target — credibility is the whole game.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645920"/>
            <a:ext cx="13533120" cy="4206240"/>
          </a:xfrm>
          <a:prstGeom prst="rect">
            <a:avLst/>
          </a:prstGeom>
          <a:solidFill>
            <a:srgbClr val="1B1B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evidence_lad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6027" y="1645920"/>
            <a:ext cx="12798346" cy="420624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76072" y="6126480"/>
            <a:ext cx="13478256" cy="1280160"/>
          </a:xfrm>
          <a:prstGeom prst="roundRect">
            <a:avLst>
              <a:gd name="adj" fmla="val 6000"/>
            </a:avLst>
          </a:prstGeom>
          <a:solidFill>
            <a:srgbClr val="4D4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6675120"/>
            <a:ext cx="182880" cy="182880"/>
          </a:xfrm>
          <a:prstGeom prst="rect">
            <a:avLst/>
          </a:prstGeom>
          <a:solidFill>
            <a:srgbClr val="FFE1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78992" y="6217920"/>
            <a:ext cx="12838176" cy="11430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500" b="1">
                <a:solidFill>
                  <a:srgbClr val="FFE14D"/>
                </a:solidFill>
                <a:latin typeface="Raleway"/>
              </a:rPr>
              <a:t>What building it taught us: </a:t>
            </a:r>
            <a:r>
              <a:rPr sz="1500" b="0">
                <a:solidFill>
                  <a:srgbClr val="D7D4CC"/>
                </a:solidFill>
                <a:latin typeface="Raleway"/>
              </a:rPr>
              <a:t>float voltage is not open-circuit voltage; a battery shunt cannot see appliances; adaptive charging is embedded-only; federate the model that has labels on the device. Every correction is a numbered decision (D1–D17) in the design register.</a:t>
            </a:r>
          </a:p>
        </p:txBody>
      </p:sp>
      <p:pic>
        <p:nvPicPr>
          <p:cNvPr id="10" name="Picture 9" descr="vguard-big-idea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10744" y="7616952"/>
            <a:ext cx="1899666" cy="493776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365760" y="7699248"/>
            <a:ext cx="7315200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 i="0">
                <a:solidFill>
                  <a:srgbClr val="9A9A9E"/>
                </a:solidFill>
                <a:latin typeface="Raleway"/>
              </a:rPr>
              <a:t>V-Guard Sentinel · Team Codey Tingle (TI3271) · Big Idea Tech 2026, Track 4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727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144000" y="0"/>
            <a:ext cx="5486400" cy="8229600"/>
          </a:xfrm>
          <a:prstGeom prst="rect">
            <a:avLst/>
          </a:prstGeom>
          <a:solidFill>
            <a:srgbClr val="1B1B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281160" y="1737360"/>
            <a:ext cx="5212080" cy="4754880"/>
          </a:xfrm>
          <a:prstGeom prst="rect">
            <a:avLst/>
          </a:prstGeom>
          <a:solidFill>
            <a:srgbClr val="1B1B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cost_tie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81160" y="3069630"/>
            <a:ext cx="5212080" cy="2090341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94360" y="466344"/>
            <a:ext cx="8229600" cy="5486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0000"/>
              </a:lnSpc>
            </a:pPr>
            <a:r>
              <a:rPr sz="2950" b="1" i="0">
                <a:solidFill>
                  <a:srgbClr val="FFE14D"/>
                </a:solidFill>
                <a:latin typeface="Raleway"/>
              </a:rPr>
              <a:t>Feasibility &amp; Growth Roadmap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353312"/>
            <a:ext cx="365760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0000"/>
              </a:lnSpc>
            </a:pPr>
            <a:r>
              <a:rPr sz="1450" b="1" i="0">
                <a:solidFill>
                  <a:srgbClr val="FFE14D"/>
                </a:solidFill>
                <a:latin typeface="Raleway"/>
              </a:rPr>
              <a:t>Technical Feasibility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691640"/>
            <a:ext cx="3931920" cy="20116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lnSpc>
                <a:spcPct val="115000"/>
              </a:lnSpc>
              <a:spcAft>
                <a:spcPts val="200"/>
              </a:spcAft>
            </a:pPr>
            <a:r>
              <a:rPr sz="1300" b="0">
                <a:solidFill>
                  <a:srgbClr val="FFE14D"/>
                </a:solidFill>
                <a:latin typeface="Raleway"/>
              </a:rPr>
              <a:t>•  </a:t>
            </a:r>
            <a:r>
              <a:rPr sz="1300" b="0">
                <a:solidFill>
                  <a:srgbClr val="D7D4CC"/>
                </a:solidFill>
                <a:latin typeface="Raleway"/>
              </a:rPr>
              <a:t>ESP32-S3 with vector extensions, ₹300</a:t>
            </a:r>
          </a:p>
          <a:p>
            <a:pPr>
              <a:lnSpc>
                <a:spcPct val="115000"/>
              </a:lnSpc>
              <a:spcAft>
                <a:spcPts val="200"/>
              </a:spcAft>
            </a:pPr>
            <a:r>
              <a:rPr sz="1300" b="0">
                <a:solidFill>
                  <a:srgbClr val="FFE14D"/>
                </a:solidFill>
                <a:latin typeface="Raleway"/>
              </a:rPr>
              <a:t>•  </a:t>
            </a:r>
            <a:r>
              <a:rPr sz="1300" b="0">
                <a:solidFill>
                  <a:srgbClr val="D7D4CC"/>
                </a:solidFill>
                <a:latin typeface="Raleway"/>
              </a:rPr>
              <a:t>Metering AFE class used in smart meters</a:t>
            </a:r>
          </a:p>
          <a:p>
            <a:pPr>
              <a:lnSpc>
                <a:spcPct val="115000"/>
              </a:lnSpc>
              <a:spcAft>
                <a:spcPts val="200"/>
              </a:spcAft>
            </a:pPr>
            <a:r>
              <a:rPr sz="1300" b="0">
                <a:solidFill>
                  <a:srgbClr val="FFE14D"/>
                </a:solidFill>
                <a:latin typeface="Raleway"/>
              </a:rPr>
              <a:t>•  </a:t>
            </a:r>
            <a:r>
              <a:rPr sz="1300" b="0">
                <a:solidFill>
                  <a:srgbClr val="D7D4CC"/>
                </a:solidFill>
                <a:latin typeface="Raleway"/>
              </a:rPr>
              <a:t>Retrofit needs no inverter modification</a:t>
            </a:r>
          </a:p>
          <a:p>
            <a:pPr>
              <a:lnSpc>
                <a:spcPct val="115000"/>
              </a:lnSpc>
              <a:spcAft>
                <a:spcPts val="200"/>
              </a:spcAft>
            </a:pPr>
            <a:r>
              <a:rPr sz="1300" b="0">
                <a:solidFill>
                  <a:srgbClr val="FFE14D"/>
                </a:solidFill>
                <a:latin typeface="Raleway"/>
              </a:rPr>
              <a:t>•  </a:t>
            </a:r>
            <a:r>
              <a:rPr sz="1300" b="0">
                <a:solidFill>
                  <a:srgbClr val="D7D4CC"/>
                </a:solidFill>
                <a:latin typeface="Raleway"/>
              </a:rPr>
              <a:t>Embedded slots into the Smart Pro family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3182112"/>
            <a:ext cx="365760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0000"/>
              </a:lnSpc>
            </a:pPr>
            <a:r>
              <a:rPr sz="1450" b="1" i="0">
                <a:solidFill>
                  <a:srgbClr val="FFE14D"/>
                </a:solidFill>
                <a:latin typeface="Raleway"/>
              </a:rPr>
              <a:t>Business Value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3520440"/>
            <a:ext cx="3931920" cy="18288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lnSpc>
                <a:spcPct val="115000"/>
              </a:lnSpc>
              <a:spcAft>
                <a:spcPts val="200"/>
              </a:spcAft>
            </a:pPr>
            <a:r>
              <a:rPr sz="1300" b="0">
                <a:solidFill>
                  <a:srgbClr val="FFE14D"/>
                </a:solidFill>
                <a:latin typeface="Raleway"/>
              </a:rPr>
              <a:t>•  </a:t>
            </a:r>
            <a:r>
              <a:rPr sz="1300" b="0">
                <a:solidFill>
                  <a:srgbClr val="D7D4CC"/>
                </a:solidFill>
                <a:latin typeface="Raleway"/>
              </a:rPr>
              <a:t>Timely battery replacement revenue</a:t>
            </a:r>
          </a:p>
          <a:p>
            <a:pPr>
              <a:lnSpc>
                <a:spcPct val="115000"/>
              </a:lnSpc>
              <a:spcAft>
                <a:spcPts val="200"/>
              </a:spcAft>
            </a:pPr>
            <a:r>
              <a:rPr sz="1300" b="0">
                <a:solidFill>
                  <a:srgbClr val="FFE14D"/>
                </a:solidFill>
                <a:latin typeface="Raleway"/>
              </a:rPr>
              <a:t>•  </a:t>
            </a:r>
            <a:r>
              <a:rPr sz="1300" b="0">
                <a:solidFill>
                  <a:srgbClr val="D7D4CC"/>
                </a:solidFill>
                <a:latin typeface="Raleway"/>
              </a:rPr>
              <a:t>Warranty decided from signed evidence</a:t>
            </a:r>
          </a:p>
          <a:p>
            <a:pPr>
              <a:lnSpc>
                <a:spcPct val="115000"/>
              </a:lnSpc>
              <a:spcAft>
                <a:spcPts val="200"/>
              </a:spcAft>
            </a:pPr>
            <a:r>
              <a:rPr sz="1300" b="0">
                <a:solidFill>
                  <a:srgbClr val="FFE14D"/>
                </a:solidFill>
                <a:latin typeface="Raleway"/>
              </a:rPr>
              <a:t>•  </a:t>
            </a:r>
            <a:r>
              <a:rPr sz="1300" b="0">
                <a:solidFill>
                  <a:srgbClr val="D7D4CC"/>
                </a:solidFill>
                <a:latin typeface="Raleway"/>
              </a:rPr>
              <a:t>A premium “intelligent” tier</a:t>
            </a:r>
          </a:p>
          <a:p>
            <a:pPr>
              <a:lnSpc>
                <a:spcPct val="115000"/>
              </a:lnSpc>
              <a:spcAft>
                <a:spcPts val="200"/>
              </a:spcAft>
            </a:pPr>
            <a:r>
              <a:rPr sz="1300" b="0">
                <a:solidFill>
                  <a:srgbClr val="FFE14D"/>
                </a:solidFill>
                <a:latin typeface="Raleway"/>
              </a:rPr>
              <a:t>•  </a:t>
            </a:r>
            <a:r>
              <a:rPr sz="1300" b="0">
                <a:solidFill>
                  <a:srgbClr val="D7D4CC"/>
                </a:solidFill>
                <a:latin typeface="Raleway"/>
              </a:rPr>
              <a:t>A fleet-data moat no competitor can buy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82312" y="1353312"/>
            <a:ext cx="365760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0000"/>
              </a:lnSpc>
            </a:pPr>
            <a:r>
              <a:rPr sz="1450" b="1" i="0">
                <a:solidFill>
                  <a:srgbClr val="FFE14D"/>
                </a:solidFill>
                <a:latin typeface="Raleway"/>
              </a:rPr>
              <a:t>Validation Targets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82312" y="1691640"/>
            <a:ext cx="4114800" cy="20116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lnSpc>
                <a:spcPct val="115000"/>
              </a:lnSpc>
              <a:spcAft>
                <a:spcPts val="200"/>
              </a:spcAft>
            </a:pPr>
            <a:r>
              <a:rPr sz="1300" b="0">
                <a:solidFill>
                  <a:srgbClr val="FFE14D"/>
                </a:solidFill>
                <a:latin typeface="Raleway"/>
              </a:rPr>
              <a:t>•  </a:t>
            </a:r>
            <a:r>
              <a:rPr sz="1300" b="0">
                <a:solidFill>
                  <a:srgbClr val="D7D4CC"/>
                </a:solidFill>
                <a:latin typeface="Raleway"/>
              </a:rPr>
              <a:t>SoC within 3 % on reference shunts</a:t>
            </a:r>
          </a:p>
          <a:p>
            <a:pPr>
              <a:lnSpc>
                <a:spcPct val="115000"/>
              </a:lnSpc>
              <a:spcAft>
                <a:spcPts val="200"/>
              </a:spcAft>
            </a:pPr>
            <a:r>
              <a:rPr sz="1300" b="0">
                <a:solidFill>
                  <a:srgbClr val="FFE14D"/>
                </a:solidFill>
                <a:latin typeface="Raleway"/>
              </a:rPr>
              <a:t>•  </a:t>
            </a:r>
            <a:r>
              <a:rPr sz="1300" b="0">
                <a:solidFill>
                  <a:srgbClr val="D7D4CC"/>
                </a:solidFill>
                <a:latin typeface="Raleway"/>
              </a:rPr>
              <a:t>≥ 75 % RUL-window hit-rate</a:t>
            </a:r>
          </a:p>
          <a:p>
            <a:pPr>
              <a:lnSpc>
                <a:spcPct val="115000"/>
              </a:lnSpc>
              <a:spcAft>
                <a:spcPts val="200"/>
              </a:spcAft>
            </a:pPr>
            <a:r>
              <a:rPr sz="1300" b="0">
                <a:solidFill>
                  <a:srgbClr val="FFE14D"/>
                </a:solidFill>
                <a:latin typeface="Raleway"/>
              </a:rPr>
              <a:t>•  </a:t>
            </a:r>
            <a:r>
              <a:rPr sz="1300" b="0">
                <a:solidFill>
                  <a:srgbClr val="D7D4CC"/>
                </a:solidFill>
                <a:latin typeface="Raleway"/>
              </a:rPr>
              <a:t>Zero unsafe sheds; fridge/AC F1 ≥ 0.8</a:t>
            </a:r>
          </a:p>
          <a:p>
            <a:pPr>
              <a:lnSpc>
                <a:spcPct val="115000"/>
              </a:lnSpc>
              <a:spcAft>
                <a:spcPts val="200"/>
              </a:spcAft>
            </a:pPr>
            <a:r>
              <a:rPr sz="1300" b="0">
                <a:solidFill>
                  <a:srgbClr val="FFE14D"/>
                </a:solidFill>
                <a:latin typeface="Raleway"/>
              </a:rPr>
              <a:t>•  </a:t>
            </a:r>
            <a:r>
              <a:rPr sz="1300" b="0">
                <a:solidFill>
                  <a:srgbClr val="D7D4CC"/>
                </a:solidFill>
                <a:latin typeface="Raleway"/>
              </a:rPr>
              <a:t>Life-extension % measured, not assumed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82312" y="3182112"/>
            <a:ext cx="365760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0000"/>
              </a:lnSpc>
            </a:pPr>
            <a:r>
              <a:rPr sz="1450" b="1" i="0">
                <a:solidFill>
                  <a:srgbClr val="FFE14D"/>
                </a:solidFill>
                <a:latin typeface="Raleway"/>
              </a:rPr>
              <a:t>What We Need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82312" y="3520440"/>
            <a:ext cx="4114800" cy="18288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lnSpc>
                <a:spcPct val="115000"/>
              </a:lnSpc>
              <a:spcAft>
                <a:spcPts val="200"/>
              </a:spcAft>
            </a:pPr>
            <a:r>
              <a:rPr sz="1300" b="0">
                <a:solidFill>
                  <a:srgbClr val="FFE14D"/>
                </a:solidFill>
                <a:latin typeface="Raleway"/>
              </a:rPr>
              <a:t>•  </a:t>
            </a:r>
            <a:r>
              <a:rPr sz="1300" b="0">
                <a:solidFill>
                  <a:srgbClr val="D7D4CC"/>
                </a:solidFill>
                <a:latin typeface="Raleway"/>
              </a:rPr>
              <a:t>ESP32-S3 bench hardware</a:t>
            </a:r>
          </a:p>
          <a:p>
            <a:pPr>
              <a:lnSpc>
                <a:spcPct val="115000"/>
              </a:lnSpc>
              <a:spcAft>
                <a:spcPts val="200"/>
              </a:spcAft>
            </a:pPr>
            <a:r>
              <a:rPr sz="1300" b="0">
                <a:solidFill>
                  <a:srgbClr val="FFE14D"/>
                </a:solidFill>
                <a:latin typeface="Raleway"/>
              </a:rPr>
              <a:t>•  </a:t>
            </a:r>
            <a:r>
              <a:rPr sz="1300" b="0">
                <a:solidFill>
                  <a:srgbClr val="D7D4CC"/>
                </a:solidFill>
                <a:latin typeface="Raleway"/>
              </a:rPr>
              <a:t>One opened Prime-series inverter + charger schematic</a:t>
            </a:r>
          </a:p>
          <a:p>
            <a:pPr>
              <a:lnSpc>
                <a:spcPct val="115000"/>
              </a:lnSpc>
              <a:spcAft>
                <a:spcPts val="200"/>
              </a:spcAft>
            </a:pPr>
            <a:r>
              <a:rPr sz="1300" b="0">
                <a:solidFill>
                  <a:srgbClr val="FFE14D"/>
                </a:solidFill>
                <a:latin typeface="Raleway"/>
              </a:rPr>
              <a:t>•  </a:t>
            </a:r>
            <a:r>
              <a:rPr sz="1300" b="0">
                <a:solidFill>
                  <a:srgbClr val="D7D4CC"/>
                </a:solidFill>
                <a:latin typeface="Raleway"/>
              </a:rPr>
              <a:t>Batteries and cyclers for Gate 1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77240" y="4983480"/>
            <a:ext cx="27432" cy="2157984"/>
          </a:xfrm>
          <a:prstGeom prst="rect">
            <a:avLst/>
          </a:prstGeom>
          <a:solidFill>
            <a:srgbClr val="5F5F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594360" y="4983480"/>
            <a:ext cx="384048" cy="384048"/>
          </a:xfrm>
          <a:prstGeom prst="ellipse">
            <a:avLst/>
          </a:prstGeom>
          <a:solidFill>
            <a:srgbClr val="4646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94360" y="5010912"/>
            <a:ext cx="384048" cy="32918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lnSpc>
                <a:spcPct val="110000"/>
              </a:lnSpc>
            </a:pPr>
            <a:r>
              <a:rPr sz="1700" b="0" i="0">
                <a:solidFill>
                  <a:srgbClr val="FFFFFF"/>
                </a:solidFill>
                <a:latin typeface="Raleway"/>
              </a:rPr>
              <a:t>1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60120" y="5166360"/>
            <a:ext cx="502920" cy="27432"/>
          </a:xfrm>
          <a:prstGeom prst="rect">
            <a:avLst/>
          </a:prstGeom>
          <a:solidFill>
            <a:srgbClr val="5F5F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627631" y="5001768"/>
            <a:ext cx="7315200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1" i="0">
                <a:solidFill>
                  <a:srgbClr val="FFFFFF"/>
                </a:solidFill>
                <a:latin typeface="Raleway"/>
              </a:rPr>
              <a:t>Gate 1 · Dataset (6–8 months)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27631" y="5349240"/>
            <a:ext cx="7315200" cy="5486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0000"/>
              </a:lnSpc>
            </a:pPr>
            <a:r>
              <a:rPr sz="1350" b="0" i="0">
                <a:solidFill>
                  <a:srgbClr val="D7D4CC"/>
                </a:solidFill>
                <a:latin typeface="Raleway"/>
              </a:rPr>
              <a:t>24–36 tubular batteries, 3 temperatures × 3 depths × 2 regimes in the Kochi reliability lab → real SoH labels</a:t>
            </a:r>
          </a:p>
        </p:txBody>
      </p:sp>
      <p:sp>
        <p:nvSpPr>
          <p:cNvPr id="21" name="Oval 20"/>
          <p:cNvSpPr/>
          <p:nvPr/>
        </p:nvSpPr>
        <p:spPr>
          <a:xfrm>
            <a:off x="594360" y="5879592"/>
            <a:ext cx="384048" cy="384048"/>
          </a:xfrm>
          <a:prstGeom prst="ellipse">
            <a:avLst/>
          </a:prstGeom>
          <a:solidFill>
            <a:srgbClr val="4646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94360" y="5907024"/>
            <a:ext cx="384048" cy="32918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lnSpc>
                <a:spcPct val="110000"/>
              </a:lnSpc>
            </a:pPr>
            <a:r>
              <a:rPr sz="1700" b="0" i="0">
                <a:solidFill>
                  <a:srgbClr val="FFFFFF"/>
                </a:solidFill>
                <a:latin typeface="Raleway"/>
              </a:rPr>
              <a:t>2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60120" y="6062472"/>
            <a:ext cx="502920" cy="27432"/>
          </a:xfrm>
          <a:prstGeom prst="rect">
            <a:avLst/>
          </a:prstGeom>
          <a:solidFill>
            <a:srgbClr val="5F5F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627631" y="5897880"/>
            <a:ext cx="7315200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1" i="0">
                <a:solidFill>
                  <a:srgbClr val="FFFFFF"/>
                </a:solidFill>
                <a:latin typeface="Raleway"/>
              </a:rPr>
              <a:t>Gate 2 · Field pilot (100 units, 6 months)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627631" y="6245352"/>
            <a:ext cx="7315200" cy="5486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0000"/>
              </a:lnSpc>
            </a:pPr>
            <a:r>
              <a:rPr sz="1350" b="0" i="0">
                <a:solidFill>
                  <a:srgbClr val="D7D4CC"/>
                </a:solidFill>
                <a:latin typeface="Raleway"/>
              </a:rPr>
              <a:t>SoC, RUL, shedding safety, Coach accuracy and power budget verified in real homes</a:t>
            </a:r>
          </a:p>
        </p:txBody>
      </p:sp>
      <p:sp>
        <p:nvSpPr>
          <p:cNvPr id="26" name="Oval 25"/>
          <p:cNvSpPr/>
          <p:nvPr/>
        </p:nvSpPr>
        <p:spPr>
          <a:xfrm>
            <a:off x="594360" y="6775704"/>
            <a:ext cx="384048" cy="384048"/>
          </a:xfrm>
          <a:prstGeom prst="ellipse">
            <a:avLst/>
          </a:prstGeom>
          <a:solidFill>
            <a:srgbClr val="4646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94360" y="6803136"/>
            <a:ext cx="384048" cy="32918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lnSpc>
                <a:spcPct val="110000"/>
              </a:lnSpc>
            </a:pPr>
            <a:r>
              <a:rPr sz="1700" b="0" i="0">
                <a:solidFill>
                  <a:srgbClr val="FFFFFF"/>
                </a:solidFill>
                <a:latin typeface="Raleway"/>
              </a:rPr>
              <a:t>3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60120" y="6958584"/>
            <a:ext cx="502920" cy="27432"/>
          </a:xfrm>
          <a:prstGeom prst="rect">
            <a:avLst/>
          </a:prstGeom>
          <a:solidFill>
            <a:srgbClr val="5F5F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627631" y="6793992"/>
            <a:ext cx="7315200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1" i="0">
                <a:solidFill>
                  <a:srgbClr val="FFFFFF"/>
                </a:solidFill>
                <a:latin typeface="Raleway"/>
              </a:rPr>
              <a:t>Gate 3 · Learning stability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627631" y="7141464"/>
            <a:ext cx="7315200" cy="5486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0000"/>
              </a:lnSpc>
            </a:pPr>
            <a:r>
              <a:rPr sz="1350" b="0" i="0">
                <a:solidFill>
                  <a:srgbClr val="D7D4CC"/>
                </a:solidFill>
                <a:latin typeface="Raleway"/>
              </a:rPr>
              <a:t>Three model releases with no regression; embedded SKU ships in the Smart Pro family</a:t>
            </a:r>
          </a:p>
        </p:txBody>
      </p:sp>
      <p:pic>
        <p:nvPicPr>
          <p:cNvPr id="31" name="Picture 30" descr="vguard-big-idea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10744" y="7616952"/>
            <a:ext cx="1899666" cy="493776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365760" y="7699248"/>
            <a:ext cx="7315200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 i="0">
                <a:solidFill>
                  <a:srgbClr val="9A9A9E"/>
                </a:solidFill>
                <a:latin typeface="Raleway"/>
              </a:rPr>
              <a:t>V-Guard Sentinel · Team Codey Tingle (TI3271) · Big Idea Tech 2026, Track 4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727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144000" y="0"/>
            <a:ext cx="5486400" cy="8229600"/>
          </a:xfrm>
          <a:prstGeom prst="rect">
            <a:avLst/>
          </a:prstGeom>
          <a:solidFill>
            <a:srgbClr val="1B1B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panel_clo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22960" y="2011680"/>
            <a:ext cx="8046720" cy="29260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25000"/>
              </a:lnSpc>
            </a:pPr>
            <a:r>
              <a:rPr sz="3800" b="1" i="0">
                <a:solidFill>
                  <a:srgbClr val="FFE14D"/>
                </a:solidFill>
                <a:latin typeface="Raleway"/>
              </a:rPr>
              <a:t>Coil off means loads on.</a:t>
            </a:r>
          </a:p>
          <a:p>
            <a:pPr algn="l">
              <a:lnSpc>
                <a:spcPct val="125000"/>
              </a:lnSpc>
            </a:pPr>
            <a:r>
              <a:rPr sz="3800" b="1" i="0">
                <a:solidFill>
                  <a:srgbClr val="FFE14D"/>
                </a:solidFill>
                <a:latin typeface="Raleway"/>
              </a:rPr>
              <a:t>A window, never a date.</a:t>
            </a:r>
          </a:p>
          <a:p>
            <a:pPr algn="l">
              <a:lnSpc>
                <a:spcPct val="125000"/>
              </a:lnSpc>
            </a:pPr>
            <a:r>
              <a:rPr sz="3800" b="1" i="0">
                <a:solidFill>
                  <a:srgbClr val="FFE14D"/>
                </a:solidFill>
                <a:latin typeface="Raleway"/>
              </a:rPr>
              <a:t>Offline first, fleet second.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5486400"/>
            <a:ext cx="8046720" cy="5486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0000"/>
              </a:lnSpc>
            </a:pPr>
            <a:r>
              <a:rPr sz="2200" b="0" i="0">
                <a:solidFill>
                  <a:srgbClr val="FFFFFF"/>
                </a:solidFill>
                <a:latin typeface="Raleway"/>
              </a:rPr>
              <a:t>V-Guard Sentinel — Team Codey Tingle (TI3271)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6126480"/>
            <a:ext cx="8046720" cy="9144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0" i="0">
                <a:solidFill>
                  <a:srgbClr val="D7D4CC"/>
                </a:solidFill>
                <a:latin typeface="Raleway"/>
              </a:rPr>
              <a:t>Big Idea Tech 2026 · Track 4 · Finale, Kochi, 24 September 2026</a:t>
            </a:r>
          </a:p>
        </p:txBody>
      </p:sp>
      <p:pic>
        <p:nvPicPr>
          <p:cNvPr id="8" name="Picture 7" descr="vguard-big-idea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10744" y="7616952"/>
            <a:ext cx="1899666" cy="493776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365760" y="7699248"/>
            <a:ext cx="7315200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 i="0">
                <a:solidFill>
                  <a:srgbClr val="9A9A9E"/>
                </a:solidFill>
                <a:latin typeface="Raleway"/>
              </a:rPr>
              <a:t>V-Guard Sentinel · Team Codey Tingle (TI3271) · Big Idea Tech 2026, Track 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