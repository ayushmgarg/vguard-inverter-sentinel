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91440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guard-big-ide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"/>
            <a:ext cx="2638425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828800"/>
            <a:ext cx="109728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FDC300"/>
                </a:solidFill>
                <a:latin typeface="Arial"/>
              </a:rPr>
              <a:t>V-Guard Sentinel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FFFFFF"/>
                </a:solidFill>
                <a:latin typeface="Arial"/>
              </a:rPr>
              <a:t>One AI Core that makes the home inverter and its battery self-aware — predicting failure, learning the home, acting on its own, offline.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2336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DC300"/>
                </a:solidFill>
                <a:latin typeface="Arial"/>
              </a:rPr>
              <a:t>Track 4 · Reimagining V-Guard for an AI-Powered Era — From Smart Products to Intelligent Products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Team Codey Tingle (TI3271)  ·  Ayush Manoj Garg · Eshan Shukla · Tanay Chaplot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Finale · Kochi · 24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640080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00104"/>
                </a:solidFill>
                <a:latin typeface="Arial"/>
              </a:rPr>
              <a:t>The battery is the silent point of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32688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Every Indian home inverter is fast at switching and blind about the one part that actually fails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pic>
        <p:nvPicPr>
          <p:cNvPr id="9" name="Picture 8" descr="problem_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972800" cy="32533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4572000"/>
            <a:ext cx="10789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F39200"/>
                </a:solidFill>
                <a:latin typeface="Arial"/>
              </a:rPr>
              <a:t>▪  </a:t>
            </a:r>
            <a:r>
              <a:rPr b="1" sz="1500">
                <a:solidFill>
                  <a:srgbClr val="221E1F"/>
                </a:solidFill>
                <a:latin typeface="Arial"/>
              </a:rPr>
              <a:t>The pain:</a:t>
            </a:r>
            <a:r>
              <a:rPr sz="1500">
                <a:solidFill>
                  <a:srgbClr val="221E1F"/>
                </a:solidFill>
                <a:latin typeface="Arial"/>
              </a:rPr>
              <a:t> a tubular battery dies without warning — food spoils, work stops, the replacement is a ₹15–18 k surprise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39200"/>
                </a:solidFill>
                <a:latin typeface="Arial"/>
              </a:rPr>
              <a:t>▪  </a:t>
            </a:r>
            <a:r>
              <a:rPr b="1" sz="1500">
                <a:solidFill>
                  <a:srgbClr val="221E1F"/>
                </a:solidFill>
                <a:latin typeface="Arial"/>
              </a:rPr>
              <a:t>The cost to V-Guard:</a:t>
            </a:r>
            <a:r>
              <a:rPr sz="1500">
                <a:solidFill>
                  <a:srgbClr val="221E1F"/>
                </a:solidFill>
                <a:latin typeface="Arial"/>
              </a:rPr>
              <a:t> early failures land inside the flat warranty window; today's inverters sense voltage and current but turn none of it into foresight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39200"/>
                </a:solidFill>
                <a:latin typeface="Arial"/>
              </a:rPr>
              <a:t>▪  </a:t>
            </a:r>
            <a:r>
              <a:rPr b="1" sz="1500">
                <a:solidFill>
                  <a:srgbClr val="221E1F"/>
                </a:solidFill>
                <a:latin typeface="Arial"/>
              </a:rPr>
              <a:t>The gap:</a:t>
            </a:r>
            <a:r>
              <a:rPr sz="1500">
                <a:solidFill>
                  <a:srgbClr val="221E1F"/>
                </a:solidFill>
                <a:latin typeface="Arial"/>
              </a:rPr>
              <a:t> no Indian competitor ships on-device battery remaining-life prediction, autonomous load prioritisation, or offline appliance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640080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00104"/>
                </a:solidFill>
                <a:latin typeface="Arial"/>
              </a:rPr>
              <a:t>The idea: from smart to intelligent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32688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Smart products take commands. Intelligent products predict, learn and act — and do it without the cloud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pic>
        <p:nvPicPr>
          <p:cNvPr id="9" name="Picture 8" descr="positio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972800" cy="3924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07492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F39200"/>
                </a:solidFill>
                <a:latin typeface="Arial"/>
              </a:rPr>
              <a:t>▪  </a:t>
            </a:r>
            <a:r>
              <a:rPr b="1" sz="1500">
                <a:solidFill>
                  <a:srgbClr val="221E1F"/>
                </a:solidFill>
                <a:latin typeface="Arial"/>
              </a:rPr>
              <a:t>Sentinel</a:t>
            </a:r>
            <a:r>
              <a:rPr sz="1500">
                <a:solidFill>
                  <a:srgbClr val="221E1F"/>
                </a:solidFill>
                <a:latin typeface="Arial"/>
              </a:rPr>
              <a:t> is a small module — embedded in new V-Guard inverters, retrofitted to the installed base — that runs four intelligence engines on a ₹300 microcontroller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39200"/>
                </a:solidFill>
                <a:latin typeface="Arial"/>
              </a:rPr>
              <a:t>▪  </a:t>
            </a:r>
            <a:r>
              <a:rPr b="1" sz="1500">
                <a:solidFill>
                  <a:srgbClr val="221E1F"/>
                </a:solidFill>
                <a:latin typeface="Arial"/>
              </a:rPr>
              <a:t>Offline-first by design:</a:t>
            </a:r>
            <a:r>
              <a:rPr sz="1500">
                <a:solidFill>
                  <a:srgbClr val="221E1F"/>
                </a:solidFill>
                <a:latin typeface="Arial"/>
              </a:rPr>
              <a:t> every core function works with zero internet, which in India is a virtue, not a compromise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640080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00104"/>
                </a:solidFill>
                <a:latin typeface="Arial"/>
              </a:rPr>
              <a:t>What Sentinel physically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32688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A box beside the inverter: it reads the battery, watches the AC output, and switches loads through fail-safe contactors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pic>
        <p:nvPicPr>
          <p:cNvPr id="9" name="Picture 8" descr="pla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11247120" cy="56144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640080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00104"/>
                </a:solidFill>
                <a:latin typeface="Arial"/>
              </a:rPr>
              <a:t>Four engines, one 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2651760" cy="4206240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82296" cy="4206240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21E1F"/>
                </a:solidFill>
                <a:latin typeface="Arial"/>
              </a:rPr>
              <a:t>1 · Battery 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2377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1E1F"/>
                </a:solidFill>
                <a:latin typeface="Arial"/>
              </a:rPr>
              <a:t>Coulomb counting + Kalman filter fuse current, voltage and temperature into state of charge and internal resistance. A 28 k-parameter int8 network turns each outage cycle into a state-of-health band and a graded warning: “replace within 6–14 weeks”.
Signed health log → one-tap, data-backed warranty.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371600"/>
            <a:ext cx="2651760" cy="4206240"/>
          </a:xfrm>
          <a:prstGeom prst="rect">
            <a:avLst/>
          </a:prstGeom>
          <a:solidFill>
            <a:srgbClr val="F3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371600"/>
            <a:ext cx="82296" cy="4206240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46304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21E1F"/>
                </a:solidFill>
                <a:latin typeface="Arial"/>
              </a:rPr>
              <a:t>2 · Habit Autopilot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1920240"/>
            <a:ext cx="2377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1E1F"/>
                </a:solidFill>
                <a:latin typeface="Arial"/>
              </a:rPr>
              <a:t>Learns the home's load and outage rhythm in a 7×24 table. Detects a blackout in under 2 s by a 2-of-3 vote, then sheds heavy loads by tier with hysteresis so the fridge, lights and router last longest.
Coil off = loads on: every fault fails safe.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2651760" cy="4206240"/>
          </a:xfrm>
          <a:prstGeom prst="rect">
            <a:avLst/>
          </a:prstGeom>
          <a:solidFill>
            <a:srgbClr val="F3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82296" cy="4206240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46304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21E1F"/>
                </a:solidFill>
                <a:latin typeface="Arial"/>
              </a:rPr>
              <a:t>3 · Energy Coach &amp; Grid Shield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20240"/>
            <a:ext cx="2377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1E1F"/>
                </a:solidFill>
                <a:latin typeface="Arial"/>
              </a:rPr>
              <a:t>A metering front-end on the inverter output gives real and reactive power. Event-based appliance recognition names the big loads and their kWh; half-cycle RMS logs sags, swells and interruptions as appliance-protection evidence.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1371600"/>
            <a:ext cx="2651760" cy="4206240"/>
          </a:xfrm>
          <a:prstGeom prst="rect">
            <a:avLst/>
          </a:prstGeom>
          <a:solidFill>
            <a:srgbClr val="F3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1371600"/>
            <a:ext cx="82296" cy="4206240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46304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21E1F"/>
                </a:solidFill>
                <a:latin typeface="Arial"/>
              </a:rPr>
              <a:t>4 · Fleet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1920240"/>
            <a:ext cx="2377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1E1F"/>
                </a:solidFill>
                <a:latin typeface="Arial"/>
              </a:rPr>
              <a:t>Consented, pseudonymised per-cycle summaries (~1 KB/day) train better models centrally and return over the air. The moat is V-Guard's own fleet and aging data.
Federated learning is designed (Flower, DP-FTRL) and deliberately on hold.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6C757D"/>
                </a:solidFill>
                <a:latin typeface="Arial"/>
              </a:rPr>
              <a:t>Same core, same sensors, different models: the platform extends to pumps, stabilisers and water heaters.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640080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00104"/>
                </a:solidFill>
                <a:latin typeface="Arial"/>
              </a:rPr>
              <a:t>Engine 1 · How the ESP32 predicts battery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32688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Physics first, learning second: the model only sees quantities the lead-acid lifetime literature says govern wear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pic>
        <p:nvPicPr>
          <p:cNvPr id="9" name="Picture 8" descr="engine1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324822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452628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F39200"/>
                </a:solidFill>
                <a:latin typeface="Arial"/>
              </a:rPr>
              <a:t>▪  </a:t>
            </a:r>
            <a:r>
              <a:rPr b="1" sz="1400">
                <a:solidFill>
                  <a:srgbClr val="221E1F"/>
                </a:solidFill>
                <a:latin typeface="Arial"/>
              </a:rPr>
              <a:t>Estimator:</a:t>
            </a:r>
            <a:r>
              <a:rPr sz="1400">
                <a:solidFill>
                  <a:srgbClr val="221E1F"/>
                </a:solidFill>
                <a:latin typeface="Arial"/>
              </a:rPr>
              <a:t> 3-state extended Kalman filter (SoC, polarisation, R0); SoC re-anchors at 100 % on charge-current taper and to the OCV table only after a true rest with the charger off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39200"/>
                </a:solidFill>
                <a:latin typeface="Arial"/>
              </a:rPr>
              <a:t>▪  </a:t>
            </a:r>
            <a:r>
              <a:rPr b="1" sz="1400">
                <a:solidFill>
                  <a:srgbClr val="221E1F"/>
                </a:solidFill>
                <a:latin typeface="Arial"/>
              </a:rPr>
              <a:t>Features:</a:t>
            </a:r>
            <a:r>
              <a:rPr sz="1400">
                <a:solidFill>
                  <a:srgbClr val="221E1F"/>
                </a:solidFill>
                <a:latin typeface="Arial"/>
              </a:rPr>
              <a:t> resistance and sag vs the battery's own baseline, throughput, depth of discharge, coulombic efficiency, charge acceptance, dQ/dV, Arrhenius heat stress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39200"/>
                </a:solidFill>
                <a:latin typeface="Arial"/>
              </a:rPr>
              <a:t>▪  </a:t>
            </a:r>
            <a:r>
              <a:rPr b="1" sz="1400">
                <a:solidFill>
                  <a:srgbClr val="221E1F"/>
                </a:solidFill>
                <a:latin typeface="Arial"/>
              </a:rPr>
              <a:t>Model:</a:t>
            </a:r>
            <a:r>
              <a:rPr sz="1400">
                <a:solidFill>
                  <a:srgbClr val="221E1F"/>
                </a:solidFill>
                <a:latin typeface="Arial"/>
              </a:rPr>
              <a:t> 1-D CNN over the last 30 cycles, three seeds averaged, quantile heads P10/P50/P90 with conformal calibration — a window, never a date; 16 KB of RAM, ~1–10 ms per inference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640080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00104"/>
                </a:solidFill>
                <a:latin typeface="Arial"/>
              </a:rPr>
              <a:t>Engine 1 · What the prototype measures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32688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All numbers from synthetic tubular batteries with an independent, never-touched test split — honest, not flattering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pic>
        <p:nvPicPr>
          <p:cNvPr id="9" name="Picture 8" descr="soh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280160"/>
            <a:ext cx="8686800" cy="344728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4846320"/>
            <a:ext cx="23774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21E1F"/>
                </a:solidFill>
                <a:latin typeface="Arial"/>
              </a:rPr>
              <a:t>SoH MAE / RMSE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846320"/>
            <a:ext cx="2926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39200"/>
                </a:solidFill>
                <a:latin typeface="Arial"/>
              </a:rPr>
              <a:t>8.2 / 9.6 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846320"/>
            <a:ext cx="5943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C757D"/>
                </a:solidFill>
                <a:latin typeface="Arial"/>
              </a:rPr>
              <a:t>target ≤ 3 pt after the aging campaign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93792"/>
            <a:ext cx="23774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21E1F"/>
                </a:solidFill>
                <a:latin typeface="Arial"/>
              </a:rPr>
              <a:t>80 % band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5193792"/>
            <a:ext cx="2926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39200"/>
                </a:solidFill>
                <a:latin typeface="Arial"/>
              </a:rPr>
              <a:t>0.66 → 0.99 after conformal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5193792"/>
            <a:ext cx="5943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C757D"/>
                </a:solidFill>
                <a:latin typeface="Arial"/>
              </a:rPr>
              <a:t>calibrated but too wide (34 pt) on 3 batteries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41264"/>
            <a:ext cx="23774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21E1F"/>
                </a:solidFill>
                <a:latin typeface="Arial"/>
              </a:rPr>
              <a:t>EKF SoC 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541264"/>
            <a:ext cx="2926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39200"/>
                </a:solidFill>
                <a:latin typeface="Arial"/>
              </a:rPr>
              <a:t>±3 % 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5541264"/>
            <a:ext cx="5943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C757D"/>
                </a:solidFill>
                <a:latin typeface="Arial"/>
              </a:rPr>
              <a:t>vs 7 %/week drift for a naive counter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88736"/>
            <a:ext cx="23774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21E1F"/>
                </a:solidFill>
                <a:latin typeface="Arial"/>
              </a:rPr>
              <a:t>int8 vs float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5888736"/>
            <a:ext cx="2926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39200"/>
                </a:solidFill>
                <a:latin typeface="Arial"/>
              </a:rPr>
              <a:t>+0.01 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5888736"/>
            <a:ext cx="5943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C757D"/>
                </a:solidFill>
                <a:latin typeface="Arial"/>
              </a:rPr>
              <a:t>3 seeds → 3 × 36.7 KB .tflite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640080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00104"/>
                </a:solidFill>
                <a:latin typeface="Arial"/>
              </a:rPr>
              <a:t>Engine 2 · Autopilot: essentials alive, fail-safe always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pic>
        <p:nvPicPr>
          <p:cNvPr id="8" name="Picture 7" descr="autopilot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766560" cy="2750423"/>
          </a:xfrm>
          <a:prstGeom prst="rect">
            <a:avLst/>
          </a:prstGeom>
        </p:spPr>
      </p:pic>
      <p:pic>
        <p:nvPicPr>
          <p:cNvPr id="9" name="Picture 8" descr="failsafe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69080"/>
            <a:ext cx="6766560" cy="18414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80960" y="1371600"/>
            <a:ext cx="4206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F39200"/>
                </a:solidFill>
                <a:latin typeface="Arial"/>
              </a:rPr>
              <a:t>▪  </a:t>
            </a:r>
            <a:r>
              <a:rPr b="1" sz="1300">
                <a:solidFill>
                  <a:srgbClr val="221E1F"/>
                </a:solidFill>
                <a:latin typeface="Arial"/>
              </a:rPr>
              <a:t>Learns, transparently:</a:t>
            </a:r>
            <a:r>
              <a:rPr sz="1300">
                <a:solidFill>
                  <a:srgbClr val="221E1F"/>
                </a:solidFill>
                <a:latin typeface="Arial"/>
              </a:rPr>
              <a:t> hour-of-week load and outage tables (4.7 KB) — a judge can read them; single-home load is too noisy for a neural forecaster to beat them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39200"/>
                </a:solidFill>
                <a:latin typeface="Arial"/>
              </a:rPr>
              <a:t>▪  </a:t>
            </a:r>
            <a:r>
              <a:rPr b="1" sz="1300">
                <a:solidFill>
                  <a:srgbClr val="221E1F"/>
                </a:solidFill>
                <a:latin typeface="Arial"/>
              </a:rPr>
              <a:t>Forecasts the roster, not the storm:</a:t>
            </a:r>
            <a:r>
              <a:rPr sz="1300">
                <a:solidFill>
                  <a:srgbClr val="221E1F"/>
                </a:solidFill>
                <a:latin typeface="Arial"/>
              </a:rPr>
              <a:t> scheduled cuts are predictable from the home's own history; faults are detected, not predicted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39200"/>
                </a:solidFill>
                <a:latin typeface="Arial"/>
              </a:rPr>
              <a:t>▪  </a:t>
            </a:r>
            <a:r>
              <a:rPr b="1" sz="1300">
                <a:solidFill>
                  <a:srgbClr val="221E1F"/>
                </a:solidFill>
                <a:latin typeface="Arial"/>
              </a:rPr>
              <a:t>Tiers:</a:t>
            </a:r>
            <a:r>
              <a:rPr sz="1300">
                <a:solidFill>
                  <a:srgbClr val="221E1F"/>
                </a:solidFill>
                <a:latin typeface="Arial"/>
              </a:rPr>
              <a:t> T1 never shed · T2 defer at 55 % · T3 shed at 40 %, 15-point hysteresis, 3–5 min compressor dwell, 30-min user override that cannot beat the safety floor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39200"/>
                </a:solidFill>
                <a:latin typeface="Arial"/>
              </a:rPr>
              <a:t>▪  </a:t>
            </a:r>
            <a:r>
              <a:rPr b="1" sz="1300">
                <a:solidFill>
                  <a:srgbClr val="221E1F"/>
                </a:solidFill>
                <a:latin typeface="Arial"/>
              </a:rPr>
              <a:t>Measured:</a:t>
            </a:r>
            <a:r>
              <a:rPr sz="1300">
                <a:solidFill>
                  <a:srgbClr val="221E1F"/>
                </a:solidFill>
                <a:latin typeface="Arial"/>
              </a:rPr>
              <a:t> 65 tests, 50/50 scripted scenarios in C, zero chatter, zero dwell violations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640080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00104"/>
                </a:solidFill>
                <a:latin typeface="Arial"/>
              </a:rPr>
              <a:t>Engine 3 · Energy Coach and Grid Shield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32688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Both need one thing the report's first BOM lacked: a real metering front-end on the AC output — now designed in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pic>
        <p:nvPicPr>
          <p:cNvPr id="9" name="Picture 8" descr="nilm_ev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5669280" cy="2279401"/>
          </a:xfrm>
          <a:prstGeom prst="rect">
            <a:avLst/>
          </a:prstGeom>
        </p:spPr>
      </p:pic>
      <p:pic>
        <p:nvPicPr>
          <p:cNvPr id="10" name="Picture 9" descr="pq_d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25880"/>
            <a:ext cx="5669280" cy="228435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7033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F39200"/>
                </a:solidFill>
                <a:latin typeface="Arial"/>
              </a:rPr>
              <a:t>▪  </a:t>
            </a:r>
            <a:r>
              <a:rPr b="1" sz="1200">
                <a:solidFill>
                  <a:srgbClr val="221E1F"/>
                </a:solidFill>
                <a:latin typeface="Arial"/>
              </a:rPr>
              <a:t>How the ESP32 tells appliances apart:</a:t>
            </a:r>
            <a:r>
              <a:rPr sz="1200">
                <a:solidFill>
                  <a:srgbClr val="221E1F"/>
                </a:solidFill>
                <a:latin typeface="Arial"/>
              </a:rPr>
              <a:t> each ON/OFF step becomes a 13-number signature — ΔP, ΔQ, phase angle, inrush ratio, settling time, harmonic share, duration, periodicity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39200"/>
                </a:solidFill>
                <a:latin typeface="Arial"/>
              </a:rPr>
              <a:t>▪  </a:t>
            </a:r>
            <a:r>
              <a:rPr b="1" sz="1200">
                <a:solidFill>
                  <a:srgbClr val="221E1F"/>
                </a:solidFill>
                <a:latin typeface="Arial"/>
              </a:rPr>
              <a:t>Per-home library:</a:t>
            </a:r>
            <a:r>
              <a:rPr sz="1200">
                <a:solidFill>
                  <a:srgbClr val="221E1F"/>
                </a:solidFill>
                <a:latin typeface="Arial"/>
              </a:rPr>
              <a:t> rules + k-NN, seeded from an Indian appliance table, grown by clustering, named by the user (“what just turned on?”)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39200"/>
                </a:solidFill>
                <a:latin typeface="Arial"/>
              </a:rPr>
              <a:t>▪  </a:t>
            </a:r>
            <a:r>
              <a:rPr b="1" sz="1200">
                <a:solidFill>
                  <a:srgbClr val="221E1F"/>
                </a:solidFill>
                <a:latin typeface="Arial"/>
              </a:rPr>
              <a:t>Honest scope:</a:t>
            </a:r>
            <a:r>
              <a:rPr sz="1200">
                <a:solidFill>
                  <a:srgbClr val="221E1F"/>
                </a:solidFill>
                <a:latin typeface="Arial"/>
              </a:rPr>
              <a:t> fridge, AC, geyser, pump, iron/kettle class — not two identical fans, not loads under 40 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7033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F39200"/>
                </a:solidFill>
                <a:latin typeface="Arial"/>
              </a:rPr>
              <a:t>▪  </a:t>
            </a:r>
            <a:r>
              <a:rPr b="1" sz="1200">
                <a:solidFill>
                  <a:srgbClr val="221E1F"/>
                </a:solidFill>
                <a:latin typeface="Arial"/>
              </a:rPr>
              <a:t>Half-cycle RMS</a:t>
            </a:r>
            <a:r>
              <a:rPr sz="1200">
                <a:solidFill>
                  <a:srgbClr val="221E1F"/>
                </a:solidFill>
                <a:latin typeface="Arial"/>
              </a:rPr>
              <a:t> on an isolated tap, IEEE 1159 buckets, 4-cycle FFT for THD; Class-S-like, never “Class A”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39200"/>
                </a:solidFill>
                <a:latin typeface="Arial"/>
              </a:rPr>
              <a:t>▪  </a:t>
            </a:r>
            <a:r>
              <a:rPr b="1" sz="1200">
                <a:solidFill>
                  <a:srgbClr val="221E1F"/>
                </a:solidFill>
                <a:latin typeface="Arial"/>
              </a:rPr>
              <a:t>Measured:</a:t>
            </a:r>
            <a:r>
              <a:rPr sz="1200">
                <a:solidFill>
                  <a:srgbClr val="221E1F"/>
                </a:solidFill>
                <a:latin typeface="Arial"/>
              </a:rPr>
              <a:t> 13/13 dips detected, magnitude error &lt; 1 %, duration error 0 half-cycles; event recall 1.00, fridge F1 0.97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39200"/>
                </a:solidFill>
                <a:latin typeface="Arial"/>
              </a:rPr>
              <a:t>▪  </a:t>
            </a:r>
            <a:r>
              <a:rPr b="1" sz="1200">
                <a:solidFill>
                  <a:srgbClr val="221E1F"/>
                </a:solidFill>
                <a:latin typeface="Arial"/>
              </a:rPr>
              <a:t>Value:</a:t>
            </a:r>
            <a:r>
              <a:rPr sz="1200">
                <a:solidFill>
                  <a:srgbClr val="221E1F"/>
                </a:solidFill>
                <a:latin typeface="Arial"/>
              </a:rPr>
              <a:t> a dated, signed record of utility-caused events — appliance-protection evidence, not a trip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640080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00104"/>
                </a:solidFill>
                <a:latin typeface="Arial"/>
              </a:rPr>
              <a:t>The product: two SKUs, one 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32688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Embedded in new V-Guard inverters, or a 30-minute electrician retrofit on the installed 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pic>
        <p:nvPicPr>
          <p:cNvPr id="9" name="Picture 8" descr="cost_t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675120" cy="26771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406640" y="1371600"/>
            <a:ext cx="4389120" cy="2240280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371600"/>
            <a:ext cx="82296" cy="2240280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1463040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21E1F"/>
                </a:solidFill>
                <a:latin typeface="Arial"/>
              </a:rPr>
              <a:t>Sentinel-Embedded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1920240"/>
            <a:ext cx="4114800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21E1F"/>
                </a:solidFill>
                <a:latin typeface="Arial"/>
              </a:rPr>
              <a:t>Daughter-board inside the inverter. Kelvin-taps the inverter's own shunt; controls the charger through a DAC on the PWM feedback node with a hardware voltage/thermal ceiling. Adaptive charging and the life-extension claim live here only.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3794760"/>
            <a:ext cx="4389120" cy="2240280"/>
          </a:xfrm>
          <a:prstGeom prst="rect">
            <a:avLst/>
          </a:prstGeom>
          <a:solidFill>
            <a:srgbClr val="F3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06640" y="3794760"/>
            <a:ext cx="82296" cy="2240280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3886200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21E1F"/>
                </a:solidFill>
                <a:latin typeface="Arial"/>
              </a:rPr>
              <a:t>Sentinel-Retrofit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4343400"/>
            <a:ext cx="4114800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21E1F"/>
                </a:solidFill>
                <a:latin typeface="Arial"/>
              </a:rPr>
              <a:t>Box beside the inverter: external 0.1 mΩ shunt in the battery negative lead, NTC on the battery, CT + voltage tap on AC-OUT, 4 fail-safe contactor channels. Advisory on charging, protective on loads. ~2.6 mA average draw — 0.04 % of a 150 Ah battery per day.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94960"/>
            <a:ext cx="64008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6C757D"/>
                </a:solidFill>
                <a:latin typeface="Arial"/>
              </a:rPr>
              <a:t>Parts added versus the submitted report: ATM90E32AS metering AFE + CT, DS3231 clock, ATECC608 secure element, driver-board supervisory timer. Every part is tied to the engine it enables.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640080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00104"/>
                </a:solidFill>
                <a:latin typeface="Arial"/>
              </a:rPr>
              <a:t>The prototype: what actually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32688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Not a slide deck — a codebase: every engine implemented in Python and C, tested, with the same C linked into the firmware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pic>
        <p:nvPicPr>
          <p:cNvPr id="9" name="Picture 8" descr="tests_per_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400800" cy="284202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0" y="1371600"/>
            <a:ext cx="4754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F39200"/>
                </a:solidFill>
                <a:latin typeface="Arial"/>
              </a:rPr>
              <a:t>▪  </a:t>
            </a:r>
            <a:r>
              <a:rPr b="1" sz="1300">
                <a:solidFill>
                  <a:srgbClr val="221E1F"/>
                </a:solidFill>
                <a:latin typeface="Arial"/>
              </a:rPr>
              <a:t>Simulator + features:</a:t>
            </a:r>
            <a:r>
              <a:rPr sz="1300">
                <a:solidFill>
                  <a:srgbClr val="221E1F"/>
                </a:solidFill>
                <a:latin typeface="Arial"/>
              </a:rPr>
              <a:t> synthetic Indian tubular duty cycles at 1 Hz → 14 + 6 physics features per outage cycle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39200"/>
                </a:solidFill>
                <a:latin typeface="Arial"/>
              </a:rPr>
              <a:t>▪  </a:t>
            </a:r>
            <a:r>
              <a:rPr b="1" sz="1300">
                <a:solidFill>
                  <a:srgbClr val="221E1F"/>
                </a:solidFill>
                <a:latin typeface="Arial"/>
              </a:rPr>
              <a:t>Model pipeline:</a:t>
            </a:r>
            <a:r>
              <a:rPr sz="1300">
                <a:solidFill>
                  <a:srgbClr val="221E1F"/>
                </a:solidFill>
                <a:latin typeface="Arial"/>
              </a:rPr>
              <a:t> train → evaluate → int8 quantise → full-int8 .tflite (3 seeds), independent test split, leakage guard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39200"/>
                </a:solidFill>
                <a:latin typeface="Arial"/>
              </a:rPr>
              <a:t>▪  </a:t>
            </a:r>
            <a:r>
              <a:rPr b="1" sz="1300">
                <a:solidFill>
                  <a:srgbClr val="221E1F"/>
                </a:solidFill>
                <a:latin typeface="Arial"/>
              </a:rPr>
              <a:t>EKF, autopilot, NILM, PQ, health log, charger policy:</a:t>
            </a:r>
            <a:r>
              <a:rPr sz="1300">
                <a:solidFill>
                  <a:srgbClr val="221E1F"/>
                </a:solidFill>
                <a:latin typeface="Arial"/>
              </a:rPr>
              <a:t> Python reference + C99 port, bit-identical outputs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39200"/>
                </a:solidFill>
                <a:latin typeface="Arial"/>
              </a:rPr>
              <a:t>▪  </a:t>
            </a:r>
            <a:r>
              <a:rPr b="1" sz="1300">
                <a:solidFill>
                  <a:srgbClr val="221E1F"/>
                </a:solidFill>
                <a:latin typeface="Arial"/>
              </a:rPr>
              <a:t>Firmware:</a:t>
            </a:r>
            <a:r>
              <a:rPr sz="1300">
                <a:solidFill>
                  <a:srgbClr val="221E1F"/>
                </a:solidFill>
                <a:latin typeface="Arial"/>
              </a:rPr>
              <a:t> ESP-IDF project with the real task map; a host build links every C module, passes an int8 golden self-test and feeds the dashboard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39200"/>
                </a:solidFill>
                <a:latin typeface="Arial"/>
              </a:rPr>
              <a:t>▪  </a:t>
            </a:r>
            <a:r>
              <a:rPr b="1" sz="1300">
                <a:solidFill>
                  <a:srgbClr val="221E1F"/>
                </a:solidFill>
                <a:latin typeface="Arial"/>
              </a:rPr>
              <a:t>Dashboard:</a:t>
            </a:r>
            <a:r>
              <a:rPr sz="1300">
                <a:solidFill>
                  <a:srgbClr val="221E1F"/>
                </a:solidFill>
                <a:latin typeface="Arial"/>
              </a:rPr>
              <a:t> Flask + one page; scripted finale sequence or live file from the device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39200"/>
                </a:solidFill>
                <a:latin typeface="Arial"/>
              </a:rPr>
              <a:t>▪  </a:t>
            </a:r>
            <a:r>
              <a:rPr b="1" sz="1300">
                <a:solidFill>
                  <a:srgbClr val="221E1F"/>
                </a:solidFill>
                <a:latin typeface="Arial"/>
              </a:rPr>
              <a:t>Reproducible:</a:t>
            </a:r>
            <a:r>
              <a:rPr sz="1300">
                <a:solidFill>
                  <a:srgbClr val="221E1F"/>
                </a:solidFill>
                <a:latin typeface="Arial"/>
              </a:rPr>
              <a:t> run_all.sh regenerates every number; pinned dependencies; private GitHub repo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640080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00104"/>
                </a:solidFill>
                <a:latin typeface="Arial"/>
              </a:rPr>
              <a:t>Self-contained by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32688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Unplug the router for a year: every row below still works. The cloud only adds updates and fleet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pic>
        <p:nvPicPr>
          <p:cNvPr id="9" name="Picture 8" descr="firmware_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11247120" cy="35786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6C757D"/>
                </a:solidFill>
                <a:latin typeface="Arial"/>
              </a:rPr>
              <a:t>Fixed int8 weights in flash · 16 KB arena · one inference per outage cycle · plain C turns quantiles into “replace in 6–14 weeks” · no training on the device, ever.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640080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00104"/>
                </a:solidFill>
                <a:latin typeface="Arial"/>
              </a:rPr>
              <a:t>Live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32688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A real 12 V tubular battery and inverter on the table; three relay-switched load tiers; nothing connected to the internet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pic>
        <p:nvPicPr>
          <p:cNvPr id="9" name="Picture 8" descr="demo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11430000" cy="269122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4206240"/>
            <a:ext cx="10789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F39200"/>
                </a:solidFill>
                <a:latin typeface="Arial"/>
              </a:rPr>
              <a:t>▪  </a:t>
            </a:r>
            <a:r>
              <a:rPr b="1" sz="1400">
                <a:solidFill>
                  <a:srgbClr val="221E1F"/>
                </a:solidFill>
                <a:latin typeface="Arial"/>
              </a:rPr>
              <a:t>Real:</a:t>
            </a:r>
            <a:r>
              <a:rPr sz="1400">
                <a:solidFill>
                  <a:srgbClr val="221E1F"/>
                </a:solidFill>
                <a:latin typeface="Arial"/>
              </a:rPr>
              <a:t> SoC and internal resistance from the shunt and Kalman filter; outage detection; tiered shedding; fail-safe restore on reset; appliance events; signed log verification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39200"/>
                </a:solidFill>
                <a:latin typeface="Arial"/>
              </a:rPr>
              <a:t>▪  </a:t>
            </a:r>
            <a:r>
              <a:rPr b="1" sz="1400">
                <a:solidFill>
                  <a:srgbClr val="221E1F"/>
                </a:solidFill>
                <a:latin typeface="Arial"/>
              </a:rPr>
              <a:t>Replayed and labelled as such:</a:t>
            </a:r>
            <a:r>
              <a:rPr sz="1400">
                <a:solidFill>
                  <a:srgbClr val="221E1F"/>
                </a:solidFill>
                <a:latin typeface="Arial"/>
              </a:rPr>
              <a:t> the state-of-health walk to “Replace within N weeks” uses a synthetic aging trajectory — a bench battery does not age in a week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39200"/>
                </a:solidFill>
                <a:latin typeface="Arial"/>
              </a:rPr>
              <a:t>▪  </a:t>
            </a:r>
            <a:r>
              <a:rPr b="1" sz="1400">
                <a:solidFill>
                  <a:srgbClr val="221E1F"/>
                </a:solidFill>
                <a:latin typeface="Arial"/>
              </a:rPr>
              <a:t>Deliberately absent:</a:t>
            </a:r>
            <a:r>
              <a:rPr sz="1400">
                <a:solidFill>
                  <a:srgbClr val="221E1F"/>
                </a:solidFill>
                <a:latin typeface="Arial"/>
              </a:rPr>
              <a:t> federated learning (on hold), charger control on a retrofit inverter (no interface exists), loads under 40 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640080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00104"/>
                </a:solidFill>
                <a:latin typeface="Arial"/>
              </a:rPr>
              <a:t>Proven · synthetic · still needs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32688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We separate what is deployable today from what is a research target — credibility is the whole game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pic>
        <p:nvPicPr>
          <p:cNvPr id="9" name="Picture 8" descr="evidence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369642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12064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F39200"/>
                </a:solidFill>
                <a:latin typeface="Arial"/>
              </a:rPr>
              <a:t>▪  </a:t>
            </a:r>
            <a:r>
              <a:rPr b="1" sz="1300">
                <a:solidFill>
                  <a:srgbClr val="221E1F"/>
                </a:solidFill>
                <a:latin typeface="Arial"/>
              </a:rPr>
              <a:t>Corrections we made to our own report after building it:</a:t>
            </a:r>
            <a:r>
              <a:rPr sz="1300">
                <a:solidFill>
                  <a:srgbClr val="221E1F"/>
                </a:solidFill>
                <a:latin typeface="Arial"/>
              </a:rPr>
              <a:t> float voltage is not open-circuit voltage; a battery shunt cannot see appliances; adaptive charging is embedded-only; federate the model that has labels on the device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39200"/>
                </a:solidFill>
                <a:latin typeface="Arial"/>
              </a:rPr>
              <a:t>▪  </a:t>
            </a:r>
            <a:r>
              <a:rPr b="1" sz="1300">
                <a:solidFill>
                  <a:srgbClr val="221E1F"/>
                </a:solidFill>
                <a:latin typeface="Arial"/>
              </a:rPr>
              <a:t>Every claim traces to a script</a:t>
            </a:r>
            <a:r>
              <a:rPr sz="1300">
                <a:solidFill>
                  <a:srgbClr val="221E1F"/>
                </a:solidFill>
                <a:latin typeface="Arial"/>
              </a:rPr>
              <a:t> in the repository and to a design decision (D1–D17) in the design register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640080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00104"/>
                </a:solidFill>
                <a:latin typeface="Arial"/>
              </a:rPr>
              <a:t>Roadmap as validation gates, and the 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3611880" cy="3017520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82296" cy="3017520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33375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21E1F"/>
                </a:solidFill>
                <a:latin typeface="Arial"/>
              </a:rPr>
              <a:t>Gate 1 ·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333756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1E1F"/>
                </a:solidFill>
                <a:latin typeface="Arial"/>
              </a:rPr>
              <a:t>24–36 tubular batteries, 3 temperatures × 3 depths × 2 regimes, 6–8 months in the Kochi reliability lab. Output: EKF tables, real SoH labels, the measured life-extension ratio.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371600"/>
            <a:ext cx="3611880" cy="3017520"/>
          </a:xfrm>
          <a:prstGeom prst="rect">
            <a:avLst/>
          </a:prstGeom>
          <a:solidFill>
            <a:srgbClr val="F3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371600"/>
            <a:ext cx="82296" cy="3017520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463040"/>
            <a:ext cx="33375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21E1F"/>
                </a:solidFill>
                <a:latin typeface="Arial"/>
              </a:rPr>
              <a:t>Gate 2 · Field 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920240"/>
            <a:ext cx="333756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1E1F"/>
                </a:solidFill>
                <a:latin typeface="Arial"/>
              </a:rPr>
              <a:t>100 retrofit units, 6 months: SoC within 3 % on reference shunts, ≥ 75 % RUL-window hit-rate, zero unsafe sheds, fridge/AC F1 ≥ 0.8, power within budget.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3611880" cy="3017520"/>
          </a:xfrm>
          <a:prstGeom prst="rect">
            <a:avLst/>
          </a:prstGeom>
          <a:solidFill>
            <a:srgbClr val="F3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371600"/>
            <a:ext cx="82296" cy="3017520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463040"/>
            <a:ext cx="33375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21E1F"/>
                </a:solidFill>
                <a:latin typeface="Arial"/>
              </a:rPr>
              <a:t>Gate 3 · Learning stability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920240"/>
            <a:ext cx="333756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1E1F"/>
                </a:solidFill>
                <a:latin typeface="Arial"/>
              </a:rPr>
              <a:t>Three model releases with no regression on a golden slice; embedded SKU into the Smart Pro family with its existing Wi-Fi/BLE and app.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66344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F39200"/>
                </a:solidFill>
                <a:latin typeface="Arial"/>
              </a:rPr>
              <a:t>▪  </a:t>
            </a:r>
            <a:r>
              <a:rPr b="1" sz="1400">
                <a:solidFill>
                  <a:srgbClr val="221E1F"/>
                </a:solidFill>
                <a:latin typeface="Arial"/>
              </a:rPr>
              <a:t>What V-Guard gains:</a:t>
            </a:r>
            <a:r>
              <a:rPr sz="1400">
                <a:solidFill>
                  <a:srgbClr val="221E1F"/>
                </a:solidFill>
                <a:latin typeface="Arial"/>
              </a:rPr>
              <a:t> timely battery replacement revenue, warranty decided from evidence, a premium “intelligent” tier, and a fleet-data moat no competitor can buy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39200"/>
                </a:solidFill>
                <a:latin typeface="Arial"/>
              </a:rPr>
              <a:t>▪  </a:t>
            </a:r>
            <a:r>
              <a:rPr b="1" sz="1400">
                <a:solidFill>
                  <a:srgbClr val="221E1F"/>
                </a:solidFill>
                <a:latin typeface="Arial"/>
              </a:rPr>
              <a:t>What we need:</a:t>
            </a:r>
            <a:r>
              <a:rPr sz="1400">
                <a:solidFill>
                  <a:srgbClr val="221E1F"/>
                </a:solidFill>
                <a:latin typeface="Arial"/>
              </a:rPr>
              <a:t> the ESP32-S3 bench hardware, one opened Prime-series inverter with its charger-board schematic, batteries and cyclers for Gate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91440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DC300"/>
                </a:solidFill>
                <a:latin typeface="Arial"/>
              </a:rPr>
              <a:t>Coil off means loads on.
A window, never a date.
Offline first, fleet second.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  <a:latin typeface="Arial"/>
              </a:rPr>
              <a:t>V-Guard Sentinel — Team Codey Tingle (TI3271)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9728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C757D"/>
                </a:solidFill>
                <a:latin typeface="Arial"/>
              </a:rPr>
              <a:t>Design register: 17 decisions · Prototype: 245 automated tests, 6 C modules, full-int8 model, firmware host build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C757D"/>
                </a:solidFill>
                <a:latin typeface="Arial"/>
              </a:rPr>
              <a:t>github.com/epshukla/vguard-sentinel (private)</a:t>
            </a:r>
          </a:p>
        </p:txBody>
      </p:sp>
      <p:pic>
        <p:nvPicPr>
          <p:cNvPr id="7" name="Picture 6" descr="vguard-big-ide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852160"/>
            <a:ext cx="211074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