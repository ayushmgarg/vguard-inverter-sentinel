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DC300"/>
                </a:solidFill>
                <a:latin typeface="Arial"/>
              </a:rPr>
              <a:t>COMPUTER SIMULATION · NO PRACTICAL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1645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5200" b="1" i="0">
                <a:solidFill>
                  <a:srgbClr val="FDC300"/>
                </a:solidFill>
                <a:latin typeface="Arial"/>
              </a:rPr>
              <a:t>V-Guard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005840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Arial"/>
              </a:rPr>
              <a:t>A simulation-backed design for an offline AI core that gives the home inverter a battery-health estimate, safe load control, appliance insight, and a path to fleet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715000"/>
            <a:ext cx="1005840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Team Codey Tingle (TI3271) · Ayush Manoj Garg · Eshan Shukla · Tanay ChaplotReport ↔ prototype reconciliation · September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13248"/>
            <a:ext cx="12191695" cy="73152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DESIGN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The battery is the silent point of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report establishes the opportunity; the prototype tests the logic with simulated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05072"/>
            <a:ext cx="105156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1E1F"/>
                </a:solidFill>
                <a:latin typeface="Arial"/>
              </a:rPr>
              <a:t>▪  an inverter can switch quickly but usually cannot estimate how its battery is ageing.Problem: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1E1F"/>
                </a:solidFill>
                <a:latin typeface="Arial"/>
              </a:rPr>
              <a:t>▪  an unexpected battery failure interrupts food storage, work, study, connectivity, and medical loads.Cost: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1E1F"/>
                </a:solidFill>
                <a:latin typeface="Arial"/>
              </a:rPr>
              <a:t>▪  turn existing voltage, current, temperature, and load signals into an offline decision layer.Opportunity: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SYSTEM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What Sentinel is — and what it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A proposed signal-and-control module beside an inverter, with optional cloud services.</a:t>
            </a:r>
          </a:p>
        </p:txBody>
      </p:sp>
      <p:pic>
        <p:nvPicPr>
          <p:cNvPr id="8" name="Picture 7" descr="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257800"/>
            <a:ext cx="1069848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the battery current stays in an external shunt or Hall sensor. The module reads a signal, watches inverter AC output through a metering path, and drives external contactors. The battery and inverter have not been physically modified or tested in this project.Retrofit reality: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SIMULATED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Four engines, one proposed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prototype implements host-side algorithms and replay paths; hardware integration remains a future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2633472" cy="48920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1 · Battery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2377440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EKF plus a small int8 CNN estimates SoH/RUL bands from synthetic cycle features. A warning is a window, never a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371600"/>
            <a:ext cx="2633472" cy="489204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2 · Autopilot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938528"/>
            <a:ext cx="2377440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Deterministic tiers and hysteresis protect essentials. The current prototype evaluates the controller in scripted scenarios.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371600"/>
            <a:ext cx="2633472" cy="489204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3912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3 · Energy Coach / Grid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38528"/>
            <a:ext cx="2377440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NILM and power-quality code consume synthetic AC streams. A metering AFE is designed but not bench-validated.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371600"/>
            <a:ext cx="2633472" cy="489204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8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4 · Fleet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38528"/>
            <a:ext cx="2377440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Central-learning telemetry is designed. Flower/Secure Aggregation/DP are specified but deliberately deferred from this prototype.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HOST-SIDE MODEL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Engine 1 · From simulated signals to a health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Physics first, learning second.</a:t>
            </a:r>
          </a:p>
        </p:txBody>
      </p:sp>
      <p:pic>
        <p:nvPicPr>
          <p:cNvPr id="8" name="Picture 7" descr="engine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005072"/>
            <a:ext cx="105156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1E1F"/>
                </a:solidFill>
                <a:latin typeface="Arial"/>
              </a:rPr>
              <a:t>▪  simulated 1 Hz I/V/T streams reduced to 14 dynamic and 6 static features per cycle.Inputs: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1E1F"/>
                </a:solidFill>
                <a:latin typeface="Arial"/>
              </a:rPr>
              <a:t>▪  1-D CNN, three seeds, quantile heads, conformal calibration, and a grade state machine.Model: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1E1F"/>
                </a:solidFill>
                <a:latin typeface="Arial"/>
              </a:rPr>
              <a:t>▪  real tubular-battery ageing labels and ESP32-S3 execution.Pending: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SYNTHETIC DATA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Engine 1 · What the current artifacts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These are computer-simulation results, not practical experiments or field accuracy.</a:t>
            </a:r>
          </a:p>
        </p:txBody>
      </p:sp>
      <p:pic>
        <p:nvPicPr>
          <p:cNvPr id="8" name="Picture 7" descr="soh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371600"/>
            <a:ext cx="4297680" cy="1965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3337560"/>
            <a:ext cx="10698480" cy="47548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64008" cy="47548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19856"/>
            <a:ext cx="20116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221E1F"/>
                </a:solidFill>
                <a:latin typeface="Arial"/>
              </a:rPr>
              <a:t>SoH MAE / RMSE8.2 / 9.6 percentage points16 simulated batteries; 3 final-test batteries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59352"/>
            <a:ext cx="10698480" cy="47548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59352"/>
            <a:ext cx="64008" cy="47548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20116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221E1F"/>
                </a:solidFill>
                <a:latin typeface="Arial"/>
              </a:rPr>
              <a:t>80% coverage0.66 → 0.99 after conformalpost-calibration band is very wide: MPIW 34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81144"/>
            <a:ext cx="10698480" cy="47548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581144"/>
            <a:ext cx="64008" cy="47548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20116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221E1F"/>
                </a:solidFill>
                <a:latin typeface="Arial"/>
              </a:rPr>
              <a:t>RUL window hit rate1.00 (n = 3)too small to support a product claim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02936"/>
            <a:ext cx="10698480" cy="47548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02936"/>
            <a:ext cx="64008" cy="47548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20116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221E1F"/>
                </a:solidFill>
                <a:latin typeface="Arial"/>
              </a:rPr>
              <a:t>int8 delta+0.01 point MAEhost/reference comparison; silicon not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CONTROLLER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Engine 2 · Autopilot protects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safety logic is deterministic; the load/outage tables are transparent and replayable.</a:t>
            </a:r>
          </a:p>
        </p:txBody>
      </p:sp>
      <p:pic>
        <p:nvPicPr>
          <p:cNvPr id="8" name="Picture 7" descr="autopilo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2148840"/>
          </a:xfrm>
          <a:prstGeom prst="rect">
            <a:avLst/>
          </a:prstGeom>
        </p:spPr>
      </p:pic>
      <p:pic>
        <p:nvPicPr>
          <p:cNvPr id="9" name="Picture 8" descr="failsaf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0352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703320"/>
            <a:ext cx="52578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T1 essentials stay on.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T2 defer at 55%; restore at 70%.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T3 shed at 40%; restore at 55%.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Hysteresis and dwell timers prevent chatter.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SYNTHETIC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Engine 3 · Coach and Grid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repository corrects an important report gap: NILM needs AC output metering, not only battery DC current.</a:t>
            </a:r>
          </a:p>
        </p:txBody>
      </p:sp>
      <p:pic>
        <p:nvPicPr>
          <p:cNvPr id="8" name="Picture 7" descr="nilm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2148840"/>
          </a:xfrm>
          <a:prstGeom prst="rect">
            <a:avLst/>
          </a:prstGeom>
        </p:spPr>
      </p:pic>
      <p:pic>
        <p:nvPicPr>
          <p:cNvPr id="9" name="Picture 8" descr="pq_d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0352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703320"/>
            <a:ext cx="52578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Event detector and appliance matching run on simulated P/Q streams.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Scope is directional: large loads and per-home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52578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Half-cycle RMS and FFT logic classify simulated sags, swells, and THD.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1E1F"/>
                </a:solidFill>
                <a:latin typeface="Arial"/>
              </a:rPr>
              <a:t>▪  AFE, CTs, reference meter, and live AC waveform capture remain unbuilt.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DESIGN + COST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Two SKUs keep the claims honest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report’s original universal adaptive-charging claim was narrowed in the prototype design register.</a:t>
            </a:r>
          </a:p>
        </p:txBody>
      </p:sp>
      <p:pic>
        <p:nvPicPr>
          <p:cNvPr id="8" name="Picture 7" descr="cost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2148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417320"/>
            <a:ext cx="4114800" cy="202996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73152" cy="20299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536192"/>
            <a:ext cx="3858768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Embedded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984248"/>
            <a:ext cx="3858768" cy="1371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Designed for a compatible new inverter. Charger control and any life-extension claim belong here, subject to ageing-campaign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593592"/>
            <a:ext cx="4114800" cy="202996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3593592"/>
            <a:ext cx="73152" cy="20299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3712464"/>
            <a:ext cx="3858768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Retrofit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4160520"/>
            <a:ext cx="3858768" cy="1371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External shunt, AC metering path, contactors, and advisory charging. It cannot command an unknown analogue charger.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REPOSITORY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What is implemented in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A runnable host prototype, not a deployed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2120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1 Hz synthetic tubular duty-cycle simulator and feature extraction.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EKF, autopilot, NILM, PQ, charging policy, and health-log reference implementations.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Three-seed int8/TFLite export artifacts and a C golden self-test.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Dashboard fixture and file providers with provenance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2120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Host firmware links the real C control modules against replayed CSV data.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NASA/CALCE loaders and Stage A/B/C scaffolding exist, but real-source training is incomplete.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1E1F"/>
                </a:solidFill>
                <a:latin typeface="Arial"/>
              </a:rPr>
              <a:t>▪  Hardware tests, ESP-IDF build, sensor drivers, and ATECC608 provisioning remain open.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60704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this deck reports repository artifacts and documented runs. It does not present them as practical experiments.Verification note: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COMPUTER-ONLY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How one simulated outage moves through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This is the main prototype story: the same event flows from generated data to a dashboard decision.</a:t>
            </a:r>
          </a:p>
        </p:txBody>
      </p:sp>
      <p:pic>
        <p:nvPicPr>
          <p:cNvPr id="8" name="Picture 7" descr="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FLEET SIMULATION · NOT DEPLOYED HOMES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Cluster-of-homes view: central learning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A conceptual fleet view for the prototype story — these homes are simulated clients, not installed units.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1417320" cy="868680"/>
          </a:xfrm>
          <a:prstGeom prst="rect">
            <a:avLst/>
          </a:prstGeom>
          <a:solidFill>
            <a:srgbClr val="F3EFEF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14173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21E1F"/>
                </a:solidFill>
                <a:latin typeface="Arial"/>
              </a:rPr>
              <a:t>Home A
synthetic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828800"/>
            <a:ext cx="1417320" cy="868680"/>
          </a:xfrm>
          <a:prstGeom prst="rect">
            <a:avLst/>
          </a:prstGeom>
          <a:solidFill>
            <a:srgbClr val="F3EFEF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1"/>
            <a:ext cx="14173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21E1F"/>
                </a:solidFill>
                <a:latin typeface="Arial"/>
              </a:rPr>
              <a:t>Home B
synthetic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828800"/>
            <a:ext cx="1417320" cy="868680"/>
          </a:xfrm>
          <a:prstGeom prst="rect">
            <a:avLst/>
          </a:prstGeom>
          <a:solidFill>
            <a:srgbClr val="F3EFEF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84831"/>
            <a:ext cx="14173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21E1F"/>
                </a:solidFill>
                <a:latin typeface="Arial"/>
              </a:rPr>
              <a:t>Home C
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74519"/>
            <a:ext cx="2743200" cy="822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600" b="1" i="0">
                <a:solidFill>
                  <a:srgbClr val="221E1F"/>
                </a:solidFill>
                <a:latin typeface="Arial"/>
              </a:rPr>
              <a:t>V-Guard central training
consented summaries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691640"/>
            <a:ext cx="3474720" cy="118872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874519"/>
            <a:ext cx="3108960" cy="822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600" b="1" i="0">
                <a:solidFill>
                  <a:srgbClr val="221E1F"/>
                </a:solidFill>
                <a:latin typeface="Arial"/>
              </a:rPr>
              <a:t>V-Guard central training
consented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057400"/>
            <a:ext cx="4114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500" b="1" i="0">
                <a:solidFill>
                  <a:srgbClr val="F39200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57400"/>
            <a:ext cx="4114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500" b="1" i="0">
                <a:solidFill>
                  <a:srgbClr val="F39200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57400"/>
            <a:ext cx="4114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500" b="1" i="0">
                <a:solidFill>
                  <a:srgbClr val="F39200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2057400"/>
            <a:ext cx="4114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500" b="1" i="0">
                <a:solidFill>
                  <a:srgbClr val="F392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3529584" cy="182880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73152" cy="182880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959352"/>
            <a:ext cx="3273552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What is simulated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407408"/>
            <a:ext cx="3273552" cy="11704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Different household duty cycles, temperatures, loads, and battery trajectories.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840480"/>
            <a:ext cx="3529584" cy="182880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840480"/>
            <a:ext cx="73152" cy="182880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959352"/>
            <a:ext cx="3273552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What is not claimed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07408"/>
            <a:ext cx="3273552" cy="11704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No live homes, no field telemetry, no deployed fleet, and no measured privacy budget.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1856" y="3840480"/>
            <a:ext cx="3529584" cy="18288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6" y="3840480"/>
            <a:ext cx="73152" cy="182880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3959352"/>
            <a:ext cx="3273552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Federated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407408"/>
            <a:ext cx="3273552" cy="11704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Flower, Secure Aggregation, and DP-FTRL are designed but deliberately deferred from this prototype.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FIRMWARE DESIGN; HOST-ONLY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Self-contained by construction — on paper and in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No cloud is required by the algorithm path; the physical firmware target is still unverified.</a:t>
            </a:r>
          </a:p>
        </p:txBody>
      </p:sp>
      <p:pic>
        <p:nvPicPr>
          <p:cNvPr id="8" name="Picture 7" descr="firmware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257800"/>
            <a:ext cx="1069848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host C build, replayed CSV, int8 golden self-test, and dashboard JSON. ESP-IDF compilation, flashing, real-time timing, power measurement, sensor drivers, secure boot, and hardware fault injection.Current evidence:Pending: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REPORT ↔ PROTOTYPE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Corrections made after engineering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prototype documentation is more conservative than the frozen submission report.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2633472" cy="237286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73152" cy="23728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OCV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2377440" cy="17145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Float voltage is not open-circuit voltage. Use charge-current taper and true charger-off 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371600"/>
            <a:ext cx="2633472" cy="237286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371600"/>
            <a:ext cx="73152" cy="23728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Signal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938528"/>
            <a:ext cx="2377440" cy="17145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A battery shunt cannot disaggregate AC appliances. Add an AC metering front end and CT path.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371600"/>
            <a:ext cx="2633472" cy="237286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3912" y="1371600"/>
            <a:ext cx="73152" cy="23728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Charging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38528"/>
            <a:ext cx="2377440" cy="17145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Adaptive charging is embedded-SKU only; retrofit is advisory unless a verified charger interface exists.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371600"/>
            <a:ext cx="2633472" cy="237286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8" y="1371600"/>
            <a:ext cx="73152" cy="23728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90472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Model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38528"/>
            <a:ext cx="2377440" cy="17145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Real tubular accuracy waits for the ageing campaign. Synthetic metrics are pipeline evidence only.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890772"/>
            <a:ext cx="2633472" cy="237286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890772"/>
            <a:ext cx="73152" cy="23728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009644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Federated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457700"/>
            <a:ext cx="2377440" cy="17145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Central summaries are the current path. Federated learning is specified, not demonstrated.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4136" y="3890772"/>
            <a:ext cx="2633472" cy="2372868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4136" y="3890772"/>
            <a:ext cx="73152" cy="237286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8728" y="4009644"/>
            <a:ext cx="23774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Terminology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8728" y="4457700"/>
            <a:ext cx="2377440" cy="17145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ESP32-S3 vector/SIMD extensions and milliamp-class draw replace “neural accelerator” and “microamp” wording.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39200"/>
                </a:solidFill>
                <a:latin typeface="Arial"/>
              </a:rPr>
              <a:t>NEXT VALIDATION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"/>
            <a:ext cx="91440" cy="62179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"/>
            <a:ext cx="9875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221E1F"/>
                </a:solidFill>
                <a:latin typeface="Arial"/>
              </a:rPr>
              <a:t>What must happen before product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3268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Arial"/>
              </a:rPr>
              <a:t>The roadmap is deliberately gated by evidence rather than calendar promises.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3560064" cy="489204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304032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Gate 1 · Tubular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04032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Age 24–36 representative batteries across temperature, depth of discharge, and charge regime. Establish real SoH labels and estimator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0728" y="1371600"/>
            <a:ext cx="3560064" cy="489204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0728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1490472"/>
            <a:ext cx="3304032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Gate 2 · Bench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5320" y="1938528"/>
            <a:ext cx="3304032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Build the sensor/AFE/contactor path, compile ESP-IDF, flash the ESP32-S3, and measure timing, draw, fail-safe behaviour, and PQ/NILM against reference instruments.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7096" y="1371600"/>
            <a:ext cx="3560064" cy="489204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7096" y="1371600"/>
            <a:ext cx="73152" cy="489204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1688" y="1490472"/>
            <a:ext cx="3304032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221E1F"/>
                </a:solidFill>
                <a:latin typeface="Arial"/>
              </a:rPr>
              <a:t>Gate 3 · Field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1688" y="1938528"/>
            <a:ext cx="3304032" cy="4233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221E1F"/>
                </a:solidFill>
                <a:latin typeface="Arial"/>
              </a:rPr>
              <a:t>Run monitored units, validate warnings against actual replacements, and only then quantify life extension, backup gains, warranty savings, or fleet learning.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194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1" i="0">
                <a:solidFill>
                  <a:srgbClr val="FDC300"/>
                </a:solidFill>
                <a:latin typeface="Arial"/>
              </a:rPr>
              <a:t>FINAL STATUS · COMPUTER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1645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800" b="1" i="0">
                <a:solidFill>
                  <a:srgbClr val="FDC300"/>
                </a:solidFill>
                <a:latin typeface="Arial"/>
              </a:rPr>
              <a:t>A credible prototype starts by saying exactly what it has not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005840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The repository demonstrates the algorithms, replay path, host firmware, dashboard, and evidence boundaries. Real batteries, real homes, real ESP32 hardware, and field experiments are the next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715000"/>
            <a:ext cx="1005840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V-Guard Sentinel · Team Codey Tingle (TI3271)github.com/epshukla/vguard-sentinel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13248"/>
            <a:ext cx="12191695" cy="73152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7840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Arial"/>
              </a:rPr>
              <a:t>V-Guard Sentinel · Team Codey Tingle (TI3271) · computer simulation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