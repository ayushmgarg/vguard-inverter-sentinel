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60" r:id="rId5"/>
    <p:sldId id="264" r:id="rId6"/>
    <p:sldId id="259" r:id="rId7"/>
    <p:sldId id="266" r:id="rId8"/>
    <p:sldId id="261" r:id="rId9"/>
    <p:sldId id="265" r:id="rId10"/>
    <p:sldId id="262" r:id="rId11"/>
    <p:sldId id="263" r:id="rId12"/>
    <p:sldId id="267" r:id="rId13"/>
    <p:sldId id="276" r:id="rId14"/>
    <p:sldId id="277"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 dt="2026-09-24T01:34:05.888"/>
    <p1510:client id="{12AE4705-9062-2E96-637A-939106D7F8FF}" v="59" dt="2026-09-24T00:26:55.453"/>
    <p1510:client id="{B16C7375-6D6F-C212-620C-E9D062BF9B2C}" v="114" dt="2026-09-24T01:11:16.396"/>
    <p1510:client id="{CED3A20F-2794-35C0-B674-70A559C4C17F}" v="424" dt="2026-09-23T23:24:44.724"/>
    <p1510:client id="{D50BA38A-5D87-C752-34AA-454EAE69A8CD}" v="4" dt="2026-09-24T03:09:51.1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4" d="100"/>
          <a:sy n="74" d="100"/>
        </p:scale>
        <p:origin x="540"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ushmgarg10" userId="S::ayushmgarg10_gmail.com#ext#@o365vguard.onmicrosoft.com::b81b96db-2642-4e7e-8cfb-a9c97645db91" providerId="AD" clId="Web-{B16C7375-6D6F-C212-620C-E9D062BF9B2C}"/>
    <pc:docChg chg="addSld delSld modSld sldOrd">
      <pc:chgData name="ayushmgarg10" userId="S::ayushmgarg10_gmail.com#ext#@o365vguard.onmicrosoft.com::b81b96db-2642-4e7e-8cfb-a9c97645db91" providerId="AD" clId="Web-{B16C7375-6D6F-C212-620C-E9D062BF9B2C}" dt="2026-09-24T01:11:16.193" v="63" actId="20577"/>
      <pc:docMkLst>
        <pc:docMk/>
      </pc:docMkLst>
      <pc:sldChg chg="modSp ord">
        <pc:chgData name="ayushmgarg10" userId="S::ayushmgarg10_gmail.com#ext#@o365vguard.onmicrosoft.com::b81b96db-2642-4e7e-8cfb-a9c97645db91" providerId="AD" clId="Web-{B16C7375-6D6F-C212-620C-E9D062BF9B2C}" dt="2026-09-24T01:10:25.943" v="45" actId="20577"/>
        <pc:sldMkLst>
          <pc:docMk/>
          <pc:sldMk cId="0" sldId="259"/>
        </pc:sldMkLst>
        <pc:spChg chg="mod">
          <ac:chgData name="ayushmgarg10" userId="S::ayushmgarg10_gmail.com#ext#@o365vguard.onmicrosoft.com::b81b96db-2642-4e7e-8cfb-a9c97645db91" providerId="AD" clId="Web-{B16C7375-6D6F-C212-620C-E9D062BF9B2C}" dt="2026-09-24T01:10:25.943" v="45" actId="20577"/>
          <ac:spMkLst>
            <pc:docMk/>
            <pc:sldMk cId="0" sldId="259"/>
            <ac:spMk id="8" creationId="{00000000-0000-0000-0000-000000000000}"/>
          </ac:spMkLst>
        </pc:spChg>
      </pc:sldChg>
      <pc:sldChg chg="addSp delSp modSp">
        <pc:chgData name="ayushmgarg10" userId="S::ayushmgarg10_gmail.com#ext#@o365vguard.onmicrosoft.com::b81b96db-2642-4e7e-8cfb-a9c97645db91" providerId="AD" clId="Web-{B16C7375-6D6F-C212-620C-E9D062BF9B2C}" dt="2026-09-24T01:03:22.674" v="3" actId="20577"/>
        <pc:sldMkLst>
          <pc:docMk/>
          <pc:sldMk cId="0" sldId="260"/>
        </pc:sldMkLst>
        <pc:spChg chg="add del mod">
          <ac:chgData name="ayushmgarg10" userId="S::ayushmgarg10_gmail.com#ext#@o365vguard.onmicrosoft.com::b81b96db-2642-4e7e-8cfb-a9c97645db91" providerId="AD" clId="Web-{B16C7375-6D6F-C212-620C-E9D062BF9B2C}" dt="2026-09-24T01:03:22.674" v="3" actId="20577"/>
          <ac:spMkLst>
            <pc:docMk/>
            <pc:sldMk cId="0" sldId="260"/>
            <ac:spMk id="7" creationId="{00000000-0000-0000-0000-000000000000}"/>
          </ac:spMkLst>
        </pc:spChg>
      </pc:sldChg>
      <pc:sldChg chg="modSp ord">
        <pc:chgData name="ayushmgarg10" userId="S::ayushmgarg10_gmail.com#ext#@o365vguard.onmicrosoft.com::b81b96db-2642-4e7e-8cfb-a9c97645db91" providerId="AD" clId="Web-{B16C7375-6D6F-C212-620C-E9D062BF9B2C}" dt="2026-09-24T01:09:53.505" v="33" actId="20577"/>
        <pc:sldMkLst>
          <pc:docMk/>
          <pc:sldMk cId="0" sldId="261"/>
        </pc:sldMkLst>
        <pc:spChg chg="mod">
          <ac:chgData name="ayushmgarg10" userId="S::ayushmgarg10_gmail.com#ext#@o365vguard.onmicrosoft.com::b81b96db-2642-4e7e-8cfb-a9c97645db91" providerId="AD" clId="Web-{B16C7375-6D6F-C212-620C-E9D062BF9B2C}" dt="2026-09-24T01:09:53.505" v="33" actId="20577"/>
          <ac:spMkLst>
            <pc:docMk/>
            <pc:sldMk cId="0" sldId="261"/>
            <ac:spMk id="8" creationId="{00000000-0000-0000-0000-000000000000}"/>
          </ac:spMkLst>
        </pc:spChg>
      </pc:sldChg>
      <pc:sldChg chg="modSp">
        <pc:chgData name="ayushmgarg10" userId="S::ayushmgarg10_gmail.com#ext#@o365vguard.onmicrosoft.com::b81b96db-2642-4e7e-8cfb-a9c97645db91" providerId="AD" clId="Web-{B16C7375-6D6F-C212-620C-E9D062BF9B2C}" dt="2026-09-24T01:10:02.958" v="36" actId="20577"/>
        <pc:sldMkLst>
          <pc:docMk/>
          <pc:sldMk cId="0" sldId="262"/>
        </pc:sldMkLst>
        <pc:spChg chg="mod">
          <ac:chgData name="ayushmgarg10" userId="S::ayushmgarg10_gmail.com#ext#@o365vguard.onmicrosoft.com::b81b96db-2642-4e7e-8cfb-a9c97645db91" providerId="AD" clId="Web-{B16C7375-6D6F-C212-620C-E9D062BF9B2C}" dt="2026-09-24T01:10:02.958" v="36" actId="20577"/>
          <ac:spMkLst>
            <pc:docMk/>
            <pc:sldMk cId="0" sldId="262"/>
            <ac:spMk id="8" creationId="{00000000-0000-0000-0000-000000000000}"/>
          </ac:spMkLst>
        </pc:spChg>
      </pc:sldChg>
      <pc:sldChg chg="modSp">
        <pc:chgData name="ayushmgarg10" userId="S::ayushmgarg10_gmail.com#ext#@o365vguard.onmicrosoft.com::b81b96db-2642-4e7e-8cfb-a9c97645db91" providerId="AD" clId="Web-{B16C7375-6D6F-C212-620C-E9D062BF9B2C}" dt="2026-09-24T01:10:12.583" v="39" actId="20577"/>
        <pc:sldMkLst>
          <pc:docMk/>
          <pc:sldMk cId="0" sldId="263"/>
        </pc:sldMkLst>
        <pc:spChg chg="mod">
          <ac:chgData name="ayushmgarg10" userId="S::ayushmgarg10_gmail.com#ext#@o365vguard.onmicrosoft.com::b81b96db-2642-4e7e-8cfb-a9c97645db91" providerId="AD" clId="Web-{B16C7375-6D6F-C212-620C-E9D062BF9B2C}" dt="2026-09-24T01:10:12.583" v="39" actId="20577"/>
          <ac:spMkLst>
            <pc:docMk/>
            <pc:sldMk cId="0" sldId="263"/>
            <ac:spMk id="8" creationId="{00000000-0000-0000-0000-000000000000}"/>
          </ac:spMkLst>
        </pc:spChg>
      </pc:sldChg>
      <pc:sldChg chg="modSp ord">
        <pc:chgData name="ayushmgarg10" userId="S::ayushmgarg10_gmail.com#ext#@o365vguard.onmicrosoft.com::b81b96db-2642-4e7e-8cfb-a9c97645db91" providerId="AD" clId="Web-{B16C7375-6D6F-C212-620C-E9D062BF9B2C}" dt="2026-09-24T01:09:36.771" v="28" actId="20577"/>
        <pc:sldMkLst>
          <pc:docMk/>
          <pc:sldMk cId="0" sldId="264"/>
        </pc:sldMkLst>
        <pc:spChg chg="mod">
          <ac:chgData name="ayushmgarg10" userId="S::ayushmgarg10_gmail.com#ext#@o365vguard.onmicrosoft.com::b81b96db-2642-4e7e-8cfb-a9c97645db91" providerId="AD" clId="Web-{B16C7375-6D6F-C212-620C-E9D062BF9B2C}" dt="2026-09-24T01:09:36.771" v="28" actId="20577"/>
          <ac:spMkLst>
            <pc:docMk/>
            <pc:sldMk cId="0" sldId="264"/>
            <ac:spMk id="9" creationId="{00000000-0000-0000-0000-000000000000}"/>
          </ac:spMkLst>
        </pc:spChg>
      </pc:sldChg>
      <pc:sldChg chg="modSp ord">
        <pc:chgData name="ayushmgarg10" userId="S::ayushmgarg10_gmail.com#ext#@o365vguard.onmicrosoft.com::b81b96db-2642-4e7e-8cfb-a9c97645db91" providerId="AD" clId="Web-{B16C7375-6D6F-C212-620C-E9D062BF9B2C}" dt="2026-09-24T01:05:39.314" v="17"/>
        <pc:sldMkLst>
          <pc:docMk/>
          <pc:sldMk cId="0" sldId="265"/>
        </pc:sldMkLst>
        <pc:spChg chg="mod">
          <ac:chgData name="ayushmgarg10" userId="S::ayushmgarg10_gmail.com#ext#@o365vguard.onmicrosoft.com::b81b96db-2642-4e7e-8cfb-a9c97645db91" providerId="AD" clId="Web-{B16C7375-6D6F-C212-620C-E9D062BF9B2C}" dt="2026-09-24T01:04:01.455" v="14" actId="20577"/>
          <ac:spMkLst>
            <pc:docMk/>
            <pc:sldMk cId="0" sldId="265"/>
            <ac:spMk id="9" creationId="{00000000-0000-0000-0000-000000000000}"/>
          </ac:spMkLst>
        </pc:spChg>
      </pc:sldChg>
      <pc:sldChg chg="modSp ord">
        <pc:chgData name="ayushmgarg10" userId="S::ayushmgarg10_gmail.com#ext#@o365vguard.onmicrosoft.com::b81b96db-2642-4e7e-8cfb-a9c97645db91" providerId="AD" clId="Web-{B16C7375-6D6F-C212-620C-E9D062BF9B2C}" dt="2026-09-24T01:09:44.974" v="30" actId="20577"/>
        <pc:sldMkLst>
          <pc:docMk/>
          <pc:sldMk cId="0" sldId="266"/>
        </pc:sldMkLst>
        <pc:spChg chg="mod">
          <ac:chgData name="ayushmgarg10" userId="S::ayushmgarg10_gmail.com#ext#@o365vguard.onmicrosoft.com::b81b96db-2642-4e7e-8cfb-a9c97645db91" providerId="AD" clId="Web-{B16C7375-6D6F-C212-620C-E9D062BF9B2C}" dt="2026-09-24T01:09:44.974" v="30" actId="20577"/>
          <ac:spMkLst>
            <pc:docMk/>
            <pc:sldMk cId="0" sldId="266"/>
            <ac:spMk id="8" creationId="{00000000-0000-0000-0000-000000000000}"/>
          </ac:spMkLst>
        </pc:spChg>
      </pc:sldChg>
      <pc:sldChg chg="modSp">
        <pc:chgData name="ayushmgarg10" userId="S::ayushmgarg10_gmail.com#ext#@o365vguard.onmicrosoft.com::b81b96db-2642-4e7e-8cfb-a9c97645db91" providerId="AD" clId="Web-{B16C7375-6D6F-C212-620C-E9D062BF9B2C}" dt="2026-09-24T01:10:18.224" v="42" actId="20577"/>
        <pc:sldMkLst>
          <pc:docMk/>
          <pc:sldMk cId="0" sldId="267"/>
        </pc:sldMkLst>
        <pc:spChg chg="mod">
          <ac:chgData name="ayushmgarg10" userId="S::ayushmgarg10_gmail.com#ext#@o365vguard.onmicrosoft.com::b81b96db-2642-4e7e-8cfb-a9c97645db91" providerId="AD" clId="Web-{B16C7375-6D6F-C212-620C-E9D062BF9B2C}" dt="2026-09-24T01:10:18.224" v="42" actId="20577"/>
          <ac:spMkLst>
            <pc:docMk/>
            <pc:sldMk cId="0" sldId="267"/>
            <ac:spMk id="9" creationId="{00000000-0000-0000-0000-000000000000}"/>
          </ac:spMkLst>
        </pc:spChg>
      </pc:sldChg>
      <pc:sldChg chg="add del mod modShow">
        <pc:chgData name="ayushmgarg10" userId="S::ayushmgarg10_gmail.com#ext#@o365vguard.onmicrosoft.com::b81b96db-2642-4e7e-8cfb-a9c97645db91" providerId="AD" clId="Web-{B16C7375-6D6F-C212-620C-E9D062BF9B2C}" dt="2026-09-24T01:06:32.912" v="22"/>
        <pc:sldMkLst>
          <pc:docMk/>
          <pc:sldMk cId="0" sldId="269"/>
        </pc:sldMkLst>
      </pc:sldChg>
      <pc:sldChg chg="modSp">
        <pc:chgData name="ayushmgarg10" userId="S::ayushmgarg10_gmail.com#ext#@o365vguard.onmicrosoft.com::b81b96db-2642-4e7e-8cfb-a9c97645db91" providerId="AD" clId="Web-{B16C7375-6D6F-C212-620C-E9D062BF9B2C}" dt="2026-09-24T01:11:16.193" v="63" actId="20577"/>
        <pc:sldMkLst>
          <pc:docMk/>
          <pc:sldMk cId="0" sldId="270"/>
        </pc:sldMkLst>
        <pc:spChg chg="mod">
          <ac:chgData name="ayushmgarg10" userId="S::ayushmgarg10_gmail.com#ext#@o365vguard.onmicrosoft.com::b81b96db-2642-4e7e-8cfb-a9c97645db91" providerId="AD" clId="Web-{B16C7375-6D6F-C212-620C-E9D062BF9B2C}" dt="2026-09-24T01:11:16.193" v="63" actId="20577"/>
          <ac:spMkLst>
            <pc:docMk/>
            <pc:sldMk cId="0" sldId="270"/>
            <ac:spMk id="7" creationId="{00000000-0000-0000-0000-000000000000}"/>
          </ac:spMkLst>
        </pc:spChg>
      </pc:sldChg>
      <pc:sldChg chg="addSp delSp modSp add">
        <pc:chgData name="ayushmgarg10" userId="S::ayushmgarg10_gmail.com#ext#@o365vguard.onmicrosoft.com::b81b96db-2642-4e7e-8cfb-a9c97645db91" providerId="AD" clId="Web-{B16C7375-6D6F-C212-620C-E9D062BF9B2C}" dt="2026-09-24T01:11:00.615" v="57" actId="20577"/>
        <pc:sldMkLst>
          <pc:docMk/>
          <pc:sldMk cId="0" sldId="276"/>
        </pc:sldMkLst>
        <pc:spChg chg="add del mod">
          <ac:chgData name="ayushmgarg10" userId="S::ayushmgarg10_gmail.com#ext#@o365vguard.onmicrosoft.com::b81b96db-2642-4e7e-8cfb-a9c97645db91" providerId="AD" clId="Web-{B16C7375-6D6F-C212-620C-E9D062BF9B2C}" dt="2026-09-24T01:11:00.615" v="57" actId="20577"/>
          <ac:spMkLst>
            <pc:docMk/>
            <pc:sldMk cId="0" sldId="276"/>
            <ac:spMk id="8" creationId="{00000000-0000-0000-0000-000000000000}"/>
          </ac:spMkLst>
        </pc:spChg>
      </pc:sldChg>
      <pc:sldChg chg="new del">
        <pc:chgData name="ayushmgarg10" userId="S::ayushmgarg10_gmail.com#ext#@o365vguard.onmicrosoft.com::b81b96db-2642-4e7e-8cfb-a9c97645db91" providerId="AD" clId="Web-{B16C7375-6D6F-C212-620C-E9D062BF9B2C}" dt="2026-09-24T01:07:55.818" v="25"/>
        <pc:sldMkLst>
          <pc:docMk/>
          <pc:sldMk cId="1827243498" sldId="276"/>
        </pc:sldMkLst>
      </pc:sldChg>
      <pc:sldChg chg="modSp add">
        <pc:chgData name="ayushmgarg10" userId="S::ayushmgarg10_gmail.com#ext#@o365vguard.onmicrosoft.com::b81b96db-2642-4e7e-8cfb-a9c97645db91" providerId="AD" clId="Web-{B16C7375-6D6F-C212-620C-E9D062BF9B2C}" dt="2026-09-24T01:11:08.849" v="60" actId="20577"/>
        <pc:sldMkLst>
          <pc:docMk/>
          <pc:sldMk cId="1337626779" sldId="277"/>
        </pc:sldMkLst>
        <pc:spChg chg="mod">
          <ac:chgData name="ayushmgarg10" userId="S::ayushmgarg10_gmail.com#ext#@o365vguard.onmicrosoft.com::b81b96db-2642-4e7e-8cfb-a9c97645db91" providerId="AD" clId="Web-{B16C7375-6D6F-C212-620C-E9D062BF9B2C}" dt="2026-09-24T01:11:08.849" v="60" actId="20577"/>
          <ac:spMkLst>
            <pc:docMk/>
            <pc:sldMk cId="1337626779" sldId="277"/>
            <ac:spMk id="8" creationId="{00000000-0000-0000-0000-000000000000}"/>
          </ac:spMkLst>
        </pc:spChg>
      </pc:sldChg>
    </pc:docChg>
  </pc:docChgLst>
  <pc:docChgLst>
    <pc:chgData name="ayushmgarg10" userId="S::ayushmgarg10_gmail.com#ext#@o365vguard.onmicrosoft.com::b81b96db-2642-4e7e-8cfb-a9c97645db91" providerId="AD" clId="Web-{D50BA38A-5D87-C752-34AA-454EAE69A8CD}"/>
    <pc:docChg chg="delSld modSld">
      <pc:chgData name="ayushmgarg10" userId="S::ayushmgarg10_gmail.com#ext#@o365vguard.onmicrosoft.com::b81b96db-2642-4e7e-8cfb-a9c97645db91" providerId="AD" clId="Web-{D50BA38A-5D87-C752-34AA-454EAE69A8CD}" dt="2026-09-24T03:09:51.154" v="3" actId="1076"/>
      <pc:docMkLst>
        <pc:docMk/>
      </pc:docMkLst>
      <pc:sldChg chg="modSp">
        <pc:chgData name="ayushmgarg10" userId="S::ayushmgarg10_gmail.com#ext#@o365vguard.onmicrosoft.com::b81b96db-2642-4e7e-8cfb-a9c97645db91" providerId="AD" clId="Web-{D50BA38A-5D87-C752-34AA-454EAE69A8CD}" dt="2026-09-24T03:09:51.154" v="3" actId="1076"/>
        <pc:sldMkLst>
          <pc:docMk/>
          <pc:sldMk cId="0" sldId="263"/>
        </pc:sldMkLst>
        <pc:picChg chg="mod">
          <ac:chgData name="ayushmgarg10" userId="S::ayushmgarg10_gmail.com#ext#@o365vguard.onmicrosoft.com::b81b96db-2642-4e7e-8cfb-a9c97645db91" providerId="AD" clId="Web-{D50BA38A-5D87-C752-34AA-454EAE69A8CD}" dt="2026-09-24T03:09:51.154" v="3" actId="1076"/>
          <ac:picMkLst>
            <pc:docMk/>
            <pc:sldMk cId="0" sldId="263"/>
            <ac:picMk id="9" creationId="{00000000-0000-0000-0000-000000000000}"/>
          </ac:picMkLst>
        </pc:picChg>
      </pc:sldChg>
      <pc:sldChg chg="del">
        <pc:chgData name="ayushmgarg10" userId="S::ayushmgarg10_gmail.com#ext#@o365vguard.onmicrosoft.com::b81b96db-2642-4e7e-8cfb-a9c97645db91" providerId="AD" clId="Web-{D50BA38A-5D87-C752-34AA-454EAE69A8CD}" dt="2026-09-24T03:06:57.014" v="0"/>
        <pc:sldMkLst>
          <pc:docMk/>
          <pc:sldMk cId="0" sldId="268"/>
        </pc:sldMkLst>
      </pc:sldChg>
      <pc:sldChg chg="del">
        <pc:chgData name="ayushmgarg10" userId="S::ayushmgarg10_gmail.com#ext#@o365vguard.onmicrosoft.com::b81b96db-2642-4e7e-8cfb-a9c97645db91" providerId="AD" clId="Web-{D50BA38A-5D87-C752-34AA-454EAE69A8CD}" dt="2026-09-24T03:06:58.748" v="1"/>
        <pc:sldMkLst>
          <pc:docMk/>
          <pc:sldMk cId="0" sldId="269"/>
        </pc:sldMkLst>
      </pc:sldChg>
      <pc:sldChg chg="del">
        <pc:chgData name="ayushmgarg10" userId="S::ayushmgarg10_gmail.com#ext#@o365vguard.onmicrosoft.com::b81b96db-2642-4e7e-8cfb-a9c97645db91" providerId="AD" clId="Web-{D50BA38A-5D87-C752-34AA-454EAE69A8CD}" dt="2026-09-24T03:07:08.514" v="2"/>
        <pc:sldMkLst>
          <pc:docMk/>
          <pc:sldMk cId="0" sldId="275"/>
        </pc:sldMkLst>
      </pc:sldChg>
    </pc:docChg>
  </pc:docChgLst>
  <pc:docChgLst>
    <pc:chgData name="ayushmgarg10" userId="S::ayushmgarg10_gmail.com#ext#@o365vguard.onmicrosoft.com::b81b96db-2642-4e7e-8cfb-a9c97645db91" providerId="AD" clId="Web-{12AE4705-9062-2E96-637A-939106D7F8FF}"/>
    <pc:docChg chg="modSld sldOrd">
      <pc:chgData name="ayushmgarg10" userId="S::ayushmgarg10_gmail.com#ext#@o365vguard.onmicrosoft.com::b81b96db-2642-4e7e-8cfb-a9c97645db91" providerId="AD" clId="Web-{12AE4705-9062-2E96-637A-939106D7F8FF}" dt="2026-09-24T00:26:55.453" v="34"/>
      <pc:docMkLst>
        <pc:docMk/>
      </pc:docMkLst>
      <pc:sldChg chg="modSp">
        <pc:chgData name="ayushmgarg10" userId="S::ayushmgarg10_gmail.com#ext#@o365vguard.onmicrosoft.com::b81b96db-2642-4e7e-8cfb-a9c97645db91" providerId="AD" clId="Web-{12AE4705-9062-2E96-637A-939106D7F8FF}" dt="2026-09-24T00:24:15.342" v="33" actId="20577"/>
        <pc:sldMkLst>
          <pc:docMk/>
          <pc:sldMk cId="0" sldId="256"/>
        </pc:sldMkLst>
        <pc:spChg chg="mod">
          <ac:chgData name="ayushmgarg10" userId="S::ayushmgarg10_gmail.com#ext#@o365vguard.onmicrosoft.com::b81b96db-2642-4e7e-8cfb-a9c97645db91" providerId="AD" clId="Web-{12AE4705-9062-2E96-637A-939106D7F8FF}" dt="2026-09-24T00:24:15.342" v="33" actId="20577"/>
          <ac:spMkLst>
            <pc:docMk/>
            <pc:sldMk cId="0" sldId="256"/>
            <ac:spMk id="8" creationId="{00000000-0000-0000-0000-000000000000}"/>
          </ac:spMkLst>
        </pc:spChg>
        <pc:spChg chg="mod">
          <ac:chgData name="ayushmgarg10" userId="S::ayushmgarg10_gmail.com#ext#@o365vguard.onmicrosoft.com::b81b96db-2642-4e7e-8cfb-a9c97645db91" providerId="AD" clId="Web-{12AE4705-9062-2E96-637A-939106D7F8FF}" dt="2026-09-23T23:44:31.639" v="19" actId="20577"/>
          <ac:spMkLst>
            <pc:docMk/>
            <pc:sldMk cId="0" sldId="256"/>
            <ac:spMk id="10" creationId="{00000000-0000-0000-0000-000000000000}"/>
          </ac:spMkLst>
        </pc:spChg>
      </pc:sldChg>
      <pc:sldChg chg="modSp">
        <pc:chgData name="ayushmgarg10" userId="S::ayushmgarg10_gmail.com#ext#@o365vguard.onmicrosoft.com::b81b96db-2642-4e7e-8cfb-a9c97645db91" providerId="AD" clId="Web-{12AE4705-9062-2E96-637A-939106D7F8FF}" dt="2026-09-23T23:44:16.748" v="16" actId="20577"/>
        <pc:sldMkLst>
          <pc:docMk/>
          <pc:sldMk cId="0" sldId="257"/>
        </pc:sldMkLst>
        <pc:spChg chg="mod">
          <ac:chgData name="ayushmgarg10" userId="S::ayushmgarg10_gmail.com#ext#@o365vguard.onmicrosoft.com::b81b96db-2642-4e7e-8cfb-a9c97645db91" providerId="AD" clId="Web-{12AE4705-9062-2E96-637A-939106D7F8FF}" dt="2026-09-23T23:44:04.576" v="14" actId="20577"/>
          <ac:spMkLst>
            <pc:docMk/>
            <pc:sldMk cId="0" sldId="257"/>
            <ac:spMk id="11" creationId="{00000000-0000-0000-0000-000000000000}"/>
          </ac:spMkLst>
        </pc:spChg>
        <pc:spChg chg="mod">
          <ac:chgData name="ayushmgarg10" userId="S::ayushmgarg10_gmail.com#ext#@o365vguard.onmicrosoft.com::b81b96db-2642-4e7e-8cfb-a9c97645db91" providerId="AD" clId="Web-{12AE4705-9062-2E96-637A-939106D7F8FF}" dt="2026-09-23T23:44:16.748" v="16" actId="20577"/>
          <ac:spMkLst>
            <pc:docMk/>
            <pc:sldMk cId="0" sldId="257"/>
            <ac:spMk id="15" creationId="{00000000-0000-0000-0000-000000000000}"/>
          </ac:spMkLst>
        </pc:spChg>
      </pc:sldChg>
      <pc:sldChg chg="ord">
        <pc:chgData name="ayushmgarg10" userId="S::ayushmgarg10_gmail.com#ext#@o365vguard.onmicrosoft.com::b81b96db-2642-4e7e-8cfb-a9c97645db91" providerId="AD" clId="Web-{12AE4705-9062-2E96-637A-939106D7F8FF}" dt="2026-09-24T00:26:55.453" v="34"/>
        <pc:sldMkLst>
          <pc:docMk/>
          <pc:sldMk cId="0" sldId="260"/>
        </pc:sldMkLst>
      </pc:sldChg>
      <pc:sldChg chg="modSp ord">
        <pc:chgData name="ayushmgarg10" userId="S::ayushmgarg10_gmail.com#ext#@o365vguard.onmicrosoft.com::b81b96db-2642-4e7e-8cfb-a9c97645db91" providerId="AD" clId="Web-{12AE4705-9062-2E96-637A-939106D7F8FF}" dt="2026-09-23T23:50:36.663" v="22"/>
        <pc:sldMkLst>
          <pc:docMk/>
          <pc:sldMk cId="0" sldId="264"/>
        </pc:sldMkLst>
        <pc:spChg chg="mod">
          <ac:chgData name="ayushmgarg10" userId="S::ayushmgarg10_gmail.com#ext#@o365vguard.onmicrosoft.com::b81b96db-2642-4e7e-8cfb-a9c97645db91" providerId="AD" clId="Web-{12AE4705-9062-2E96-637A-939106D7F8FF}" dt="2026-09-23T23:32:18.457" v="10" actId="20577"/>
          <ac:spMkLst>
            <pc:docMk/>
            <pc:sldMk cId="0" sldId="264"/>
            <ac:spMk id="14" creationId="{00000000-0000-0000-0000-000000000000}"/>
          </ac:spMkLst>
        </pc:spChg>
      </pc:sldChg>
      <pc:sldChg chg="ord">
        <pc:chgData name="ayushmgarg10" userId="S::ayushmgarg10_gmail.com#ext#@o365vguard.onmicrosoft.com::b81b96db-2642-4e7e-8cfb-a9c97645db91" providerId="AD" clId="Web-{12AE4705-9062-2E96-637A-939106D7F8FF}" dt="2026-09-23T23:51:32.257" v="24"/>
        <pc:sldMkLst>
          <pc:docMk/>
          <pc:sldMk cId="0" sldId="265"/>
        </pc:sldMkLst>
      </pc:sldChg>
      <pc:sldChg chg="ord">
        <pc:chgData name="ayushmgarg10" userId="S::ayushmgarg10_gmail.com#ext#@o365vguard.onmicrosoft.com::b81b96db-2642-4e7e-8cfb-a9c97645db91" providerId="AD" clId="Web-{12AE4705-9062-2E96-637A-939106D7F8FF}" dt="2026-09-23T23:50:49.647" v="23"/>
        <pc:sldMkLst>
          <pc:docMk/>
          <pc:sldMk cId="0" sldId="266"/>
        </pc:sldMkLst>
      </pc:sldChg>
    </pc:docChg>
  </pc:docChgLst>
  <pc:docChgLst>
    <pc:chgData name="ayushmgarg10" userId="S::ayushmgarg10_gmail.com#ext#@o365vguard.onmicrosoft.com::b81b96db-2642-4e7e-8cfb-a9c97645db91" providerId="AD" clId="Web-{00000000-0000-0000-0000-000000000000}"/>
    <pc:docChg chg="modSld sldOrd">
      <pc:chgData name="ayushmgarg10" userId="S::ayushmgarg10_gmail.com#ext#@o365vguard.onmicrosoft.com::b81b96db-2642-4e7e-8cfb-a9c97645db91" providerId="AD" clId="Web-{00000000-0000-0000-0000-000000000000}" dt="2026-09-24T01:34:05.888" v="4"/>
      <pc:docMkLst>
        <pc:docMk/>
      </pc:docMkLst>
      <pc:sldChg chg="ord">
        <pc:chgData name="ayushmgarg10" userId="S::ayushmgarg10_gmail.com#ext#@o365vguard.onmicrosoft.com::b81b96db-2642-4e7e-8cfb-a9c97645db91" providerId="AD" clId="Web-{00000000-0000-0000-0000-000000000000}" dt="2026-09-24T01:34:05.888" v="4"/>
        <pc:sldMkLst>
          <pc:docMk/>
          <pc:sldMk cId="0" sldId="259"/>
        </pc:sldMkLst>
      </pc:sldChg>
      <pc:sldChg chg="modSp">
        <pc:chgData name="ayushmgarg10" userId="S::ayushmgarg10_gmail.com#ext#@o365vguard.onmicrosoft.com::b81b96db-2642-4e7e-8cfb-a9c97645db91" providerId="AD" clId="Web-{00000000-0000-0000-0000-000000000000}" dt="2026-09-24T01:22:25.181" v="1" actId="1076"/>
        <pc:sldMkLst>
          <pc:docMk/>
          <pc:sldMk cId="0" sldId="266"/>
        </pc:sldMkLst>
        <pc:picChg chg="mod">
          <ac:chgData name="ayushmgarg10" userId="S::ayushmgarg10_gmail.com#ext#@o365vguard.onmicrosoft.com::b81b96db-2642-4e7e-8cfb-a9c97645db91" providerId="AD" clId="Web-{00000000-0000-0000-0000-000000000000}" dt="2026-09-24T01:22:25.181" v="1" actId="1076"/>
          <ac:picMkLst>
            <pc:docMk/>
            <pc:sldMk cId="0" sldId="266"/>
            <ac:picMk id="9" creationId="{00000000-0000-0000-0000-000000000000}"/>
          </ac:picMkLst>
        </pc:picChg>
      </pc:sldChg>
    </pc:docChg>
  </pc:docChgLst>
  <pc:docChgLst>
    <pc:chgData name="ayushmgarg10" userId="S::ayushmgarg10_gmail.com#ext#@o365vguard.onmicrosoft.com::b81b96db-2642-4e7e-8cfb-a9c97645db91" providerId="AD" clId="Web-{CED3A20F-2794-35C0-B674-70A559C4C17F}"/>
    <pc:docChg chg="modSld sldOrd">
      <pc:chgData name="ayushmgarg10" userId="S::ayushmgarg10_gmail.com#ext#@o365vguard.onmicrosoft.com::b81b96db-2642-4e7e-8cfb-a9c97645db91" providerId="AD" clId="Web-{CED3A20F-2794-35C0-B674-70A559C4C17F}" dt="2026-09-23T23:24:43.208" v="222" actId="20577"/>
      <pc:docMkLst>
        <pc:docMk/>
      </pc:docMkLst>
      <pc:sldChg chg="modSp">
        <pc:chgData name="ayushmgarg10" userId="S::ayushmgarg10_gmail.com#ext#@o365vguard.onmicrosoft.com::b81b96db-2642-4e7e-8cfb-a9c97645db91" providerId="AD" clId="Web-{CED3A20F-2794-35C0-B674-70A559C4C17F}" dt="2026-09-23T23:09:20.963" v="8" actId="20577"/>
        <pc:sldMkLst>
          <pc:docMk/>
          <pc:sldMk cId="0" sldId="257"/>
        </pc:sldMkLst>
        <pc:spChg chg="mod">
          <ac:chgData name="ayushmgarg10" userId="S::ayushmgarg10_gmail.com#ext#@o365vguard.onmicrosoft.com::b81b96db-2642-4e7e-8cfb-a9c97645db91" providerId="AD" clId="Web-{CED3A20F-2794-35C0-B674-70A559C4C17F}" dt="2026-09-23T23:09:12.369" v="2" actId="20577"/>
          <ac:spMkLst>
            <pc:docMk/>
            <pc:sldMk cId="0" sldId="257"/>
            <ac:spMk id="4" creationId="{00000000-0000-0000-0000-000000000000}"/>
          </ac:spMkLst>
        </pc:spChg>
        <pc:spChg chg="mod">
          <ac:chgData name="ayushmgarg10" userId="S::ayushmgarg10_gmail.com#ext#@o365vguard.onmicrosoft.com::b81b96db-2642-4e7e-8cfb-a9c97645db91" providerId="AD" clId="Web-{CED3A20F-2794-35C0-B674-70A559C4C17F}" dt="2026-09-23T23:09:16.853" v="5" actId="20577"/>
          <ac:spMkLst>
            <pc:docMk/>
            <pc:sldMk cId="0" sldId="257"/>
            <ac:spMk id="5" creationId="{00000000-0000-0000-0000-000000000000}"/>
          </ac:spMkLst>
        </pc:spChg>
        <pc:spChg chg="mod">
          <ac:chgData name="ayushmgarg10" userId="S::ayushmgarg10_gmail.com#ext#@o365vguard.onmicrosoft.com::b81b96db-2642-4e7e-8cfb-a9c97645db91" providerId="AD" clId="Web-{CED3A20F-2794-35C0-B674-70A559C4C17F}" dt="2026-09-23T23:09:20.963" v="8" actId="20577"/>
          <ac:spMkLst>
            <pc:docMk/>
            <pc:sldMk cId="0" sldId="257"/>
            <ac:spMk id="13" creationId="{00000000-0000-0000-0000-000000000000}"/>
          </ac:spMkLst>
        </pc:spChg>
      </pc:sldChg>
      <pc:sldChg chg="modSp">
        <pc:chgData name="ayushmgarg10" userId="S::ayushmgarg10_gmail.com#ext#@o365vguard.onmicrosoft.com::b81b96db-2642-4e7e-8cfb-a9c97645db91" providerId="AD" clId="Web-{CED3A20F-2794-35C0-B674-70A559C4C17F}" dt="2026-09-23T23:10:33.416" v="18" actId="20577"/>
        <pc:sldMkLst>
          <pc:docMk/>
          <pc:sldMk cId="0" sldId="258"/>
        </pc:sldMkLst>
        <pc:spChg chg="mod">
          <ac:chgData name="ayushmgarg10" userId="S::ayushmgarg10_gmail.com#ext#@o365vguard.onmicrosoft.com::b81b96db-2642-4e7e-8cfb-a9c97645db91" providerId="AD" clId="Web-{CED3A20F-2794-35C0-B674-70A559C4C17F}" dt="2026-09-23T23:10:33.416" v="18" actId="20577"/>
          <ac:spMkLst>
            <pc:docMk/>
            <pc:sldMk cId="0" sldId="258"/>
            <ac:spMk id="5" creationId="{00000000-0000-0000-0000-000000000000}"/>
          </ac:spMkLst>
        </pc:spChg>
        <pc:spChg chg="mod">
          <ac:chgData name="ayushmgarg10" userId="S::ayushmgarg10_gmail.com#ext#@o365vguard.onmicrosoft.com::b81b96db-2642-4e7e-8cfb-a9c97645db91" providerId="AD" clId="Web-{CED3A20F-2794-35C0-B674-70A559C4C17F}" dt="2026-09-23T23:09:54.760" v="15" actId="20577"/>
          <ac:spMkLst>
            <pc:docMk/>
            <pc:sldMk cId="0" sldId="258"/>
            <ac:spMk id="13" creationId="{00000000-0000-0000-0000-000000000000}"/>
          </ac:spMkLst>
        </pc:spChg>
      </pc:sldChg>
      <pc:sldChg chg="modSp">
        <pc:chgData name="ayushmgarg10" userId="S::ayushmgarg10_gmail.com#ext#@o365vguard.onmicrosoft.com::b81b96db-2642-4e7e-8cfb-a9c97645db91" providerId="AD" clId="Web-{CED3A20F-2794-35C0-B674-70A559C4C17F}" dt="2026-09-23T23:10:06.541" v="17" actId="20577"/>
        <pc:sldMkLst>
          <pc:docMk/>
          <pc:sldMk cId="0" sldId="259"/>
        </pc:sldMkLst>
        <pc:spChg chg="mod">
          <ac:chgData name="ayushmgarg10" userId="S::ayushmgarg10_gmail.com#ext#@o365vguard.onmicrosoft.com::b81b96db-2642-4e7e-8cfb-a9c97645db91" providerId="AD" clId="Web-{CED3A20F-2794-35C0-B674-70A559C4C17F}" dt="2026-09-23T23:10:06.541" v="17" actId="20577"/>
          <ac:spMkLst>
            <pc:docMk/>
            <pc:sldMk cId="0" sldId="259"/>
            <ac:spMk id="5" creationId="{00000000-0000-0000-0000-000000000000}"/>
          </ac:spMkLst>
        </pc:spChg>
      </pc:sldChg>
      <pc:sldChg chg="modSp">
        <pc:chgData name="ayushmgarg10" userId="S::ayushmgarg10_gmail.com#ext#@o365vguard.onmicrosoft.com::b81b96db-2642-4e7e-8cfb-a9c97645db91" providerId="AD" clId="Web-{CED3A20F-2794-35C0-B674-70A559C4C17F}" dt="2026-09-23T23:12:08.651" v="51" actId="20577"/>
        <pc:sldMkLst>
          <pc:docMk/>
          <pc:sldMk cId="0" sldId="260"/>
        </pc:sldMkLst>
        <pc:spChg chg="mod">
          <ac:chgData name="ayushmgarg10" userId="S::ayushmgarg10_gmail.com#ext#@o365vguard.onmicrosoft.com::b81b96db-2642-4e7e-8cfb-a9c97645db91" providerId="AD" clId="Web-{CED3A20F-2794-35C0-B674-70A559C4C17F}" dt="2026-09-23T23:12:08.651" v="51" actId="20577"/>
          <ac:spMkLst>
            <pc:docMk/>
            <pc:sldMk cId="0" sldId="260"/>
            <ac:spMk id="4" creationId="{00000000-0000-0000-0000-000000000000}"/>
          </ac:spMkLst>
        </pc:spChg>
        <pc:spChg chg="mod">
          <ac:chgData name="ayushmgarg10" userId="S::ayushmgarg10_gmail.com#ext#@o365vguard.onmicrosoft.com::b81b96db-2642-4e7e-8cfb-a9c97645db91" providerId="AD" clId="Web-{CED3A20F-2794-35C0-B674-70A559C4C17F}" dt="2026-09-23T23:11:19.729" v="25" actId="20577"/>
          <ac:spMkLst>
            <pc:docMk/>
            <pc:sldMk cId="0" sldId="260"/>
            <ac:spMk id="11" creationId="{00000000-0000-0000-0000-000000000000}"/>
          </ac:spMkLst>
        </pc:spChg>
        <pc:spChg chg="mod">
          <ac:chgData name="ayushmgarg10" userId="S::ayushmgarg10_gmail.com#ext#@o365vguard.onmicrosoft.com::b81b96db-2642-4e7e-8cfb-a9c97645db91" providerId="AD" clId="Web-{CED3A20F-2794-35C0-B674-70A559C4C17F}" dt="2026-09-23T23:11:42.073" v="36" actId="20577"/>
          <ac:spMkLst>
            <pc:docMk/>
            <pc:sldMk cId="0" sldId="260"/>
            <ac:spMk id="23" creationId="{00000000-0000-0000-0000-000000000000}"/>
          </ac:spMkLst>
        </pc:spChg>
      </pc:sldChg>
      <pc:sldChg chg="delSp modSp">
        <pc:chgData name="ayushmgarg10" userId="S::ayushmgarg10_gmail.com#ext#@o365vguard.onmicrosoft.com::b81b96db-2642-4e7e-8cfb-a9c97645db91" providerId="AD" clId="Web-{CED3A20F-2794-35C0-B674-70A559C4C17F}" dt="2026-09-23T23:14:48.313" v="107" actId="20577"/>
        <pc:sldMkLst>
          <pc:docMk/>
          <pc:sldMk cId="0" sldId="261"/>
        </pc:sldMkLst>
        <pc:spChg chg="mod">
          <ac:chgData name="ayushmgarg10" userId="S::ayushmgarg10_gmail.com#ext#@o365vguard.onmicrosoft.com::b81b96db-2642-4e7e-8cfb-a9c97645db91" providerId="AD" clId="Web-{CED3A20F-2794-35C0-B674-70A559C4C17F}" dt="2026-09-23T23:14:15.063" v="106" actId="20577"/>
          <ac:spMkLst>
            <pc:docMk/>
            <pc:sldMk cId="0" sldId="261"/>
            <ac:spMk id="4" creationId="{00000000-0000-0000-0000-000000000000}"/>
          </ac:spMkLst>
        </pc:spChg>
        <pc:spChg chg="mod">
          <ac:chgData name="ayushmgarg10" userId="S::ayushmgarg10_gmail.com#ext#@o365vguard.onmicrosoft.com::b81b96db-2642-4e7e-8cfb-a9c97645db91" providerId="AD" clId="Web-{CED3A20F-2794-35C0-B674-70A559C4C17F}" dt="2026-09-23T23:12:45.683" v="54" actId="20577"/>
          <ac:spMkLst>
            <pc:docMk/>
            <pc:sldMk cId="0" sldId="261"/>
            <ac:spMk id="5" creationId="{00000000-0000-0000-0000-000000000000}"/>
          </ac:spMkLst>
        </pc:spChg>
        <pc:spChg chg="mod">
          <ac:chgData name="ayushmgarg10" userId="S::ayushmgarg10_gmail.com#ext#@o365vguard.onmicrosoft.com::b81b96db-2642-4e7e-8cfb-a9c97645db91" providerId="AD" clId="Web-{CED3A20F-2794-35C0-B674-70A559C4C17F}" dt="2026-09-23T23:14:48.313" v="107" actId="20577"/>
          <ac:spMkLst>
            <pc:docMk/>
            <pc:sldMk cId="0" sldId="261"/>
            <ac:spMk id="9" creationId="{00000000-0000-0000-0000-000000000000}"/>
          </ac:spMkLst>
        </pc:spChg>
        <pc:spChg chg="mod">
          <ac:chgData name="ayushmgarg10" userId="S::ayushmgarg10_gmail.com#ext#@o365vguard.onmicrosoft.com::b81b96db-2642-4e7e-8cfb-a9c97645db91" providerId="AD" clId="Web-{CED3A20F-2794-35C0-B674-70A559C4C17F}" dt="2026-09-23T23:13:49.063" v="104" actId="20577"/>
          <ac:spMkLst>
            <pc:docMk/>
            <pc:sldMk cId="0" sldId="261"/>
            <ac:spMk id="20" creationId="{00000000-0000-0000-0000-000000000000}"/>
          </ac:spMkLst>
        </pc:spChg>
        <pc:spChg chg="del mod">
          <ac:chgData name="ayushmgarg10" userId="S::ayushmgarg10_gmail.com#ext#@o365vguard.onmicrosoft.com::b81b96db-2642-4e7e-8cfb-a9c97645db91" providerId="AD" clId="Web-{CED3A20F-2794-35C0-B674-70A559C4C17F}" dt="2026-09-23T23:13:34.844" v="87"/>
          <ac:spMkLst>
            <pc:docMk/>
            <pc:sldMk cId="0" sldId="261"/>
            <ac:spMk id="23" creationId="{00000000-0000-0000-0000-000000000000}"/>
          </ac:spMkLst>
        </pc:spChg>
      </pc:sldChg>
      <pc:sldChg chg="modSp">
        <pc:chgData name="ayushmgarg10" userId="S::ayushmgarg10_gmail.com#ext#@o365vguard.onmicrosoft.com::b81b96db-2642-4e7e-8cfb-a9c97645db91" providerId="AD" clId="Web-{CED3A20F-2794-35C0-B674-70A559C4C17F}" dt="2026-09-23T23:15:32.642" v="138" actId="20577"/>
        <pc:sldMkLst>
          <pc:docMk/>
          <pc:sldMk cId="0" sldId="262"/>
        </pc:sldMkLst>
        <pc:spChg chg="mod">
          <ac:chgData name="ayushmgarg10" userId="S::ayushmgarg10_gmail.com#ext#@o365vguard.onmicrosoft.com::b81b96db-2642-4e7e-8cfb-a9c97645db91" providerId="AD" clId="Web-{CED3A20F-2794-35C0-B674-70A559C4C17F}" dt="2026-09-23T23:15:32.642" v="138" actId="20577"/>
          <ac:spMkLst>
            <pc:docMk/>
            <pc:sldMk cId="0" sldId="262"/>
            <ac:spMk id="4" creationId="{00000000-0000-0000-0000-000000000000}"/>
          </ac:spMkLst>
        </pc:spChg>
        <pc:spChg chg="mod">
          <ac:chgData name="ayushmgarg10" userId="S::ayushmgarg10_gmail.com#ext#@o365vguard.onmicrosoft.com::b81b96db-2642-4e7e-8cfb-a9c97645db91" providerId="AD" clId="Web-{CED3A20F-2794-35C0-B674-70A559C4C17F}" dt="2026-09-23T23:15:11.220" v="129" actId="20577"/>
          <ac:spMkLst>
            <pc:docMk/>
            <pc:sldMk cId="0" sldId="262"/>
            <ac:spMk id="5" creationId="{00000000-0000-0000-0000-000000000000}"/>
          </ac:spMkLst>
        </pc:spChg>
      </pc:sldChg>
      <pc:sldChg chg="modSp">
        <pc:chgData name="ayushmgarg10" userId="S::ayushmgarg10_gmail.com#ext#@o365vguard.onmicrosoft.com::b81b96db-2642-4e7e-8cfb-a9c97645db91" providerId="AD" clId="Web-{CED3A20F-2794-35C0-B674-70A559C4C17F}" dt="2026-09-23T23:16:35.377" v="160" actId="20577"/>
        <pc:sldMkLst>
          <pc:docMk/>
          <pc:sldMk cId="0" sldId="263"/>
        </pc:sldMkLst>
        <pc:spChg chg="mod">
          <ac:chgData name="ayushmgarg10" userId="S::ayushmgarg10_gmail.com#ext#@o365vguard.onmicrosoft.com::b81b96db-2642-4e7e-8cfb-a9c97645db91" providerId="AD" clId="Web-{CED3A20F-2794-35C0-B674-70A559C4C17F}" dt="2026-09-23T23:16:35.377" v="160" actId="20577"/>
          <ac:spMkLst>
            <pc:docMk/>
            <pc:sldMk cId="0" sldId="263"/>
            <ac:spMk id="5" creationId="{00000000-0000-0000-0000-000000000000}"/>
          </ac:spMkLst>
        </pc:spChg>
      </pc:sldChg>
      <pc:sldChg chg="addSp delSp modSp">
        <pc:chgData name="ayushmgarg10" userId="S::ayushmgarg10_gmail.com#ext#@o365vguard.onmicrosoft.com::b81b96db-2642-4e7e-8cfb-a9c97645db91" providerId="AD" clId="Web-{CED3A20F-2794-35C0-B674-70A559C4C17F}" dt="2026-09-23T23:19:23.784" v="181" actId="20577"/>
        <pc:sldMkLst>
          <pc:docMk/>
          <pc:sldMk cId="0" sldId="266"/>
        </pc:sldMkLst>
        <pc:spChg chg="add del mod">
          <ac:chgData name="ayushmgarg10" userId="S::ayushmgarg10_gmail.com#ext#@o365vguard.onmicrosoft.com::b81b96db-2642-4e7e-8cfb-a9c97645db91" providerId="AD" clId="Web-{CED3A20F-2794-35C0-B674-70A559C4C17F}" dt="2026-09-23T23:19:23.784" v="181" actId="20577"/>
          <ac:spMkLst>
            <pc:docMk/>
            <pc:sldMk cId="0" sldId="266"/>
            <ac:spMk id="5" creationId="{00000000-0000-0000-0000-000000000000}"/>
          </ac:spMkLst>
        </pc:spChg>
        <pc:picChg chg="mod modCrop">
          <ac:chgData name="ayushmgarg10" userId="S::ayushmgarg10_gmail.com#ext#@o365vguard.onmicrosoft.com::b81b96db-2642-4e7e-8cfb-a9c97645db91" providerId="AD" clId="Web-{CED3A20F-2794-35C0-B674-70A559C4C17F}" dt="2026-09-23T23:18:00.861" v="164"/>
          <ac:picMkLst>
            <pc:docMk/>
            <pc:sldMk cId="0" sldId="266"/>
            <ac:picMk id="9" creationId="{00000000-0000-0000-0000-000000000000}"/>
          </ac:picMkLst>
        </pc:picChg>
      </pc:sldChg>
      <pc:sldChg chg="modSp">
        <pc:chgData name="ayushmgarg10" userId="S::ayushmgarg10_gmail.com#ext#@o365vguard.onmicrosoft.com::b81b96db-2642-4e7e-8cfb-a9c97645db91" providerId="AD" clId="Web-{CED3A20F-2794-35C0-B674-70A559C4C17F}" dt="2026-09-23T23:20:14.472" v="195" actId="20577"/>
        <pc:sldMkLst>
          <pc:docMk/>
          <pc:sldMk cId="0" sldId="267"/>
        </pc:sldMkLst>
        <pc:spChg chg="mod">
          <ac:chgData name="ayushmgarg10" userId="S::ayushmgarg10_gmail.com#ext#@o365vguard.onmicrosoft.com::b81b96db-2642-4e7e-8cfb-a9c97645db91" providerId="AD" clId="Web-{CED3A20F-2794-35C0-B674-70A559C4C17F}" dt="2026-09-23T23:19:31.315" v="183" actId="20577"/>
          <ac:spMkLst>
            <pc:docMk/>
            <pc:sldMk cId="0" sldId="267"/>
            <ac:spMk id="5" creationId="{00000000-0000-0000-0000-000000000000}"/>
          </ac:spMkLst>
        </pc:spChg>
        <pc:spChg chg="mod">
          <ac:chgData name="ayushmgarg10" userId="S::ayushmgarg10_gmail.com#ext#@o365vguard.onmicrosoft.com::b81b96db-2642-4e7e-8cfb-a9c97645db91" providerId="AD" clId="Web-{CED3A20F-2794-35C0-B674-70A559C4C17F}" dt="2026-09-23T23:20:14.472" v="195" actId="20577"/>
          <ac:spMkLst>
            <pc:docMk/>
            <pc:sldMk cId="0" sldId="267"/>
            <ac:spMk id="6" creationId="{00000000-0000-0000-0000-000000000000}"/>
          </ac:spMkLst>
        </pc:spChg>
      </pc:sldChg>
      <pc:sldChg chg="mod modShow">
        <pc:chgData name="ayushmgarg10" userId="S::ayushmgarg10_gmail.com#ext#@o365vguard.onmicrosoft.com::b81b96db-2642-4e7e-8cfb-a9c97645db91" providerId="AD" clId="Web-{CED3A20F-2794-35C0-B674-70A559C4C17F}" dt="2026-09-23T23:20:27.050" v="196"/>
        <pc:sldMkLst>
          <pc:docMk/>
          <pc:sldMk cId="0" sldId="268"/>
        </pc:sldMkLst>
      </pc:sldChg>
      <pc:sldChg chg="modSp">
        <pc:chgData name="ayushmgarg10" userId="S::ayushmgarg10_gmail.com#ext#@o365vguard.onmicrosoft.com::b81b96db-2642-4e7e-8cfb-a9c97645db91" providerId="AD" clId="Web-{CED3A20F-2794-35C0-B674-70A559C4C17F}" dt="2026-09-23T23:20:53.644" v="209" actId="20577"/>
        <pc:sldMkLst>
          <pc:docMk/>
          <pc:sldMk cId="0" sldId="269"/>
        </pc:sldMkLst>
        <pc:spChg chg="mod">
          <ac:chgData name="ayushmgarg10" userId="S::ayushmgarg10_gmail.com#ext#@o365vguard.onmicrosoft.com::b81b96db-2642-4e7e-8cfb-a9c97645db91" providerId="AD" clId="Web-{CED3A20F-2794-35C0-B674-70A559C4C17F}" dt="2026-09-23T23:20:43.488" v="198" actId="20577"/>
          <ac:spMkLst>
            <pc:docMk/>
            <pc:sldMk cId="0" sldId="269"/>
            <ac:spMk id="4" creationId="{00000000-0000-0000-0000-000000000000}"/>
          </ac:spMkLst>
        </pc:spChg>
        <pc:spChg chg="mod">
          <ac:chgData name="ayushmgarg10" userId="S::ayushmgarg10_gmail.com#ext#@o365vguard.onmicrosoft.com::b81b96db-2642-4e7e-8cfb-a9c97645db91" providerId="AD" clId="Web-{CED3A20F-2794-35C0-B674-70A559C4C17F}" dt="2026-09-23T23:20:53.644" v="209" actId="20577"/>
          <ac:spMkLst>
            <pc:docMk/>
            <pc:sldMk cId="0" sldId="269"/>
            <ac:spMk id="5" creationId="{00000000-0000-0000-0000-000000000000}"/>
          </ac:spMkLst>
        </pc:spChg>
      </pc:sldChg>
      <pc:sldChg chg="modSp">
        <pc:chgData name="ayushmgarg10" userId="S::ayushmgarg10_gmail.com#ext#@o365vguard.onmicrosoft.com::b81b96db-2642-4e7e-8cfb-a9c97645db91" providerId="AD" clId="Web-{CED3A20F-2794-35C0-B674-70A559C4C17F}" dt="2026-09-23T23:23:01.223" v="217" actId="20577"/>
        <pc:sldMkLst>
          <pc:docMk/>
          <pc:sldMk cId="0" sldId="270"/>
        </pc:sldMkLst>
        <pc:spChg chg="mod">
          <ac:chgData name="ayushmgarg10" userId="S::ayushmgarg10_gmail.com#ext#@o365vguard.onmicrosoft.com::b81b96db-2642-4e7e-8cfb-a9c97645db91" providerId="AD" clId="Web-{CED3A20F-2794-35C0-B674-70A559C4C17F}" dt="2026-09-23T23:22:15.723" v="211" actId="20577"/>
          <ac:spMkLst>
            <pc:docMk/>
            <pc:sldMk cId="0" sldId="270"/>
            <ac:spMk id="4" creationId="{00000000-0000-0000-0000-000000000000}"/>
          </ac:spMkLst>
        </pc:spChg>
        <pc:spChg chg="mod">
          <ac:chgData name="ayushmgarg10" userId="S::ayushmgarg10_gmail.com#ext#@o365vguard.onmicrosoft.com::b81b96db-2642-4e7e-8cfb-a9c97645db91" providerId="AD" clId="Web-{CED3A20F-2794-35C0-B674-70A559C4C17F}" dt="2026-09-23T23:23:01.223" v="217" actId="20577"/>
          <ac:spMkLst>
            <pc:docMk/>
            <pc:sldMk cId="0" sldId="270"/>
            <ac:spMk id="11" creationId="{00000000-0000-0000-0000-000000000000}"/>
          </ac:spMkLst>
        </pc:spChg>
        <pc:spChg chg="mod">
          <ac:chgData name="ayushmgarg10" userId="S::ayushmgarg10_gmail.com#ext#@o365vguard.onmicrosoft.com::b81b96db-2642-4e7e-8cfb-a9c97645db91" providerId="AD" clId="Web-{CED3A20F-2794-35C0-B674-70A559C4C17F}" dt="2026-09-23T23:22:56.145" v="213" actId="20577"/>
          <ac:spMkLst>
            <pc:docMk/>
            <pc:sldMk cId="0" sldId="270"/>
            <ac:spMk id="16" creationId="{00000000-0000-0000-0000-000000000000}"/>
          </ac:spMkLst>
        </pc:spChg>
      </pc:sldChg>
      <pc:sldChg chg="ord">
        <pc:chgData name="ayushmgarg10" userId="S::ayushmgarg10_gmail.com#ext#@o365vguard.onmicrosoft.com::b81b96db-2642-4e7e-8cfb-a9c97645db91" providerId="AD" clId="Web-{CED3A20F-2794-35C0-B674-70A559C4C17F}" dt="2026-09-23T23:23:47.223" v="218"/>
        <pc:sldMkLst>
          <pc:docMk/>
          <pc:sldMk cId="0" sldId="271"/>
        </pc:sldMkLst>
      </pc:sldChg>
      <pc:sldChg chg="modSp">
        <pc:chgData name="ayushmgarg10" userId="S::ayushmgarg10_gmail.com#ext#@o365vguard.onmicrosoft.com::b81b96db-2642-4e7e-8cfb-a9c97645db91" providerId="AD" clId="Web-{CED3A20F-2794-35C0-B674-70A559C4C17F}" dt="2026-09-23T23:24:43.208" v="222" actId="20577"/>
        <pc:sldMkLst>
          <pc:docMk/>
          <pc:sldMk cId="0" sldId="275"/>
        </pc:sldMkLst>
        <pc:spChg chg="mod">
          <ac:chgData name="ayushmgarg10" userId="S::ayushmgarg10_gmail.com#ext#@o365vguard.onmicrosoft.com::b81b96db-2642-4e7e-8cfb-a9c97645db91" providerId="AD" clId="Web-{CED3A20F-2794-35C0-B674-70A559C4C17F}" dt="2026-09-23T23:24:43.208" v="222" actId="20577"/>
          <ac:spMkLst>
            <pc:docMk/>
            <pc:sldMk cId="0" sldId="275"/>
            <ac:spMk id="7"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manualLayout>
          <c:layoutTarget val="inner"/>
          <c:xMode val="edge"/>
          <c:yMode val="edge"/>
          <c:x val="7.0000000000000007E-2"/>
          <c:y val="0.11"/>
          <c:w val="0.91"/>
          <c:h val="0.77"/>
        </c:manualLayout>
      </c:layout>
      <c:lineChart>
        <c:grouping val="standard"/>
        <c:varyColors val="0"/>
        <c:ser>
          <c:idx val="0"/>
          <c:order val="0"/>
          <c:tx>
            <c:strRef>
              <c:f>Sheet1!$B$1</c:f>
              <c:strCache>
                <c:ptCount val="1"/>
                <c:pt idx="0">
                  <c:v>Home 1 — with Sentinel</c:v>
                </c:pt>
              </c:strCache>
            </c:strRef>
          </c:tx>
          <c:spPr>
            <a:ln w="44450">
              <a:solidFill>
                <a:srgbClr val="F39200"/>
              </a:solidFill>
            </a:ln>
          </c:spPr>
          <c:marker>
            <c:symbol val="none"/>
          </c:marker>
          <c:cat>
            <c:strRef>
              <c:f>Sheet1!$A$2:$A$64</c:f>
              <c:strCache>
                <c:ptCount val="63"/>
                <c:pt idx="0">
                  <c:v>18:20</c:v>
                </c:pt>
                <c:pt idx="1">
                  <c:v>18:25</c:v>
                </c:pt>
                <c:pt idx="2">
                  <c:v>18:30</c:v>
                </c:pt>
                <c:pt idx="3">
                  <c:v>18:35</c:v>
                </c:pt>
                <c:pt idx="4">
                  <c:v>18:40</c:v>
                </c:pt>
                <c:pt idx="5">
                  <c:v>18:45</c:v>
                </c:pt>
                <c:pt idx="6">
                  <c:v>18:50</c:v>
                </c:pt>
                <c:pt idx="7">
                  <c:v>18:55</c:v>
                </c:pt>
                <c:pt idx="8">
                  <c:v>19:00</c:v>
                </c:pt>
                <c:pt idx="9">
                  <c:v>19:05</c:v>
                </c:pt>
                <c:pt idx="10">
                  <c:v>19:10</c:v>
                </c:pt>
                <c:pt idx="11">
                  <c:v>19:15</c:v>
                </c:pt>
                <c:pt idx="12">
                  <c:v>19:20</c:v>
                </c:pt>
                <c:pt idx="13">
                  <c:v>19:25</c:v>
                </c:pt>
                <c:pt idx="14">
                  <c:v>19:30</c:v>
                </c:pt>
                <c:pt idx="15">
                  <c:v>19:35</c:v>
                </c:pt>
                <c:pt idx="16">
                  <c:v>19:40</c:v>
                </c:pt>
                <c:pt idx="17">
                  <c:v>19:45</c:v>
                </c:pt>
                <c:pt idx="18">
                  <c:v>19:50</c:v>
                </c:pt>
                <c:pt idx="19">
                  <c:v>19:55</c:v>
                </c:pt>
                <c:pt idx="20">
                  <c:v>20:00</c:v>
                </c:pt>
                <c:pt idx="21">
                  <c:v>20:05</c:v>
                </c:pt>
                <c:pt idx="22">
                  <c:v>20:10</c:v>
                </c:pt>
                <c:pt idx="23">
                  <c:v>20:15</c:v>
                </c:pt>
                <c:pt idx="24">
                  <c:v>20:20</c:v>
                </c:pt>
                <c:pt idx="25">
                  <c:v>20:25</c:v>
                </c:pt>
                <c:pt idx="26">
                  <c:v>20:30</c:v>
                </c:pt>
                <c:pt idx="27">
                  <c:v>20:35</c:v>
                </c:pt>
                <c:pt idx="28">
                  <c:v>20:40</c:v>
                </c:pt>
                <c:pt idx="29">
                  <c:v>20:45</c:v>
                </c:pt>
                <c:pt idx="30">
                  <c:v>20:50</c:v>
                </c:pt>
                <c:pt idx="31">
                  <c:v>20:55</c:v>
                </c:pt>
                <c:pt idx="32">
                  <c:v>21:00</c:v>
                </c:pt>
                <c:pt idx="33">
                  <c:v>21:05</c:v>
                </c:pt>
                <c:pt idx="34">
                  <c:v>21:10</c:v>
                </c:pt>
                <c:pt idx="35">
                  <c:v>21:15</c:v>
                </c:pt>
                <c:pt idx="36">
                  <c:v>21:20</c:v>
                </c:pt>
                <c:pt idx="37">
                  <c:v>21:25</c:v>
                </c:pt>
                <c:pt idx="38">
                  <c:v>21:30</c:v>
                </c:pt>
                <c:pt idx="39">
                  <c:v>21:35</c:v>
                </c:pt>
                <c:pt idx="40">
                  <c:v>21:40</c:v>
                </c:pt>
                <c:pt idx="41">
                  <c:v>21:45</c:v>
                </c:pt>
                <c:pt idx="42">
                  <c:v>21:50</c:v>
                </c:pt>
                <c:pt idx="43">
                  <c:v>21:55</c:v>
                </c:pt>
                <c:pt idx="44">
                  <c:v>22:00</c:v>
                </c:pt>
                <c:pt idx="45">
                  <c:v>22:05</c:v>
                </c:pt>
                <c:pt idx="46">
                  <c:v>22:10</c:v>
                </c:pt>
                <c:pt idx="47">
                  <c:v>22:15</c:v>
                </c:pt>
                <c:pt idx="48">
                  <c:v>22:20</c:v>
                </c:pt>
                <c:pt idx="49">
                  <c:v>22:25</c:v>
                </c:pt>
                <c:pt idx="50">
                  <c:v>22:30</c:v>
                </c:pt>
                <c:pt idx="51">
                  <c:v>22:35</c:v>
                </c:pt>
                <c:pt idx="52">
                  <c:v>22:40</c:v>
                </c:pt>
                <c:pt idx="53">
                  <c:v>22:45</c:v>
                </c:pt>
                <c:pt idx="54">
                  <c:v>22:50</c:v>
                </c:pt>
                <c:pt idx="55">
                  <c:v>22:55</c:v>
                </c:pt>
                <c:pt idx="56">
                  <c:v>23:00</c:v>
                </c:pt>
                <c:pt idx="57">
                  <c:v>23:05</c:v>
                </c:pt>
                <c:pt idx="58">
                  <c:v>23:10</c:v>
                </c:pt>
                <c:pt idx="59">
                  <c:v>23:15</c:v>
                </c:pt>
                <c:pt idx="60">
                  <c:v>23:20</c:v>
                </c:pt>
                <c:pt idx="61">
                  <c:v>23:25</c:v>
                </c:pt>
                <c:pt idx="62">
                  <c:v>23:30</c:v>
                </c:pt>
              </c:strCache>
            </c:strRef>
          </c:cat>
          <c:val>
            <c:numRef>
              <c:f>Sheet1!$B$2:$B$64</c:f>
              <c:numCache>
                <c:formatCode>General</c:formatCode>
                <c:ptCount val="63"/>
                <c:pt idx="0">
                  <c:v>94</c:v>
                </c:pt>
                <c:pt idx="1">
                  <c:v>94</c:v>
                </c:pt>
                <c:pt idx="2">
                  <c:v>94.1</c:v>
                </c:pt>
                <c:pt idx="3">
                  <c:v>94.1</c:v>
                </c:pt>
                <c:pt idx="4">
                  <c:v>94.1</c:v>
                </c:pt>
                <c:pt idx="5">
                  <c:v>94.1</c:v>
                </c:pt>
                <c:pt idx="6">
                  <c:v>94.2</c:v>
                </c:pt>
                <c:pt idx="7">
                  <c:v>94.2</c:v>
                </c:pt>
                <c:pt idx="8">
                  <c:v>94.2</c:v>
                </c:pt>
                <c:pt idx="9">
                  <c:v>92.5</c:v>
                </c:pt>
                <c:pt idx="10">
                  <c:v>90.8</c:v>
                </c:pt>
                <c:pt idx="11">
                  <c:v>89.1</c:v>
                </c:pt>
                <c:pt idx="12">
                  <c:v>85.1</c:v>
                </c:pt>
                <c:pt idx="13">
                  <c:v>81.2</c:v>
                </c:pt>
                <c:pt idx="14">
                  <c:v>77.2</c:v>
                </c:pt>
                <c:pt idx="15">
                  <c:v>72.2</c:v>
                </c:pt>
                <c:pt idx="16">
                  <c:v>70.099999999999994</c:v>
                </c:pt>
                <c:pt idx="17">
                  <c:v>67.900000000000006</c:v>
                </c:pt>
                <c:pt idx="18">
                  <c:v>66.5</c:v>
                </c:pt>
                <c:pt idx="19">
                  <c:v>65.099999999999994</c:v>
                </c:pt>
                <c:pt idx="20">
                  <c:v>63.7</c:v>
                </c:pt>
                <c:pt idx="21">
                  <c:v>61.5</c:v>
                </c:pt>
                <c:pt idx="22">
                  <c:v>59.4</c:v>
                </c:pt>
                <c:pt idx="23">
                  <c:v>57.3</c:v>
                </c:pt>
                <c:pt idx="24">
                  <c:v>55.9</c:v>
                </c:pt>
                <c:pt idx="25">
                  <c:v>54.7</c:v>
                </c:pt>
                <c:pt idx="26">
                  <c:v>54.5</c:v>
                </c:pt>
                <c:pt idx="27">
                  <c:v>53.6</c:v>
                </c:pt>
                <c:pt idx="28">
                  <c:v>52.7</c:v>
                </c:pt>
                <c:pt idx="29">
                  <c:v>51.8</c:v>
                </c:pt>
                <c:pt idx="30">
                  <c:v>51.6</c:v>
                </c:pt>
                <c:pt idx="31">
                  <c:v>51.4</c:v>
                </c:pt>
                <c:pt idx="32">
                  <c:v>51.1</c:v>
                </c:pt>
                <c:pt idx="33">
                  <c:v>50.2</c:v>
                </c:pt>
                <c:pt idx="34">
                  <c:v>49.3</c:v>
                </c:pt>
                <c:pt idx="35">
                  <c:v>48.4</c:v>
                </c:pt>
                <c:pt idx="36">
                  <c:v>48.2</c:v>
                </c:pt>
                <c:pt idx="37">
                  <c:v>48</c:v>
                </c:pt>
                <c:pt idx="38">
                  <c:v>47.8</c:v>
                </c:pt>
                <c:pt idx="39">
                  <c:v>46.9</c:v>
                </c:pt>
                <c:pt idx="40">
                  <c:v>46</c:v>
                </c:pt>
                <c:pt idx="41">
                  <c:v>45.1</c:v>
                </c:pt>
                <c:pt idx="42">
                  <c:v>44.9</c:v>
                </c:pt>
                <c:pt idx="43">
                  <c:v>44.7</c:v>
                </c:pt>
                <c:pt idx="44">
                  <c:v>44.5</c:v>
                </c:pt>
                <c:pt idx="45">
                  <c:v>43.6</c:v>
                </c:pt>
                <c:pt idx="46">
                  <c:v>42.6</c:v>
                </c:pt>
                <c:pt idx="47">
                  <c:v>41.7</c:v>
                </c:pt>
                <c:pt idx="48">
                  <c:v>41.5</c:v>
                </c:pt>
                <c:pt idx="49">
                  <c:v>41.3</c:v>
                </c:pt>
                <c:pt idx="50">
                  <c:v>41.1</c:v>
                </c:pt>
                <c:pt idx="51">
                  <c:v>40.200000000000003</c:v>
                </c:pt>
                <c:pt idx="52">
                  <c:v>39.299999999999997</c:v>
                </c:pt>
                <c:pt idx="53">
                  <c:v>38.4</c:v>
                </c:pt>
                <c:pt idx="54">
                  <c:v>38.200000000000003</c:v>
                </c:pt>
                <c:pt idx="55">
                  <c:v>38</c:v>
                </c:pt>
                <c:pt idx="56">
                  <c:v>37.799999999999997</c:v>
                </c:pt>
                <c:pt idx="57">
                  <c:v>38.6</c:v>
                </c:pt>
                <c:pt idx="58">
                  <c:v>39.4</c:v>
                </c:pt>
                <c:pt idx="59">
                  <c:v>40.200000000000003</c:v>
                </c:pt>
                <c:pt idx="60">
                  <c:v>41</c:v>
                </c:pt>
                <c:pt idx="61">
                  <c:v>41.8</c:v>
                </c:pt>
                <c:pt idx="62">
                  <c:v>42.6</c:v>
                </c:pt>
              </c:numCache>
            </c:numRef>
          </c:val>
          <c:smooth val="0"/>
          <c:extLst>
            <c:ext xmlns:c16="http://schemas.microsoft.com/office/drawing/2014/chart" uri="{C3380CC4-5D6E-409C-BE32-E72D297353CC}">
              <c16:uniqueId val="{00000000-A84F-467F-B685-7FA47FF5F03A}"/>
            </c:ext>
          </c:extLst>
        </c:ser>
        <c:ser>
          <c:idx val="1"/>
          <c:order val="1"/>
          <c:tx>
            <c:strRef>
              <c:f>Sheet1!$C$1</c:f>
              <c:strCache>
                <c:ptCount val="1"/>
                <c:pt idx="0">
                  <c:v>Home 6 — no Sentinel</c:v>
                </c:pt>
              </c:strCache>
            </c:strRef>
          </c:tx>
          <c:spPr>
            <a:ln w="44450">
              <a:solidFill>
                <a:srgbClr val="221E1F"/>
              </a:solidFill>
            </a:ln>
          </c:spPr>
          <c:marker>
            <c:symbol val="none"/>
          </c:marker>
          <c:cat>
            <c:strRef>
              <c:f>Sheet1!$A$2:$A$64</c:f>
              <c:strCache>
                <c:ptCount val="63"/>
                <c:pt idx="0">
                  <c:v>18:20</c:v>
                </c:pt>
                <c:pt idx="1">
                  <c:v>18:25</c:v>
                </c:pt>
                <c:pt idx="2">
                  <c:v>18:30</c:v>
                </c:pt>
                <c:pt idx="3">
                  <c:v>18:35</c:v>
                </c:pt>
                <c:pt idx="4">
                  <c:v>18:40</c:v>
                </c:pt>
                <c:pt idx="5">
                  <c:v>18:45</c:v>
                </c:pt>
                <c:pt idx="6">
                  <c:v>18:50</c:v>
                </c:pt>
                <c:pt idx="7">
                  <c:v>18:55</c:v>
                </c:pt>
                <c:pt idx="8">
                  <c:v>19:00</c:v>
                </c:pt>
                <c:pt idx="9">
                  <c:v>19:05</c:v>
                </c:pt>
                <c:pt idx="10">
                  <c:v>19:10</c:v>
                </c:pt>
                <c:pt idx="11">
                  <c:v>19:15</c:v>
                </c:pt>
                <c:pt idx="12">
                  <c:v>19:20</c:v>
                </c:pt>
                <c:pt idx="13">
                  <c:v>19:25</c:v>
                </c:pt>
                <c:pt idx="14">
                  <c:v>19:30</c:v>
                </c:pt>
                <c:pt idx="15">
                  <c:v>19:35</c:v>
                </c:pt>
                <c:pt idx="16">
                  <c:v>19:40</c:v>
                </c:pt>
                <c:pt idx="17">
                  <c:v>19:45</c:v>
                </c:pt>
                <c:pt idx="18">
                  <c:v>19:50</c:v>
                </c:pt>
                <c:pt idx="19">
                  <c:v>19:55</c:v>
                </c:pt>
                <c:pt idx="20">
                  <c:v>20:00</c:v>
                </c:pt>
                <c:pt idx="21">
                  <c:v>20:05</c:v>
                </c:pt>
                <c:pt idx="22">
                  <c:v>20:10</c:v>
                </c:pt>
                <c:pt idx="23">
                  <c:v>20:15</c:v>
                </c:pt>
                <c:pt idx="24">
                  <c:v>20:20</c:v>
                </c:pt>
                <c:pt idx="25">
                  <c:v>20:25</c:v>
                </c:pt>
                <c:pt idx="26">
                  <c:v>20:30</c:v>
                </c:pt>
                <c:pt idx="27">
                  <c:v>20:35</c:v>
                </c:pt>
                <c:pt idx="28">
                  <c:v>20:40</c:v>
                </c:pt>
                <c:pt idx="29">
                  <c:v>20:45</c:v>
                </c:pt>
                <c:pt idx="30">
                  <c:v>20:50</c:v>
                </c:pt>
                <c:pt idx="31">
                  <c:v>20:55</c:v>
                </c:pt>
                <c:pt idx="32">
                  <c:v>21:00</c:v>
                </c:pt>
                <c:pt idx="33">
                  <c:v>21:05</c:v>
                </c:pt>
                <c:pt idx="34">
                  <c:v>21:10</c:v>
                </c:pt>
                <c:pt idx="35">
                  <c:v>21:15</c:v>
                </c:pt>
                <c:pt idx="36">
                  <c:v>21:20</c:v>
                </c:pt>
                <c:pt idx="37">
                  <c:v>21:25</c:v>
                </c:pt>
                <c:pt idx="38">
                  <c:v>21:30</c:v>
                </c:pt>
                <c:pt idx="39">
                  <c:v>21:35</c:v>
                </c:pt>
                <c:pt idx="40">
                  <c:v>21:40</c:v>
                </c:pt>
                <c:pt idx="41">
                  <c:v>21:45</c:v>
                </c:pt>
                <c:pt idx="42">
                  <c:v>21:50</c:v>
                </c:pt>
                <c:pt idx="43">
                  <c:v>21:55</c:v>
                </c:pt>
                <c:pt idx="44">
                  <c:v>22:00</c:v>
                </c:pt>
                <c:pt idx="45">
                  <c:v>22:05</c:v>
                </c:pt>
                <c:pt idx="46">
                  <c:v>22:10</c:v>
                </c:pt>
                <c:pt idx="47">
                  <c:v>22:15</c:v>
                </c:pt>
                <c:pt idx="48">
                  <c:v>22:20</c:v>
                </c:pt>
                <c:pt idx="49">
                  <c:v>22:25</c:v>
                </c:pt>
                <c:pt idx="50">
                  <c:v>22:30</c:v>
                </c:pt>
                <c:pt idx="51">
                  <c:v>22:35</c:v>
                </c:pt>
                <c:pt idx="52">
                  <c:v>22:40</c:v>
                </c:pt>
                <c:pt idx="53">
                  <c:v>22:45</c:v>
                </c:pt>
                <c:pt idx="54">
                  <c:v>22:50</c:v>
                </c:pt>
                <c:pt idx="55">
                  <c:v>22:55</c:v>
                </c:pt>
                <c:pt idx="56">
                  <c:v>23:00</c:v>
                </c:pt>
                <c:pt idx="57">
                  <c:v>23:05</c:v>
                </c:pt>
                <c:pt idx="58">
                  <c:v>23:10</c:v>
                </c:pt>
                <c:pt idx="59">
                  <c:v>23:15</c:v>
                </c:pt>
                <c:pt idx="60">
                  <c:v>23:20</c:v>
                </c:pt>
                <c:pt idx="61">
                  <c:v>23:25</c:v>
                </c:pt>
                <c:pt idx="62">
                  <c:v>23:30</c:v>
                </c:pt>
              </c:strCache>
            </c:strRef>
          </c:cat>
          <c:val>
            <c:numRef>
              <c:f>Sheet1!$C$2:$C$64</c:f>
              <c:numCache>
                <c:formatCode>General</c:formatCode>
                <c:ptCount val="63"/>
                <c:pt idx="0">
                  <c:v>94</c:v>
                </c:pt>
                <c:pt idx="1">
                  <c:v>94</c:v>
                </c:pt>
                <c:pt idx="2">
                  <c:v>94.1</c:v>
                </c:pt>
                <c:pt idx="3">
                  <c:v>94.1</c:v>
                </c:pt>
                <c:pt idx="4">
                  <c:v>94.1</c:v>
                </c:pt>
                <c:pt idx="5">
                  <c:v>94.1</c:v>
                </c:pt>
                <c:pt idx="6">
                  <c:v>94.2</c:v>
                </c:pt>
                <c:pt idx="7">
                  <c:v>94.2</c:v>
                </c:pt>
                <c:pt idx="8">
                  <c:v>94.2</c:v>
                </c:pt>
                <c:pt idx="9">
                  <c:v>92.5</c:v>
                </c:pt>
                <c:pt idx="10">
                  <c:v>90.8</c:v>
                </c:pt>
                <c:pt idx="11">
                  <c:v>89.1</c:v>
                </c:pt>
                <c:pt idx="12">
                  <c:v>85.1</c:v>
                </c:pt>
                <c:pt idx="13">
                  <c:v>81.2</c:v>
                </c:pt>
                <c:pt idx="14">
                  <c:v>77.2</c:v>
                </c:pt>
                <c:pt idx="15">
                  <c:v>72.2</c:v>
                </c:pt>
                <c:pt idx="16">
                  <c:v>70.099999999999994</c:v>
                </c:pt>
                <c:pt idx="17">
                  <c:v>67.900000000000006</c:v>
                </c:pt>
                <c:pt idx="18">
                  <c:v>66.5</c:v>
                </c:pt>
                <c:pt idx="19">
                  <c:v>65.099999999999994</c:v>
                </c:pt>
                <c:pt idx="20">
                  <c:v>63.7</c:v>
                </c:pt>
                <c:pt idx="21">
                  <c:v>61.5</c:v>
                </c:pt>
                <c:pt idx="22">
                  <c:v>59.4</c:v>
                </c:pt>
                <c:pt idx="23">
                  <c:v>57.3</c:v>
                </c:pt>
                <c:pt idx="24">
                  <c:v>55.9</c:v>
                </c:pt>
                <c:pt idx="25">
                  <c:v>54.4</c:v>
                </c:pt>
                <c:pt idx="26">
                  <c:v>53</c:v>
                </c:pt>
                <c:pt idx="27">
                  <c:v>50.9</c:v>
                </c:pt>
                <c:pt idx="28">
                  <c:v>48.8</c:v>
                </c:pt>
                <c:pt idx="29">
                  <c:v>46.6</c:v>
                </c:pt>
                <c:pt idx="30">
                  <c:v>45.2</c:v>
                </c:pt>
                <c:pt idx="31">
                  <c:v>43.8</c:v>
                </c:pt>
                <c:pt idx="32">
                  <c:v>42.4</c:v>
                </c:pt>
                <c:pt idx="33">
                  <c:v>40.200000000000003</c:v>
                </c:pt>
                <c:pt idx="34">
                  <c:v>38.1</c:v>
                </c:pt>
                <c:pt idx="35">
                  <c:v>36</c:v>
                </c:pt>
                <c:pt idx="36">
                  <c:v>34.6</c:v>
                </c:pt>
                <c:pt idx="37">
                  <c:v>33.299999999999997</c:v>
                </c:pt>
                <c:pt idx="38">
                  <c:v>31.9</c:v>
                </c:pt>
                <c:pt idx="39">
                  <c:v>29.8</c:v>
                </c:pt>
                <c:pt idx="40">
                  <c:v>27.7</c:v>
                </c:pt>
                <c:pt idx="41">
                  <c:v>25.7</c:v>
                </c:pt>
                <c:pt idx="42">
                  <c:v>24.3</c:v>
                </c:pt>
                <c:pt idx="43">
                  <c:v>22.9</c:v>
                </c:pt>
                <c:pt idx="44">
                  <c:v>21.6</c:v>
                </c:pt>
                <c:pt idx="45">
                  <c:v>20</c:v>
                </c:pt>
                <c:pt idx="46">
                  <c:v>20</c:v>
                </c:pt>
                <c:pt idx="47">
                  <c:v>20</c:v>
                </c:pt>
                <c:pt idx="48">
                  <c:v>20</c:v>
                </c:pt>
                <c:pt idx="49">
                  <c:v>20</c:v>
                </c:pt>
                <c:pt idx="50">
                  <c:v>20</c:v>
                </c:pt>
                <c:pt idx="51">
                  <c:v>20</c:v>
                </c:pt>
                <c:pt idx="52">
                  <c:v>20</c:v>
                </c:pt>
                <c:pt idx="53">
                  <c:v>20</c:v>
                </c:pt>
                <c:pt idx="54">
                  <c:v>20</c:v>
                </c:pt>
                <c:pt idx="55">
                  <c:v>20</c:v>
                </c:pt>
                <c:pt idx="56">
                  <c:v>20</c:v>
                </c:pt>
                <c:pt idx="57">
                  <c:v>20.8</c:v>
                </c:pt>
                <c:pt idx="58">
                  <c:v>21.6</c:v>
                </c:pt>
                <c:pt idx="59">
                  <c:v>22.4</c:v>
                </c:pt>
                <c:pt idx="60">
                  <c:v>23.2</c:v>
                </c:pt>
                <c:pt idx="61">
                  <c:v>24</c:v>
                </c:pt>
                <c:pt idx="62">
                  <c:v>24.8</c:v>
                </c:pt>
              </c:numCache>
            </c:numRef>
          </c:val>
          <c:smooth val="0"/>
          <c:extLst>
            <c:ext xmlns:c16="http://schemas.microsoft.com/office/drawing/2014/chart" uri="{C3380CC4-5D6E-409C-BE32-E72D297353CC}">
              <c16:uniqueId val="{00000001-A84F-467F-B685-7FA47FF5F03A}"/>
            </c:ext>
          </c:extLst>
        </c:ser>
        <c:ser>
          <c:idx val="2"/>
          <c:order val="2"/>
          <c:tx>
            <c:strRef>
              <c:f>Sheet1!$D$1</c:f>
              <c:strCache>
                <c:ptCount val="1"/>
                <c:pt idx="0">
                  <c:v>T2 defer 55 %</c:v>
                </c:pt>
              </c:strCache>
            </c:strRef>
          </c:tx>
          <c:spPr>
            <a:ln w="15875">
              <a:solidFill>
                <a:srgbClr val="E0A800"/>
              </a:solidFill>
              <a:prstDash val="dash"/>
            </a:ln>
          </c:spPr>
          <c:marker>
            <c:symbol val="none"/>
          </c:marker>
          <c:cat>
            <c:strRef>
              <c:f>Sheet1!$A$2:$A$64</c:f>
              <c:strCache>
                <c:ptCount val="63"/>
                <c:pt idx="0">
                  <c:v>18:20</c:v>
                </c:pt>
                <c:pt idx="1">
                  <c:v>18:25</c:v>
                </c:pt>
                <c:pt idx="2">
                  <c:v>18:30</c:v>
                </c:pt>
                <c:pt idx="3">
                  <c:v>18:35</c:v>
                </c:pt>
                <c:pt idx="4">
                  <c:v>18:40</c:v>
                </c:pt>
                <c:pt idx="5">
                  <c:v>18:45</c:v>
                </c:pt>
                <c:pt idx="6">
                  <c:v>18:50</c:v>
                </c:pt>
                <c:pt idx="7">
                  <c:v>18:55</c:v>
                </c:pt>
                <c:pt idx="8">
                  <c:v>19:00</c:v>
                </c:pt>
                <c:pt idx="9">
                  <c:v>19:05</c:v>
                </c:pt>
                <c:pt idx="10">
                  <c:v>19:10</c:v>
                </c:pt>
                <c:pt idx="11">
                  <c:v>19:15</c:v>
                </c:pt>
                <c:pt idx="12">
                  <c:v>19:20</c:v>
                </c:pt>
                <c:pt idx="13">
                  <c:v>19:25</c:v>
                </c:pt>
                <c:pt idx="14">
                  <c:v>19:30</c:v>
                </c:pt>
                <c:pt idx="15">
                  <c:v>19:35</c:v>
                </c:pt>
                <c:pt idx="16">
                  <c:v>19:40</c:v>
                </c:pt>
                <c:pt idx="17">
                  <c:v>19:45</c:v>
                </c:pt>
                <c:pt idx="18">
                  <c:v>19:50</c:v>
                </c:pt>
                <c:pt idx="19">
                  <c:v>19:55</c:v>
                </c:pt>
                <c:pt idx="20">
                  <c:v>20:00</c:v>
                </c:pt>
                <c:pt idx="21">
                  <c:v>20:05</c:v>
                </c:pt>
                <c:pt idx="22">
                  <c:v>20:10</c:v>
                </c:pt>
                <c:pt idx="23">
                  <c:v>20:15</c:v>
                </c:pt>
                <c:pt idx="24">
                  <c:v>20:20</c:v>
                </c:pt>
                <c:pt idx="25">
                  <c:v>20:25</c:v>
                </c:pt>
                <c:pt idx="26">
                  <c:v>20:30</c:v>
                </c:pt>
                <c:pt idx="27">
                  <c:v>20:35</c:v>
                </c:pt>
                <c:pt idx="28">
                  <c:v>20:40</c:v>
                </c:pt>
                <c:pt idx="29">
                  <c:v>20:45</c:v>
                </c:pt>
                <c:pt idx="30">
                  <c:v>20:50</c:v>
                </c:pt>
                <c:pt idx="31">
                  <c:v>20:55</c:v>
                </c:pt>
                <c:pt idx="32">
                  <c:v>21:00</c:v>
                </c:pt>
                <c:pt idx="33">
                  <c:v>21:05</c:v>
                </c:pt>
                <c:pt idx="34">
                  <c:v>21:10</c:v>
                </c:pt>
                <c:pt idx="35">
                  <c:v>21:15</c:v>
                </c:pt>
                <c:pt idx="36">
                  <c:v>21:20</c:v>
                </c:pt>
                <c:pt idx="37">
                  <c:v>21:25</c:v>
                </c:pt>
                <c:pt idx="38">
                  <c:v>21:30</c:v>
                </c:pt>
                <c:pt idx="39">
                  <c:v>21:35</c:v>
                </c:pt>
                <c:pt idx="40">
                  <c:v>21:40</c:v>
                </c:pt>
                <c:pt idx="41">
                  <c:v>21:45</c:v>
                </c:pt>
                <c:pt idx="42">
                  <c:v>21:50</c:v>
                </c:pt>
                <c:pt idx="43">
                  <c:v>21:55</c:v>
                </c:pt>
                <c:pt idx="44">
                  <c:v>22:00</c:v>
                </c:pt>
                <c:pt idx="45">
                  <c:v>22:05</c:v>
                </c:pt>
                <c:pt idx="46">
                  <c:v>22:10</c:v>
                </c:pt>
                <c:pt idx="47">
                  <c:v>22:15</c:v>
                </c:pt>
                <c:pt idx="48">
                  <c:v>22:20</c:v>
                </c:pt>
                <c:pt idx="49">
                  <c:v>22:25</c:v>
                </c:pt>
                <c:pt idx="50">
                  <c:v>22:30</c:v>
                </c:pt>
                <c:pt idx="51">
                  <c:v>22:35</c:v>
                </c:pt>
                <c:pt idx="52">
                  <c:v>22:40</c:v>
                </c:pt>
                <c:pt idx="53">
                  <c:v>22:45</c:v>
                </c:pt>
                <c:pt idx="54">
                  <c:v>22:50</c:v>
                </c:pt>
                <c:pt idx="55">
                  <c:v>22:55</c:v>
                </c:pt>
                <c:pt idx="56">
                  <c:v>23:00</c:v>
                </c:pt>
                <c:pt idx="57">
                  <c:v>23:05</c:v>
                </c:pt>
                <c:pt idx="58">
                  <c:v>23:10</c:v>
                </c:pt>
                <c:pt idx="59">
                  <c:v>23:15</c:v>
                </c:pt>
                <c:pt idx="60">
                  <c:v>23:20</c:v>
                </c:pt>
                <c:pt idx="61">
                  <c:v>23:25</c:v>
                </c:pt>
                <c:pt idx="62">
                  <c:v>23:30</c:v>
                </c:pt>
              </c:strCache>
            </c:strRef>
          </c:cat>
          <c:val>
            <c:numRef>
              <c:f>Sheet1!$D$2:$D$64</c:f>
              <c:numCache>
                <c:formatCode>General</c:formatCode>
                <c:ptCount val="63"/>
                <c:pt idx="0">
                  <c:v>55</c:v>
                </c:pt>
                <c:pt idx="1">
                  <c:v>55</c:v>
                </c:pt>
                <c:pt idx="2">
                  <c:v>55</c:v>
                </c:pt>
                <c:pt idx="3">
                  <c:v>55</c:v>
                </c:pt>
                <c:pt idx="4">
                  <c:v>55</c:v>
                </c:pt>
                <c:pt idx="5">
                  <c:v>55</c:v>
                </c:pt>
                <c:pt idx="6">
                  <c:v>55</c:v>
                </c:pt>
                <c:pt idx="7">
                  <c:v>55</c:v>
                </c:pt>
                <c:pt idx="8">
                  <c:v>55</c:v>
                </c:pt>
                <c:pt idx="9">
                  <c:v>55</c:v>
                </c:pt>
                <c:pt idx="10">
                  <c:v>55</c:v>
                </c:pt>
                <c:pt idx="11">
                  <c:v>55</c:v>
                </c:pt>
                <c:pt idx="12">
                  <c:v>55</c:v>
                </c:pt>
                <c:pt idx="13">
                  <c:v>55</c:v>
                </c:pt>
                <c:pt idx="14">
                  <c:v>55</c:v>
                </c:pt>
                <c:pt idx="15">
                  <c:v>55</c:v>
                </c:pt>
                <c:pt idx="16">
                  <c:v>55</c:v>
                </c:pt>
                <c:pt idx="17">
                  <c:v>55</c:v>
                </c:pt>
                <c:pt idx="18">
                  <c:v>55</c:v>
                </c:pt>
                <c:pt idx="19">
                  <c:v>55</c:v>
                </c:pt>
                <c:pt idx="20">
                  <c:v>55</c:v>
                </c:pt>
                <c:pt idx="21">
                  <c:v>55</c:v>
                </c:pt>
                <c:pt idx="22">
                  <c:v>55</c:v>
                </c:pt>
                <c:pt idx="23">
                  <c:v>55</c:v>
                </c:pt>
                <c:pt idx="24">
                  <c:v>55</c:v>
                </c:pt>
                <c:pt idx="25">
                  <c:v>55</c:v>
                </c:pt>
                <c:pt idx="26">
                  <c:v>55</c:v>
                </c:pt>
                <c:pt idx="27">
                  <c:v>55</c:v>
                </c:pt>
                <c:pt idx="28">
                  <c:v>55</c:v>
                </c:pt>
                <c:pt idx="29">
                  <c:v>55</c:v>
                </c:pt>
                <c:pt idx="30">
                  <c:v>55</c:v>
                </c:pt>
                <c:pt idx="31">
                  <c:v>55</c:v>
                </c:pt>
                <c:pt idx="32">
                  <c:v>55</c:v>
                </c:pt>
                <c:pt idx="33">
                  <c:v>55</c:v>
                </c:pt>
                <c:pt idx="34">
                  <c:v>55</c:v>
                </c:pt>
                <c:pt idx="35">
                  <c:v>55</c:v>
                </c:pt>
                <c:pt idx="36">
                  <c:v>55</c:v>
                </c:pt>
                <c:pt idx="37">
                  <c:v>55</c:v>
                </c:pt>
                <c:pt idx="38">
                  <c:v>55</c:v>
                </c:pt>
                <c:pt idx="39">
                  <c:v>55</c:v>
                </c:pt>
                <c:pt idx="40">
                  <c:v>55</c:v>
                </c:pt>
                <c:pt idx="41">
                  <c:v>55</c:v>
                </c:pt>
                <c:pt idx="42">
                  <c:v>55</c:v>
                </c:pt>
                <c:pt idx="43">
                  <c:v>55</c:v>
                </c:pt>
                <c:pt idx="44">
                  <c:v>55</c:v>
                </c:pt>
                <c:pt idx="45">
                  <c:v>55</c:v>
                </c:pt>
                <c:pt idx="46">
                  <c:v>55</c:v>
                </c:pt>
                <c:pt idx="47">
                  <c:v>55</c:v>
                </c:pt>
                <c:pt idx="48">
                  <c:v>55</c:v>
                </c:pt>
                <c:pt idx="49">
                  <c:v>55</c:v>
                </c:pt>
                <c:pt idx="50">
                  <c:v>55</c:v>
                </c:pt>
                <c:pt idx="51">
                  <c:v>55</c:v>
                </c:pt>
                <c:pt idx="52">
                  <c:v>55</c:v>
                </c:pt>
                <c:pt idx="53">
                  <c:v>55</c:v>
                </c:pt>
                <c:pt idx="54">
                  <c:v>55</c:v>
                </c:pt>
                <c:pt idx="55">
                  <c:v>55</c:v>
                </c:pt>
                <c:pt idx="56">
                  <c:v>55</c:v>
                </c:pt>
                <c:pt idx="57">
                  <c:v>55</c:v>
                </c:pt>
                <c:pt idx="58">
                  <c:v>55</c:v>
                </c:pt>
                <c:pt idx="59">
                  <c:v>55</c:v>
                </c:pt>
                <c:pt idx="60">
                  <c:v>55</c:v>
                </c:pt>
                <c:pt idx="61">
                  <c:v>55</c:v>
                </c:pt>
                <c:pt idx="62">
                  <c:v>55</c:v>
                </c:pt>
              </c:numCache>
            </c:numRef>
          </c:val>
          <c:smooth val="0"/>
          <c:extLst>
            <c:ext xmlns:c16="http://schemas.microsoft.com/office/drawing/2014/chart" uri="{C3380CC4-5D6E-409C-BE32-E72D297353CC}">
              <c16:uniqueId val="{00000002-A84F-467F-B685-7FA47FF5F03A}"/>
            </c:ext>
          </c:extLst>
        </c:ser>
        <c:ser>
          <c:idx val="3"/>
          <c:order val="3"/>
          <c:tx>
            <c:strRef>
              <c:f>Sheet1!$E$1</c:f>
              <c:strCache>
                <c:ptCount val="1"/>
                <c:pt idx="0">
                  <c:v>T3 shed 40 %</c:v>
                </c:pt>
              </c:strCache>
            </c:strRef>
          </c:tx>
          <c:spPr>
            <a:ln w="15875">
              <a:solidFill>
                <a:srgbClr val="D63A4F"/>
              </a:solidFill>
              <a:prstDash val="dash"/>
            </a:ln>
          </c:spPr>
          <c:marker>
            <c:symbol val="none"/>
          </c:marker>
          <c:cat>
            <c:strRef>
              <c:f>Sheet1!$A$2:$A$64</c:f>
              <c:strCache>
                <c:ptCount val="63"/>
                <c:pt idx="0">
                  <c:v>18:20</c:v>
                </c:pt>
                <c:pt idx="1">
                  <c:v>18:25</c:v>
                </c:pt>
                <c:pt idx="2">
                  <c:v>18:30</c:v>
                </c:pt>
                <c:pt idx="3">
                  <c:v>18:35</c:v>
                </c:pt>
                <c:pt idx="4">
                  <c:v>18:40</c:v>
                </c:pt>
                <c:pt idx="5">
                  <c:v>18:45</c:v>
                </c:pt>
                <c:pt idx="6">
                  <c:v>18:50</c:v>
                </c:pt>
                <c:pt idx="7">
                  <c:v>18:55</c:v>
                </c:pt>
                <c:pt idx="8">
                  <c:v>19:00</c:v>
                </c:pt>
                <c:pt idx="9">
                  <c:v>19:05</c:v>
                </c:pt>
                <c:pt idx="10">
                  <c:v>19:10</c:v>
                </c:pt>
                <c:pt idx="11">
                  <c:v>19:15</c:v>
                </c:pt>
                <c:pt idx="12">
                  <c:v>19:20</c:v>
                </c:pt>
                <c:pt idx="13">
                  <c:v>19:25</c:v>
                </c:pt>
                <c:pt idx="14">
                  <c:v>19:30</c:v>
                </c:pt>
                <c:pt idx="15">
                  <c:v>19:35</c:v>
                </c:pt>
                <c:pt idx="16">
                  <c:v>19:40</c:v>
                </c:pt>
                <c:pt idx="17">
                  <c:v>19:45</c:v>
                </c:pt>
                <c:pt idx="18">
                  <c:v>19:50</c:v>
                </c:pt>
                <c:pt idx="19">
                  <c:v>19:55</c:v>
                </c:pt>
                <c:pt idx="20">
                  <c:v>20:00</c:v>
                </c:pt>
                <c:pt idx="21">
                  <c:v>20:05</c:v>
                </c:pt>
                <c:pt idx="22">
                  <c:v>20:10</c:v>
                </c:pt>
                <c:pt idx="23">
                  <c:v>20:15</c:v>
                </c:pt>
                <c:pt idx="24">
                  <c:v>20:20</c:v>
                </c:pt>
                <c:pt idx="25">
                  <c:v>20:25</c:v>
                </c:pt>
                <c:pt idx="26">
                  <c:v>20:30</c:v>
                </c:pt>
                <c:pt idx="27">
                  <c:v>20:35</c:v>
                </c:pt>
                <c:pt idx="28">
                  <c:v>20:40</c:v>
                </c:pt>
                <c:pt idx="29">
                  <c:v>20:45</c:v>
                </c:pt>
                <c:pt idx="30">
                  <c:v>20:50</c:v>
                </c:pt>
                <c:pt idx="31">
                  <c:v>20:55</c:v>
                </c:pt>
                <c:pt idx="32">
                  <c:v>21:00</c:v>
                </c:pt>
                <c:pt idx="33">
                  <c:v>21:05</c:v>
                </c:pt>
                <c:pt idx="34">
                  <c:v>21:10</c:v>
                </c:pt>
                <c:pt idx="35">
                  <c:v>21:15</c:v>
                </c:pt>
                <c:pt idx="36">
                  <c:v>21:20</c:v>
                </c:pt>
                <c:pt idx="37">
                  <c:v>21:25</c:v>
                </c:pt>
                <c:pt idx="38">
                  <c:v>21:30</c:v>
                </c:pt>
                <c:pt idx="39">
                  <c:v>21:35</c:v>
                </c:pt>
                <c:pt idx="40">
                  <c:v>21:40</c:v>
                </c:pt>
                <c:pt idx="41">
                  <c:v>21:45</c:v>
                </c:pt>
                <c:pt idx="42">
                  <c:v>21:50</c:v>
                </c:pt>
                <c:pt idx="43">
                  <c:v>21:55</c:v>
                </c:pt>
                <c:pt idx="44">
                  <c:v>22:00</c:v>
                </c:pt>
                <c:pt idx="45">
                  <c:v>22:05</c:v>
                </c:pt>
                <c:pt idx="46">
                  <c:v>22:10</c:v>
                </c:pt>
                <c:pt idx="47">
                  <c:v>22:15</c:v>
                </c:pt>
                <c:pt idx="48">
                  <c:v>22:20</c:v>
                </c:pt>
                <c:pt idx="49">
                  <c:v>22:25</c:v>
                </c:pt>
                <c:pt idx="50">
                  <c:v>22:30</c:v>
                </c:pt>
                <c:pt idx="51">
                  <c:v>22:35</c:v>
                </c:pt>
                <c:pt idx="52">
                  <c:v>22:40</c:v>
                </c:pt>
                <c:pt idx="53">
                  <c:v>22:45</c:v>
                </c:pt>
                <c:pt idx="54">
                  <c:v>22:50</c:v>
                </c:pt>
                <c:pt idx="55">
                  <c:v>22:55</c:v>
                </c:pt>
                <c:pt idx="56">
                  <c:v>23:00</c:v>
                </c:pt>
                <c:pt idx="57">
                  <c:v>23:05</c:v>
                </c:pt>
                <c:pt idx="58">
                  <c:v>23:10</c:v>
                </c:pt>
                <c:pt idx="59">
                  <c:v>23:15</c:v>
                </c:pt>
                <c:pt idx="60">
                  <c:v>23:20</c:v>
                </c:pt>
                <c:pt idx="61">
                  <c:v>23:25</c:v>
                </c:pt>
                <c:pt idx="62">
                  <c:v>23:30</c:v>
                </c:pt>
              </c:strCache>
            </c:strRef>
          </c:cat>
          <c:val>
            <c:numRef>
              <c:f>Sheet1!$E$2:$E$64</c:f>
              <c:numCache>
                <c:formatCode>General</c:formatCode>
                <c:ptCount val="63"/>
                <c:pt idx="0">
                  <c:v>40</c:v>
                </c:pt>
                <c:pt idx="1">
                  <c:v>40</c:v>
                </c:pt>
                <c:pt idx="2">
                  <c:v>40</c:v>
                </c:pt>
                <c:pt idx="3">
                  <c:v>40</c:v>
                </c:pt>
                <c:pt idx="4">
                  <c:v>40</c:v>
                </c:pt>
                <c:pt idx="5">
                  <c:v>40</c:v>
                </c:pt>
                <c:pt idx="6">
                  <c:v>40</c:v>
                </c:pt>
                <c:pt idx="7">
                  <c:v>40</c:v>
                </c:pt>
                <c:pt idx="8">
                  <c:v>40</c:v>
                </c:pt>
                <c:pt idx="9">
                  <c:v>40</c:v>
                </c:pt>
                <c:pt idx="10">
                  <c:v>40</c:v>
                </c:pt>
                <c:pt idx="11">
                  <c:v>40</c:v>
                </c:pt>
                <c:pt idx="12">
                  <c:v>40</c:v>
                </c:pt>
                <c:pt idx="13">
                  <c:v>40</c:v>
                </c:pt>
                <c:pt idx="14">
                  <c:v>40</c:v>
                </c:pt>
                <c:pt idx="15">
                  <c:v>40</c:v>
                </c:pt>
                <c:pt idx="16">
                  <c:v>40</c:v>
                </c:pt>
                <c:pt idx="17">
                  <c:v>40</c:v>
                </c:pt>
                <c:pt idx="18">
                  <c:v>40</c:v>
                </c:pt>
                <c:pt idx="19">
                  <c:v>40</c:v>
                </c:pt>
                <c:pt idx="20">
                  <c:v>40</c:v>
                </c:pt>
                <c:pt idx="21">
                  <c:v>40</c:v>
                </c:pt>
                <c:pt idx="22">
                  <c:v>40</c:v>
                </c:pt>
                <c:pt idx="23">
                  <c:v>40</c:v>
                </c:pt>
                <c:pt idx="24">
                  <c:v>40</c:v>
                </c:pt>
                <c:pt idx="25">
                  <c:v>40</c:v>
                </c:pt>
                <c:pt idx="26">
                  <c:v>40</c:v>
                </c:pt>
                <c:pt idx="27">
                  <c:v>40</c:v>
                </c:pt>
                <c:pt idx="28">
                  <c:v>40</c:v>
                </c:pt>
                <c:pt idx="29">
                  <c:v>40</c:v>
                </c:pt>
                <c:pt idx="30">
                  <c:v>40</c:v>
                </c:pt>
                <c:pt idx="31">
                  <c:v>40</c:v>
                </c:pt>
                <c:pt idx="32">
                  <c:v>40</c:v>
                </c:pt>
                <c:pt idx="33">
                  <c:v>40</c:v>
                </c:pt>
                <c:pt idx="34">
                  <c:v>40</c:v>
                </c:pt>
                <c:pt idx="35">
                  <c:v>40</c:v>
                </c:pt>
                <c:pt idx="36">
                  <c:v>40</c:v>
                </c:pt>
                <c:pt idx="37">
                  <c:v>40</c:v>
                </c:pt>
                <c:pt idx="38">
                  <c:v>40</c:v>
                </c:pt>
                <c:pt idx="39">
                  <c:v>40</c:v>
                </c:pt>
                <c:pt idx="40">
                  <c:v>40</c:v>
                </c:pt>
                <c:pt idx="41">
                  <c:v>40</c:v>
                </c:pt>
                <c:pt idx="42">
                  <c:v>40</c:v>
                </c:pt>
                <c:pt idx="43">
                  <c:v>40</c:v>
                </c:pt>
                <c:pt idx="44">
                  <c:v>40</c:v>
                </c:pt>
                <c:pt idx="45">
                  <c:v>40</c:v>
                </c:pt>
                <c:pt idx="46">
                  <c:v>40</c:v>
                </c:pt>
                <c:pt idx="47">
                  <c:v>40</c:v>
                </c:pt>
                <c:pt idx="48">
                  <c:v>40</c:v>
                </c:pt>
                <c:pt idx="49">
                  <c:v>40</c:v>
                </c:pt>
                <c:pt idx="50">
                  <c:v>40</c:v>
                </c:pt>
                <c:pt idx="51">
                  <c:v>40</c:v>
                </c:pt>
                <c:pt idx="52">
                  <c:v>40</c:v>
                </c:pt>
                <c:pt idx="53">
                  <c:v>40</c:v>
                </c:pt>
                <c:pt idx="54">
                  <c:v>40</c:v>
                </c:pt>
                <c:pt idx="55">
                  <c:v>40</c:v>
                </c:pt>
                <c:pt idx="56">
                  <c:v>40</c:v>
                </c:pt>
                <c:pt idx="57">
                  <c:v>40</c:v>
                </c:pt>
                <c:pt idx="58">
                  <c:v>40</c:v>
                </c:pt>
                <c:pt idx="59">
                  <c:v>40</c:v>
                </c:pt>
                <c:pt idx="60">
                  <c:v>40</c:v>
                </c:pt>
                <c:pt idx="61">
                  <c:v>40</c:v>
                </c:pt>
                <c:pt idx="62">
                  <c:v>40</c:v>
                </c:pt>
              </c:numCache>
            </c:numRef>
          </c:val>
          <c:smooth val="0"/>
          <c:extLst>
            <c:ext xmlns:c16="http://schemas.microsoft.com/office/drawing/2014/chart" uri="{C3380CC4-5D6E-409C-BE32-E72D297353CC}">
              <c16:uniqueId val="{00000003-A84F-467F-B685-7FA47FF5F03A}"/>
            </c:ext>
          </c:extLst>
        </c:ser>
        <c:ser>
          <c:idx val="4"/>
          <c:order val="4"/>
          <c:tx>
            <c:strRef>
              <c:f>Sheet1!$F$1</c:f>
              <c:strCache>
                <c:ptCount val="1"/>
                <c:pt idx="0">
                  <c:v>cut-off 20 %</c:v>
                </c:pt>
              </c:strCache>
            </c:strRef>
          </c:tx>
          <c:spPr>
            <a:ln w="15875">
              <a:solidFill>
                <a:srgbClr val="6C757D"/>
              </a:solidFill>
              <a:prstDash val="sysDot"/>
            </a:ln>
          </c:spPr>
          <c:marker>
            <c:symbol val="none"/>
          </c:marker>
          <c:cat>
            <c:strRef>
              <c:f>Sheet1!$A$2:$A$64</c:f>
              <c:strCache>
                <c:ptCount val="63"/>
                <c:pt idx="0">
                  <c:v>18:20</c:v>
                </c:pt>
                <c:pt idx="1">
                  <c:v>18:25</c:v>
                </c:pt>
                <c:pt idx="2">
                  <c:v>18:30</c:v>
                </c:pt>
                <c:pt idx="3">
                  <c:v>18:35</c:v>
                </c:pt>
                <c:pt idx="4">
                  <c:v>18:40</c:v>
                </c:pt>
                <c:pt idx="5">
                  <c:v>18:45</c:v>
                </c:pt>
                <c:pt idx="6">
                  <c:v>18:50</c:v>
                </c:pt>
                <c:pt idx="7">
                  <c:v>18:55</c:v>
                </c:pt>
                <c:pt idx="8">
                  <c:v>19:00</c:v>
                </c:pt>
                <c:pt idx="9">
                  <c:v>19:05</c:v>
                </c:pt>
                <c:pt idx="10">
                  <c:v>19:10</c:v>
                </c:pt>
                <c:pt idx="11">
                  <c:v>19:15</c:v>
                </c:pt>
                <c:pt idx="12">
                  <c:v>19:20</c:v>
                </c:pt>
                <c:pt idx="13">
                  <c:v>19:25</c:v>
                </c:pt>
                <c:pt idx="14">
                  <c:v>19:30</c:v>
                </c:pt>
                <c:pt idx="15">
                  <c:v>19:35</c:v>
                </c:pt>
                <c:pt idx="16">
                  <c:v>19:40</c:v>
                </c:pt>
                <c:pt idx="17">
                  <c:v>19:45</c:v>
                </c:pt>
                <c:pt idx="18">
                  <c:v>19:50</c:v>
                </c:pt>
                <c:pt idx="19">
                  <c:v>19:55</c:v>
                </c:pt>
                <c:pt idx="20">
                  <c:v>20:00</c:v>
                </c:pt>
                <c:pt idx="21">
                  <c:v>20:05</c:v>
                </c:pt>
                <c:pt idx="22">
                  <c:v>20:10</c:v>
                </c:pt>
                <c:pt idx="23">
                  <c:v>20:15</c:v>
                </c:pt>
                <c:pt idx="24">
                  <c:v>20:20</c:v>
                </c:pt>
                <c:pt idx="25">
                  <c:v>20:25</c:v>
                </c:pt>
                <c:pt idx="26">
                  <c:v>20:30</c:v>
                </c:pt>
                <c:pt idx="27">
                  <c:v>20:35</c:v>
                </c:pt>
                <c:pt idx="28">
                  <c:v>20:40</c:v>
                </c:pt>
                <c:pt idx="29">
                  <c:v>20:45</c:v>
                </c:pt>
                <c:pt idx="30">
                  <c:v>20:50</c:v>
                </c:pt>
                <c:pt idx="31">
                  <c:v>20:55</c:v>
                </c:pt>
                <c:pt idx="32">
                  <c:v>21:00</c:v>
                </c:pt>
                <c:pt idx="33">
                  <c:v>21:05</c:v>
                </c:pt>
                <c:pt idx="34">
                  <c:v>21:10</c:v>
                </c:pt>
                <c:pt idx="35">
                  <c:v>21:15</c:v>
                </c:pt>
                <c:pt idx="36">
                  <c:v>21:20</c:v>
                </c:pt>
                <c:pt idx="37">
                  <c:v>21:25</c:v>
                </c:pt>
                <c:pt idx="38">
                  <c:v>21:30</c:v>
                </c:pt>
                <c:pt idx="39">
                  <c:v>21:35</c:v>
                </c:pt>
                <c:pt idx="40">
                  <c:v>21:40</c:v>
                </c:pt>
                <c:pt idx="41">
                  <c:v>21:45</c:v>
                </c:pt>
                <c:pt idx="42">
                  <c:v>21:50</c:v>
                </c:pt>
                <c:pt idx="43">
                  <c:v>21:55</c:v>
                </c:pt>
                <c:pt idx="44">
                  <c:v>22:00</c:v>
                </c:pt>
                <c:pt idx="45">
                  <c:v>22:05</c:v>
                </c:pt>
                <c:pt idx="46">
                  <c:v>22:10</c:v>
                </c:pt>
                <c:pt idx="47">
                  <c:v>22:15</c:v>
                </c:pt>
                <c:pt idx="48">
                  <c:v>22:20</c:v>
                </c:pt>
                <c:pt idx="49">
                  <c:v>22:25</c:v>
                </c:pt>
                <c:pt idx="50">
                  <c:v>22:30</c:v>
                </c:pt>
                <c:pt idx="51">
                  <c:v>22:35</c:v>
                </c:pt>
                <c:pt idx="52">
                  <c:v>22:40</c:v>
                </c:pt>
                <c:pt idx="53">
                  <c:v>22:45</c:v>
                </c:pt>
                <c:pt idx="54">
                  <c:v>22:50</c:v>
                </c:pt>
                <c:pt idx="55">
                  <c:v>22:55</c:v>
                </c:pt>
                <c:pt idx="56">
                  <c:v>23:00</c:v>
                </c:pt>
                <c:pt idx="57">
                  <c:v>23:05</c:v>
                </c:pt>
                <c:pt idx="58">
                  <c:v>23:10</c:v>
                </c:pt>
                <c:pt idx="59">
                  <c:v>23:15</c:v>
                </c:pt>
                <c:pt idx="60">
                  <c:v>23:20</c:v>
                </c:pt>
                <c:pt idx="61">
                  <c:v>23:25</c:v>
                </c:pt>
                <c:pt idx="62">
                  <c:v>23:30</c:v>
                </c:pt>
              </c:strCache>
            </c:strRef>
          </c:cat>
          <c:val>
            <c:numRef>
              <c:f>Sheet1!$F$2:$F$64</c:f>
              <c:numCache>
                <c:formatCode>General</c:formatCode>
                <c:ptCount val="63"/>
                <c:pt idx="0">
                  <c:v>20</c:v>
                </c:pt>
                <c:pt idx="1">
                  <c:v>20</c:v>
                </c:pt>
                <c:pt idx="2">
                  <c:v>20</c:v>
                </c:pt>
                <c:pt idx="3">
                  <c:v>20</c:v>
                </c:pt>
                <c:pt idx="4">
                  <c:v>20</c:v>
                </c:pt>
                <c:pt idx="5">
                  <c:v>20</c:v>
                </c:pt>
                <c:pt idx="6">
                  <c:v>20</c:v>
                </c:pt>
                <c:pt idx="7">
                  <c:v>20</c:v>
                </c:pt>
                <c:pt idx="8">
                  <c:v>20</c:v>
                </c:pt>
                <c:pt idx="9">
                  <c:v>20</c:v>
                </c:pt>
                <c:pt idx="10">
                  <c:v>20</c:v>
                </c:pt>
                <c:pt idx="11">
                  <c:v>20</c:v>
                </c:pt>
                <c:pt idx="12">
                  <c:v>20</c:v>
                </c:pt>
                <c:pt idx="13">
                  <c:v>20</c:v>
                </c:pt>
                <c:pt idx="14">
                  <c:v>20</c:v>
                </c:pt>
                <c:pt idx="15">
                  <c:v>20</c:v>
                </c:pt>
                <c:pt idx="16">
                  <c:v>20</c:v>
                </c:pt>
                <c:pt idx="17">
                  <c:v>20</c:v>
                </c:pt>
                <c:pt idx="18">
                  <c:v>20</c:v>
                </c:pt>
                <c:pt idx="19">
                  <c:v>20</c:v>
                </c:pt>
                <c:pt idx="20">
                  <c:v>20</c:v>
                </c:pt>
                <c:pt idx="21">
                  <c:v>20</c:v>
                </c:pt>
                <c:pt idx="22">
                  <c:v>20</c:v>
                </c:pt>
                <c:pt idx="23">
                  <c:v>20</c:v>
                </c:pt>
                <c:pt idx="24">
                  <c:v>20</c:v>
                </c:pt>
                <c:pt idx="25">
                  <c:v>20</c:v>
                </c:pt>
                <c:pt idx="26">
                  <c:v>20</c:v>
                </c:pt>
                <c:pt idx="27">
                  <c:v>20</c:v>
                </c:pt>
                <c:pt idx="28">
                  <c:v>20</c:v>
                </c:pt>
                <c:pt idx="29">
                  <c:v>20</c:v>
                </c:pt>
                <c:pt idx="30">
                  <c:v>20</c:v>
                </c:pt>
                <c:pt idx="31">
                  <c:v>20</c:v>
                </c:pt>
                <c:pt idx="32">
                  <c:v>20</c:v>
                </c:pt>
                <c:pt idx="33">
                  <c:v>20</c:v>
                </c:pt>
                <c:pt idx="34">
                  <c:v>20</c:v>
                </c:pt>
                <c:pt idx="35">
                  <c:v>20</c:v>
                </c:pt>
                <c:pt idx="36">
                  <c:v>20</c:v>
                </c:pt>
                <c:pt idx="37">
                  <c:v>20</c:v>
                </c:pt>
                <c:pt idx="38">
                  <c:v>20</c:v>
                </c:pt>
                <c:pt idx="39">
                  <c:v>20</c:v>
                </c:pt>
                <c:pt idx="40">
                  <c:v>20</c:v>
                </c:pt>
                <c:pt idx="41">
                  <c:v>20</c:v>
                </c:pt>
                <c:pt idx="42">
                  <c:v>20</c:v>
                </c:pt>
                <c:pt idx="43">
                  <c:v>20</c:v>
                </c:pt>
                <c:pt idx="44">
                  <c:v>20</c:v>
                </c:pt>
                <c:pt idx="45">
                  <c:v>20</c:v>
                </c:pt>
                <c:pt idx="46">
                  <c:v>20</c:v>
                </c:pt>
                <c:pt idx="47">
                  <c:v>20</c:v>
                </c:pt>
                <c:pt idx="48">
                  <c:v>20</c:v>
                </c:pt>
                <c:pt idx="49">
                  <c:v>20</c:v>
                </c:pt>
                <c:pt idx="50">
                  <c:v>20</c:v>
                </c:pt>
                <c:pt idx="51">
                  <c:v>20</c:v>
                </c:pt>
                <c:pt idx="52">
                  <c:v>20</c:v>
                </c:pt>
                <c:pt idx="53">
                  <c:v>20</c:v>
                </c:pt>
                <c:pt idx="54">
                  <c:v>20</c:v>
                </c:pt>
                <c:pt idx="55">
                  <c:v>20</c:v>
                </c:pt>
                <c:pt idx="56">
                  <c:v>20</c:v>
                </c:pt>
                <c:pt idx="57">
                  <c:v>20</c:v>
                </c:pt>
                <c:pt idx="58">
                  <c:v>20</c:v>
                </c:pt>
                <c:pt idx="59">
                  <c:v>20</c:v>
                </c:pt>
                <c:pt idx="60">
                  <c:v>20</c:v>
                </c:pt>
                <c:pt idx="61">
                  <c:v>20</c:v>
                </c:pt>
                <c:pt idx="62">
                  <c:v>20</c:v>
                </c:pt>
              </c:numCache>
            </c:numRef>
          </c:val>
          <c:smooth val="0"/>
          <c:extLst>
            <c:ext xmlns:c16="http://schemas.microsoft.com/office/drawing/2014/chart" uri="{C3380CC4-5D6E-409C-BE32-E72D297353CC}">
              <c16:uniqueId val="{00000004-A84F-467F-B685-7FA47FF5F03A}"/>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1100">
                <a:latin typeface="Arial"/>
              </a:defRPr>
            </a:pPr>
            <a:endParaRPr lang="en-US"/>
          </a:p>
        </c:txPr>
        <c:crossAx val="2140495176"/>
        <c:crosses val="autoZero"/>
        <c:auto val="1"/>
        <c:lblAlgn val="ctr"/>
        <c:lblOffset val="100"/>
        <c:tickLblSkip val="6"/>
        <c:tickMarkSkip val="6"/>
        <c:noMultiLvlLbl val="0"/>
      </c:catAx>
      <c:valAx>
        <c:axId val="2140495176"/>
        <c:scaling>
          <c:orientation val="minMax"/>
          <c:max val="100"/>
          <c:min val="0"/>
        </c:scaling>
        <c:delete val="0"/>
        <c:axPos val="l"/>
        <c:majorGridlines>
          <c:spPr>
            <a:ln>
              <a:solidFill>
                <a:srgbClr val="E4E4E4"/>
              </a:solidFill>
            </a:ln>
          </c:spPr>
        </c:majorGridlines>
        <c:numFmt formatCode="General" sourceLinked="1"/>
        <c:majorTickMark val="out"/>
        <c:minorTickMark val="none"/>
        <c:tickLblPos val="nextTo"/>
        <c:spPr>
          <a:ln>
            <a:noFill/>
          </a:ln>
        </c:spPr>
        <c:txPr>
          <a:bodyPr/>
          <a:lstStyle/>
          <a:p>
            <a:pPr>
              <a:defRPr sz="1100">
                <a:latin typeface="Arial"/>
              </a:defRPr>
            </a:pPr>
            <a:endParaRPr lang="en-US"/>
          </a:p>
        </c:txPr>
        <c:crossAx val="2118791784"/>
        <c:crosses val="autoZero"/>
        <c:crossBetween val="between"/>
        <c:majorUnit val="20"/>
      </c:valAx>
    </c:plotArea>
    <c:legend>
      <c:legendPos val="t"/>
      <c:overlay val="0"/>
      <c:txPr>
        <a:bodyPr/>
        <a:lstStyle/>
        <a:p>
          <a:pPr>
            <a:defRPr sz="11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2"/>
          <c:y val="0.1"/>
          <c:w val="0.96"/>
          <c:h val="0.7"/>
        </c:manualLayout>
      </c:layout>
      <c:barChart>
        <c:barDir val="col"/>
        <c:grouping val="clustered"/>
        <c:varyColors val="1"/>
        <c:ser>
          <c:idx val="0"/>
          <c:order val="0"/>
          <c:tx>
            <c:strRef>
              <c:f>Sheet1!$B$1</c:f>
              <c:strCache>
                <c:ptCount val="1"/>
                <c:pt idx="0">
                  <c:v>rev</c:v>
                </c:pt>
              </c:strCache>
            </c:strRef>
          </c:tx>
          <c:invertIfNegative val="1"/>
          <c:dPt>
            <c:idx val="0"/>
            <c:invertIfNegative val="1"/>
            <c:bubble3D val="0"/>
            <c:spPr>
              <a:solidFill>
                <a:srgbClr val="000104"/>
              </a:solidFill>
              <a:ln w="15875">
                <a:solidFill>
                  <a:srgbClr val="000104"/>
                </a:solidFill>
              </a:ln>
            </c:spPr>
            <c:extLst>
              <c:ext xmlns:c16="http://schemas.microsoft.com/office/drawing/2014/chart" uri="{C3380CC4-5D6E-409C-BE32-E72D297353CC}">
                <c16:uniqueId val="{00000001-ADC2-49C5-93C4-A25D48C460DF}"/>
              </c:ext>
            </c:extLst>
          </c:dPt>
          <c:dPt>
            <c:idx val="1"/>
            <c:invertIfNegative val="1"/>
            <c:bubble3D val="0"/>
            <c:spPr>
              <a:solidFill>
                <a:srgbClr val="FFFFFF"/>
              </a:solidFill>
              <a:ln w="15875">
                <a:solidFill>
                  <a:srgbClr val="000104"/>
                </a:solidFill>
              </a:ln>
            </c:spPr>
            <c:extLst>
              <c:ext xmlns:c16="http://schemas.microsoft.com/office/drawing/2014/chart" uri="{C3380CC4-5D6E-409C-BE32-E72D297353CC}">
                <c16:uniqueId val="{00000003-ADC2-49C5-93C4-A25D48C460DF}"/>
              </c:ext>
            </c:extLst>
          </c:dPt>
          <c:dPt>
            <c:idx val="2"/>
            <c:invertIfNegative val="1"/>
            <c:bubble3D val="0"/>
            <c:spPr>
              <a:solidFill>
                <a:srgbClr val="FDC300"/>
              </a:solidFill>
              <a:ln w="15875">
                <a:solidFill>
                  <a:srgbClr val="000104"/>
                </a:solidFill>
              </a:ln>
            </c:spPr>
            <c:extLst>
              <c:ext xmlns:c16="http://schemas.microsoft.com/office/drawing/2014/chart" uri="{C3380CC4-5D6E-409C-BE32-E72D297353CC}">
                <c16:uniqueId val="{00000005-ADC2-49C5-93C4-A25D48C460DF}"/>
              </c:ext>
            </c:extLst>
          </c:dPt>
          <c:dPt>
            <c:idx val="3"/>
            <c:invertIfNegative val="1"/>
            <c:bubble3D val="0"/>
            <c:spPr>
              <a:solidFill>
                <a:srgbClr val="FDC300"/>
              </a:solidFill>
              <a:ln w="15875">
                <a:solidFill>
                  <a:srgbClr val="000104"/>
                </a:solidFill>
              </a:ln>
            </c:spPr>
            <c:extLst>
              <c:ext xmlns:c16="http://schemas.microsoft.com/office/drawing/2014/chart" uri="{C3380CC4-5D6E-409C-BE32-E72D297353CC}">
                <c16:uniqueId val="{00000007-ADC2-49C5-93C4-A25D48C460DF}"/>
              </c:ext>
            </c:extLst>
          </c:dPt>
          <c:dLbls>
            <c:numFmt formatCode="&quot;₹&quot;0.0&quot; cr&quot;" sourceLinked="0"/>
            <c:spPr>
              <a:noFill/>
              <a:ln>
                <a:noFill/>
              </a:ln>
              <a:effectLst/>
            </c:spPr>
            <c:txPr>
              <a:bodyPr/>
              <a:lstStyle/>
              <a:p>
                <a:pPr>
                  <a:defRPr sz="1400" b="1">
                    <a:solidFill>
                      <a:srgbClr val="000104"/>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Today</c:v>
                </c:pt>
                <c:pt idx="1">
                  <c:v>Longer life,
same share</c:v>
                </c:pt>
                <c:pt idx="2">
                  <c:v>48 % share</c:v>
                </c:pt>
                <c:pt idx="3">
                  <c:v>55 % share</c:v>
                </c:pt>
              </c:strCache>
            </c:strRef>
          </c:cat>
          <c:val>
            <c:numRef>
              <c:f>Sheet1!$B$2:$B$5</c:f>
              <c:numCache>
                <c:formatCode>General</c:formatCode>
                <c:ptCount val="4"/>
                <c:pt idx="0">
                  <c:v>15</c:v>
                </c:pt>
                <c:pt idx="1">
                  <c:v>12.5</c:v>
                </c:pt>
                <c:pt idx="2">
                  <c:v>15</c:v>
                </c:pt>
                <c:pt idx="3">
                  <c:v>17.2</c:v>
                </c:pt>
              </c:numCache>
            </c:numRef>
          </c:val>
          <c:extLst>
            <c:ext xmlns:c16="http://schemas.microsoft.com/office/drawing/2014/chart" uri="{C3380CC4-5D6E-409C-BE32-E72D297353CC}">
              <c16:uniqueId val="{00000008-ADC2-49C5-93C4-A25D48C460DF}"/>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BBBBB"/>
            </a:solidFill>
          </a:ln>
        </c:spPr>
        <c:txPr>
          <a:bodyPr/>
          <a:lstStyle/>
          <a:p>
            <a:pPr>
              <a:defRPr sz="1200">
                <a:latin typeface="Arial"/>
              </a:defRPr>
            </a:pPr>
            <a:endParaRPr lang="en-US"/>
          </a:p>
        </c:txPr>
        <c:crossAx val="-2113994440"/>
        <c:crosses val="autoZero"/>
        <c:auto val="1"/>
        <c:lblAlgn val="ctr"/>
        <c:lblOffset val="100"/>
        <c:noMultiLvlLbl val="0"/>
      </c:catAx>
      <c:valAx>
        <c:axId val="-2113994440"/>
        <c:scaling>
          <c:orientation val="minMax"/>
          <c:max val="2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5308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[0:00–0:20] Good morning. We're Team Codey Tingle. In the next ten minutes we'll show you Sentinel — first the idea, then the working prototype live, then what's proven and what isn't. Behind us is our simulated village; you'll see it in action in a few minutes.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[0:20–0:50] Picture a family in Kochi. The evening power cut starts at seven. The inverter switches over in under ten milliseconds — it's fast. But nobody knows how much the battery has left, or how healthy it is. At three minutes past ten it simply dies: fridge, Wi-Fi, lights, all gone. Eighty-five percent of Indian homes face cuts daily. Heat halves lead-acid life every ten degrees. And for V-Guard, those surprise failures land in the warranty bill — about one and a half percent of revenue. The inverter is fast. The battery is blind. That's the gap.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[0:50–1:10] Our idea in one sentence: Sentinel turns V-Guard's smart inverter into an intelligent one. Today's products take commands. Sentinel predicts when the battery will fail, decides which loads to keep alive, and acts on its own — even with no internet, which in India is a feature, not a compromise. It ships two ways: built into new inverters, or retrofitted by an electrician in half an hour.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[1:35–1:50] Four jobs, one board. One: battery health — a warning window, not a guess. Two: the autopilot that keeps essentials alive. Three: the energy coach and grid shield — which appliances use what, and what the grid did to your home. Four: a signed health log, so warranty is decided by evidence, not argument. Let me take them one at a time, quickly.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[3:25–3:45] For new V-Guard inverters Sentinel isn't a box — it's a daughter-board inside. This is our 3D proof of concept with the lid off: transformer, MOSFET bridge, changeover relay, control board, and our board on standoffs. It taps five things the inverter already has: its current shunt, its mode line, the charger's feedback node — which is how Sentinel does temperature-compensated charging, only on the embedded version — the output rail, and four coil outputs to the contactors.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[1:10–1:35] Physically, Sentinel is a box the size of a deck of cards beside the inverter. This is the 'power corner' of Home 1 in our simulation. Five touch points: a shunt in the battery's negative cable for current, a temperature probe on the battery post, a current transformer on the inverter output, four fail-safe contactors in the distribution board — and the ESP32 core itself. Gold dots are mains power, cyan is battery power, violet is Sentinel sensing.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[4:00–4:10] And the simplest version — our bench sketch. Mains through a 6-amp MCB into a Prime-class inverter, a 150 Ah tubular battery with the shunt in its negative lead, an ESP32, and three normally-closed relays for the three tiers. Flipping that MCB is our outage. Let's do exactly that, live.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[1:50–2:25] How does a small microcontroller predict battery life? Physics first. A Kalman filter turns current, voltage and temperature into charge and internal resistance. Each outage becomes 20 features the lead-acid literature says drive wear — resistance growth, heat stress, depth of discharge. A tiny int8 network — 28 thousand parameters, 16 KB of RAM — outputs a band, and we show a window: replace in 6 to 14 weeks, plan for 6. Honest numbers: on three batteries the model has never seen, the error is 8.2 points — on synthetic data. The band is calibrated but wide; real tubular aging data from the Kochi lab is what narrows it. And quantising to int8 cost us one hundredth of a point.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[3:45–4:00] It's designed to be built. Enclosure 90 by 70 by 35, board 80 by 60, flame-retardant plastic. Two things we'd point an engineer to: the battery's 30-plus amps never touch our board — only the shunt's millivolts do — and the mains-side sensing sits behind an isolation moat that the isolated amplifier and optocoupler straddle. On the right, the same board as a 3D render with every chip where the drawing puts 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[2:25–3:00] This is the heart of it, and it isn't a drawing — it's the output of our simulation engine. Home 1 and Home 6 have the identical 150 Ah battery and identical appliances. Only Home 1 has Sentinel. At 8:24 pm Home 1 drops to 55 percent and defers the fans and TV; its curve flattens. Home 6 keeps burning everything, and at 10:03 pm hits the cut-off — fridge, router, lights, all off for 57 minutes. Home 1 sheds the heavy sockets at 40 percent and keeps its essentials on till mains returns. The rule is a readable ladder — 55 and 40 percent with hysteresis — not a black box. And every contactor is normally-closed: if Sentinel crashes, every load comes back 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[3:00–3:25] Engine three. We added a real metering chip on the inverter output — the kind inside a smart meter. On the left, three hours of a home's power: every orange line is an appliance switching on, gold is off — 123 events, each turned into a signature so the app can ask 'what just turned on?'. On the right, the grid shield: the chip computes RMS every half cycle, catches a 120-millisecond sag and a swell, and writes them into the signed log — evidence for the owner when a fluctuation damages an appliance. We're honest about scope: big appliances, not two identical fans.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[4:10–8:10] LIVE DEMO (about 4 minutes). Switch to Sentinel-Live.html, full screen.</a:t>
            </a:r>
          </a:p>
          <a:p>
            <a:r>
              <a:t>1) Village tab: press ⏭ 18:58 at 180×. Feeder drops at 19:00 — flows turn cyan, street lights go out. Click Home 1 → Power corner: point at shunt, NTC, CT, Sentinel, contactors. ⏭ 20:20: T2 deferred (bedroom dark). ⏭ 21:55: at 22:03 Home 6 goes DARK; Home 1 still lit. Press Reset MCU on Home 1: all loads back, re-shed after reboot.</a:t>
            </a:r>
          </a:p>
          <a:p>
            <a:r>
              <a:t>2) Inverter + Sentinel tab: switch the iron on. Click MAINS MCB → slow motion: relay swings, scope shows the 8 ms gap gold→cyan, timeline +0.0 / +8.0 ms, Sentinel confirms at ~1.5 s. Hover the board: C1 ESP32, C6 metering, C13 DAC.</a:t>
            </a:r>
          </a:p>
          <a:p>
            <a:r>
              <a:t>3) Drag SoC to 38 % → CH3 opens, iron goes cold; fan deferred. Reset MCU → everything back, charger reverts to factory. Restore MCB → S6 then bulk charging. Temp slider to 45 °C → setpoints drop, current derates. Verify chain → alter one byte → broken.</a:t>
            </a:r>
          </a:p>
          <a:p>
            <a:r>
              <a:t>Back to slides.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[1:35–1:55] Same core board, two ways to ship it. As a retrofit box it costs about 1,050 rupees in parts for battery health and the autopilot, and 1,650 to 2,050 with the Energy Coach and Grid Shield. Built into a new V-Guard inverter it's roughly half: 450 to 700, or 850 to 1,300, because it reuses the inverter's own current shunt, 12-volt supply, enclosure and mains signal. Only the embedded version can control the charger. The retrofit's advantage is that it works on the inverters already installed in homes today.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[8:40–9:00] For the family: the essentials last about two and a half times longer, because they draw about 40 percent of the full load. The battery gives six to fourteen weeks' warning instead of dying without notice. And if the embedded version's charging adds the 20 percent life we're targeting, that's about 6,250 rupees less on batteries per decade. For V-Guard, per 1 lakh homes: longer life means fewer purchases, 15 crore drops to 12.5. But the warning tells V-Guard who will buy a battery and when. Win 48 percent of those replacements and it breaks even; at 55 percent it's 17.2 crore a year. And every 1 percent of warranty cost settled by signed evidence is about 70 lakh a year.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[9:05–9:35] Our roadmap is written as gates, not dates. Gate one: a proper aging campaign in V-Guard's Kochi reliability lab — that's what turns our synthetic accuracy into real accuracy. Gate two: a hundred retrofit homes for six months with hard pass criteria. Gate three: the embedded version inside the Smart Pro family, which already has Wi-Fi and the app. What V-Guard gets: well-timed battery sales, evidence-based warranty, a premium tier, and data no competitor can buy. What we ask for: one opened Prime inverter with its charger schematic, the bench parts, and lab time.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[9:35–10:00] Three lines to remember. Coil off means loads on — it fails safe. A window, never a date — it's honest about uncertainty. Offline first, fleet second — it works in the village before it ever talks to the cloud. Thank you — we'd love your questions. (Appendix slides follow for Q&amp;A.)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title_right.png"/>
          <p:cNvPicPr>
            <a:picLocks noChangeAspect="1"/>
          </p:cNvPicPr>
          <p:nvPr/>
        </p:nvPicPr>
        <p:blipFill>
          <a:blip r:embed="rId3"/>
          <a:stretch>
            <a:fillRect/>
          </a:stretch>
        </p:blipFill>
        <p:spPr>
          <a:xfrm>
            <a:off x="6949440" y="0"/>
            <a:ext cx="5242255" cy="6858000"/>
          </a:xfrm>
          <a:prstGeom prst="rect">
            <a:avLst/>
          </a:prstGeom>
        </p:spPr>
      </p:pic>
      <p:sp>
        <p:nvSpPr>
          <p:cNvPr id="4" name="Rectangle 3"/>
          <p:cNvSpPr/>
          <p:nvPr/>
        </p:nvSpPr>
        <p:spPr>
          <a:xfrm>
            <a:off x="6949440" y="0"/>
            <a:ext cx="5242255" cy="6858000"/>
          </a:xfrm>
          <a:prstGeom prst="rect">
            <a:avLst/>
          </a:prstGeom>
          <a:solidFill>
            <a:srgbClr val="00010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394960"/>
            <a:ext cx="12191695" cy="73152"/>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ogo.png"/>
          <p:cNvPicPr>
            <a:picLocks noChangeAspect="1"/>
          </p:cNvPicPr>
          <p:nvPr/>
        </p:nvPicPr>
        <p:blipFill>
          <a:blip r:embed="rId4"/>
          <a:stretch>
            <a:fillRect/>
          </a:stretch>
        </p:blipFill>
        <p:spPr>
          <a:xfrm>
            <a:off x="640080" y="502920"/>
            <a:ext cx="2462530" cy="640080"/>
          </a:xfrm>
          <a:prstGeom prst="rect">
            <a:avLst/>
          </a:prstGeom>
        </p:spPr>
      </p:pic>
      <p:sp>
        <p:nvSpPr>
          <p:cNvPr id="7" name="TextBox 6"/>
          <p:cNvSpPr txBox="1"/>
          <p:nvPr/>
        </p:nvSpPr>
        <p:spPr>
          <a:xfrm>
            <a:off x="640080" y="1737360"/>
            <a:ext cx="6217920" cy="1005840"/>
          </a:xfrm>
          <a:prstGeom prst="rect">
            <a:avLst/>
          </a:prstGeom>
          <a:noFill/>
        </p:spPr>
        <p:txBody>
          <a:bodyPr wrap="square" lIns="36576" tIns="18288" rIns="36576" bIns="18288" anchor="t">
            <a:spAutoFit/>
          </a:bodyPr>
          <a:lstStyle/>
          <a:p>
            <a:pPr algn="l">
              <a:spcAft>
                <a:spcPts val="400"/>
              </a:spcAft>
            </a:pPr>
            <a:r>
              <a:rPr sz="5000" b="1" i="0">
                <a:solidFill>
                  <a:srgbClr val="FDC300"/>
                </a:solidFill>
                <a:latin typeface="Arial"/>
              </a:rPr>
              <a:t>V-Guard Sentinel</a:t>
            </a:r>
          </a:p>
        </p:txBody>
      </p:sp>
      <p:sp>
        <p:nvSpPr>
          <p:cNvPr id="8" name="TextBox 7"/>
          <p:cNvSpPr txBox="1"/>
          <p:nvPr/>
        </p:nvSpPr>
        <p:spPr>
          <a:xfrm>
            <a:off x="640080" y="2743200"/>
            <a:ext cx="5943600" cy="714042"/>
          </a:xfrm>
          <a:prstGeom prst="rect">
            <a:avLst/>
          </a:prstGeom>
          <a:noFill/>
        </p:spPr>
        <p:txBody>
          <a:bodyPr wrap="square" lIns="36576" tIns="18288" rIns="36576" bIns="18288" anchor="t">
            <a:spAutoFit/>
          </a:bodyPr>
          <a:lstStyle/>
          <a:p>
            <a:pPr>
              <a:spcAft>
                <a:spcPts val="400"/>
              </a:spcAft>
            </a:pPr>
            <a:r>
              <a:rPr lang="en-US" sz="2200" dirty="0">
                <a:solidFill>
                  <a:srgbClr val="FFFFFF"/>
                </a:solidFill>
                <a:latin typeface="Arial"/>
                <a:ea typeface="+mn-lt"/>
                <a:cs typeface="Arial"/>
              </a:rPr>
              <a:t>Your </a:t>
            </a:r>
            <a:r>
              <a:rPr lang="en-US" sz="2200" b="0" i="0" dirty="0">
                <a:solidFill>
                  <a:srgbClr val="FFFFFF"/>
                </a:solidFill>
                <a:latin typeface="Arial"/>
                <a:ea typeface="+mn-lt"/>
                <a:cs typeface="Arial"/>
              </a:rPr>
              <a:t>inverter knows when the power goes. </a:t>
            </a:r>
            <a:r>
              <a:rPr lang="en-US" sz="2200" b="0" i="0">
                <a:solidFill>
                  <a:srgbClr val="FFFFFF"/>
                </a:solidFill>
                <a:latin typeface="Arial"/>
                <a:ea typeface="+mn-lt"/>
                <a:cs typeface="Arial"/>
              </a:rPr>
              <a:t>Sentinel </a:t>
            </a:r>
            <a:r>
              <a:rPr lang="en-US" sz="2200">
                <a:solidFill>
                  <a:srgbClr val="FFFFFF"/>
                </a:solidFill>
                <a:latin typeface="Arial"/>
                <a:ea typeface="+mn-lt"/>
                <a:cs typeface="Arial"/>
              </a:rPr>
              <a:t>knows </a:t>
            </a:r>
            <a:r>
              <a:rPr lang="en-US" sz="2200" b="0" i="0">
                <a:solidFill>
                  <a:srgbClr val="FFFFFF"/>
                </a:solidFill>
                <a:latin typeface="Arial"/>
                <a:ea typeface="+mn-lt"/>
                <a:cs typeface="Arial"/>
              </a:rPr>
              <a:t>what to </a:t>
            </a:r>
            <a:r>
              <a:rPr lang="en-US" sz="2200">
                <a:solidFill>
                  <a:srgbClr val="FFFFFF"/>
                </a:solidFill>
                <a:latin typeface="Arial"/>
                <a:ea typeface="+mn-lt"/>
                <a:cs typeface="Arial"/>
              </a:rPr>
              <a:t>do.</a:t>
            </a:r>
            <a:endParaRPr lang="en-US"/>
          </a:p>
        </p:txBody>
      </p:sp>
      <p:sp>
        <p:nvSpPr>
          <p:cNvPr id="9" name="TextBox 8"/>
          <p:cNvSpPr txBox="1"/>
          <p:nvPr/>
        </p:nvSpPr>
        <p:spPr>
          <a:xfrm>
            <a:off x="640080" y="4343400"/>
            <a:ext cx="6400800" cy="457200"/>
          </a:xfrm>
          <a:prstGeom prst="rect">
            <a:avLst/>
          </a:prstGeom>
          <a:noFill/>
        </p:spPr>
        <p:txBody>
          <a:bodyPr wrap="square" lIns="36576" tIns="18288" rIns="36576" bIns="18288" anchor="t">
            <a:spAutoFit/>
          </a:bodyPr>
          <a:lstStyle/>
          <a:p>
            <a:pPr algn="l">
              <a:spcAft>
                <a:spcPts val="400"/>
              </a:spcAft>
            </a:pPr>
            <a:r>
              <a:rPr sz="1500" b="0" i="0">
                <a:solidFill>
                  <a:srgbClr val="FDC300"/>
                </a:solidFill>
                <a:latin typeface="Arial"/>
              </a:rPr>
              <a:t>Track 4 · From Smart Products to Intelligent Products</a:t>
            </a:r>
          </a:p>
        </p:txBody>
      </p:sp>
      <p:sp>
        <p:nvSpPr>
          <p:cNvPr id="10" name="TextBox 9"/>
          <p:cNvSpPr txBox="1"/>
          <p:nvPr/>
        </p:nvSpPr>
        <p:spPr>
          <a:xfrm>
            <a:off x="640080" y="5623560"/>
            <a:ext cx="10972800" cy="519116"/>
          </a:xfrm>
          <a:prstGeom prst="rect">
            <a:avLst/>
          </a:prstGeom>
          <a:noFill/>
        </p:spPr>
        <p:txBody>
          <a:bodyPr wrap="square" lIns="36576" tIns="18288" rIns="36576" bIns="18288" anchor="t">
            <a:spAutoFit/>
          </a:bodyPr>
          <a:lstStyle/>
          <a:p>
            <a:pPr algn="l">
              <a:spcAft>
                <a:spcPts val="400"/>
              </a:spcAft>
            </a:pPr>
            <a:r>
              <a:rPr sz="1400" b="0" i="0">
                <a:solidFill>
                  <a:srgbClr val="FFFFFF"/>
                </a:solidFill>
                <a:latin typeface="Arial"/>
              </a:rPr>
              <a:t>Team Codey Tingle (TI3271)  ·  Ayush Garg · Eshan Shukla · Tanay </a:t>
            </a:r>
            <a:r>
              <a:rPr sz="1400" b="0" i="0" err="1">
                <a:solidFill>
                  <a:srgbClr val="FFFFFF"/>
                </a:solidFill>
                <a:latin typeface="Arial"/>
              </a:rPr>
              <a:t>Chaplot</a:t>
            </a:r>
            <a:endParaRPr lang="en-US" sz="1400" b="0" i="0" err="1">
              <a:solidFill>
                <a:srgbClr val="FFFFFF"/>
              </a:solidFill>
              <a:latin typeface="Arial"/>
              <a:cs typeface="Arial"/>
            </a:endParaRPr>
          </a:p>
          <a:p>
            <a:pPr algn="l">
              <a:spcAft>
                <a:spcPts val="400"/>
              </a:spcAft>
            </a:pPr>
            <a:r>
              <a:rPr sz="1400" b="0" i="0" dirty="0">
                <a:solidFill>
                  <a:srgbClr val="FFFFFF"/>
                </a:solidFill>
                <a:latin typeface="Arial"/>
              </a:rPr>
              <a:t>Finale · Kochi · 24 September 2026</a:t>
            </a:r>
            <a:endParaRPr sz="1400" b="0" i="0" dirty="0">
              <a:solidFill>
                <a:srgbClr val="FFFFFF"/>
              </a:solidFill>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452432"/>
          </a:xfrm>
          <a:prstGeom prst="rect">
            <a:avLst/>
          </a:prstGeom>
          <a:noFill/>
        </p:spPr>
        <p:txBody>
          <a:bodyPr wrap="square" lIns="36576" tIns="18288" rIns="36576" bIns="18288" anchor="t">
            <a:spAutoFit/>
          </a:bodyPr>
          <a:lstStyle/>
          <a:p>
            <a:pPr>
              <a:spcAft>
                <a:spcPts val="400"/>
              </a:spcAft>
            </a:pPr>
            <a:r>
              <a:rPr sz="2700" b="1" i="0" dirty="0">
                <a:solidFill>
                  <a:srgbClr val="000104"/>
                </a:solidFill>
                <a:latin typeface="Arial"/>
              </a:rPr>
              <a:t>10:03 pm. The battery dies</a:t>
            </a:r>
            <a:r>
              <a:rPr lang="en-US" sz="2700" b="1" dirty="0">
                <a:solidFill>
                  <a:srgbClr val="000104"/>
                </a:solidFill>
                <a:latin typeface="Arial"/>
              </a:rPr>
              <a:t> </a:t>
            </a:r>
            <a:r>
              <a:rPr sz="2700" b="1" i="0" dirty="0">
                <a:solidFill>
                  <a:srgbClr val="000104"/>
                </a:solidFill>
                <a:latin typeface="Arial"/>
              </a:rPr>
              <a:t>with no warning.</a:t>
            </a:r>
          </a:p>
        </p:txBody>
      </p:sp>
      <p:sp>
        <p:nvSpPr>
          <p:cNvPr id="5" name="TextBox 4"/>
          <p:cNvSpPr txBox="1"/>
          <p:nvPr/>
        </p:nvSpPr>
        <p:spPr>
          <a:xfrm>
            <a:off x="795528" y="914400"/>
            <a:ext cx="10789920" cy="252377"/>
          </a:xfrm>
          <a:prstGeom prst="rect">
            <a:avLst/>
          </a:prstGeom>
          <a:noFill/>
        </p:spPr>
        <p:txBody>
          <a:bodyPr wrap="square" lIns="36576" tIns="18288" rIns="36576" bIns="18288" anchor="t">
            <a:spAutoFit/>
          </a:bodyPr>
          <a:lstStyle/>
          <a:p>
            <a:pPr>
              <a:spcAft>
                <a:spcPts val="400"/>
              </a:spcAft>
            </a:pPr>
            <a:r>
              <a:rPr sz="1400" b="0" i="1" dirty="0">
                <a:solidFill>
                  <a:srgbClr val="6C757D"/>
                </a:solidFill>
                <a:latin typeface="Arial"/>
              </a:rPr>
              <a:t>Three hours into a power cut, Home 6 in our village goes dark. Home 1 has the same battery and appliances</a:t>
            </a:r>
            <a:r>
              <a:rPr lang="en-US" sz="1400" i="1" dirty="0">
                <a:solidFill>
                  <a:srgbClr val="6C757D"/>
                </a:solidFill>
                <a:latin typeface="Arial"/>
              </a:rPr>
              <a:t> </a:t>
            </a:r>
            <a:r>
              <a:rPr sz="1400" b="0" i="1" dirty="0">
                <a:solidFill>
                  <a:srgbClr val="6C757D"/>
                </a:solidFill>
                <a:latin typeface="Arial"/>
              </a:rPr>
              <a:t>and stays lit.</a:t>
            </a:r>
          </a:p>
        </p:txBody>
      </p:sp>
      <p:sp>
        <p:nvSpPr>
          <p:cNvPr id="6" name="Rectangle 5"/>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655" y="6492240"/>
            <a:ext cx="914400" cy="347472"/>
          </a:xfrm>
          <a:prstGeom prst="rect">
            <a:avLst/>
          </a:prstGeom>
          <a:noFill/>
        </p:spPr>
        <p:txBody>
          <a:bodyPr wrap="square" lIns="36576" tIns="18288" rIns="36576" bIns="18288" anchor="ctr">
            <a:spAutoFit/>
          </a:bodyPr>
          <a:lstStyle/>
          <a:p>
            <a:pPr algn="r">
              <a:spcAft>
                <a:spcPts val="400"/>
              </a:spcAft>
            </a:pPr>
            <a:r>
              <a:rPr sz="1000" b="0" i="0">
                <a:solidFill>
                  <a:srgbClr val="FFFFFF"/>
                </a:solidFill>
                <a:latin typeface="Arial"/>
              </a:rPr>
              <a:t>2</a:t>
            </a:r>
          </a:p>
        </p:txBody>
      </p:sp>
      <p:pic>
        <p:nvPicPr>
          <p:cNvPr id="9" name="Picture 8" descr="v_home6_dark_c.png"/>
          <p:cNvPicPr>
            <a:picLocks noChangeAspect="1"/>
          </p:cNvPicPr>
          <p:nvPr/>
        </p:nvPicPr>
        <p:blipFill>
          <a:blip r:embed="rId3"/>
          <a:stretch>
            <a:fillRect/>
          </a:stretch>
        </p:blipFill>
        <p:spPr>
          <a:xfrm>
            <a:off x="548640" y="2125980"/>
            <a:ext cx="7315200" cy="3383280"/>
          </a:xfrm>
          <a:prstGeom prst="rect">
            <a:avLst/>
          </a:prstGeom>
          <a:ln w="19050">
            <a:solidFill>
              <a:srgbClr val="FDC300"/>
            </a:solidFill>
          </a:ln>
        </p:spPr>
      </p:pic>
      <p:sp>
        <p:nvSpPr>
          <p:cNvPr id="10" name="TextBox 9"/>
          <p:cNvSpPr txBox="1"/>
          <p:nvPr/>
        </p:nvSpPr>
        <p:spPr>
          <a:xfrm>
            <a:off x="8229600" y="1508760"/>
            <a:ext cx="3566160" cy="731520"/>
          </a:xfrm>
          <a:prstGeom prst="rect">
            <a:avLst/>
          </a:prstGeom>
          <a:noFill/>
        </p:spPr>
        <p:txBody>
          <a:bodyPr wrap="square" lIns="36576" tIns="18288" rIns="36576" bIns="18288" anchor="t">
            <a:spAutoFit/>
          </a:bodyPr>
          <a:lstStyle/>
          <a:p>
            <a:pPr algn="l">
              <a:spcAft>
                <a:spcPts val="400"/>
              </a:spcAft>
            </a:pPr>
            <a:r>
              <a:rPr sz="4000" b="1" i="0">
                <a:solidFill>
                  <a:srgbClr val="F39200"/>
                </a:solidFill>
                <a:latin typeface="Arial"/>
              </a:rPr>
              <a:t>85 %</a:t>
            </a:r>
          </a:p>
        </p:txBody>
      </p:sp>
      <p:sp>
        <p:nvSpPr>
          <p:cNvPr id="11" name="TextBox 10"/>
          <p:cNvSpPr txBox="1"/>
          <p:nvPr/>
        </p:nvSpPr>
        <p:spPr>
          <a:xfrm>
            <a:off x="8229600" y="2221992"/>
            <a:ext cx="3566160" cy="437043"/>
          </a:xfrm>
          <a:prstGeom prst="rect">
            <a:avLst/>
          </a:prstGeom>
          <a:noFill/>
        </p:spPr>
        <p:txBody>
          <a:bodyPr wrap="square" lIns="36576" tIns="18288" rIns="36576" bIns="18288" anchor="t">
            <a:spAutoFit/>
          </a:bodyPr>
          <a:lstStyle/>
          <a:p>
            <a:pPr>
              <a:spcAft>
                <a:spcPts val="400"/>
              </a:spcAft>
            </a:pPr>
            <a:r>
              <a:rPr sz="1300" b="0" i="0">
                <a:solidFill>
                  <a:srgbClr val="221E1F"/>
                </a:solidFill>
                <a:latin typeface="Arial"/>
              </a:rPr>
              <a:t>of Indian households face a power cut every day (</a:t>
            </a:r>
            <a:r>
              <a:rPr lang="en-US" sz="1300" i="1">
                <a:solidFill>
                  <a:srgbClr val="221E1F"/>
                </a:solidFill>
                <a:latin typeface="Arial"/>
              </a:rPr>
              <a:t>LocalCircles, 2023</a:t>
            </a:r>
            <a:r>
              <a:rPr sz="1300" b="0" i="0">
                <a:solidFill>
                  <a:srgbClr val="221E1F"/>
                </a:solidFill>
                <a:latin typeface="Arial"/>
              </a:rPr>
              <a:t>)</a:t>
            </a:r>
          </a:p>
        </p:txBody>
      </p:sp>
      <p:sp>
        <p:nvSpPr>
          <p:cNvPr id="12" name="TextBox 11"/>
          <p:cNvSpPr txBox="1"/>
          <p:nvPr/>
        </p:nvSpPr>
        <p:spPr>
          <a:xfrm>
            <a:off x="8229600" y="3063240"/>
            <a:ext cx="3566160" cy="731520"/>
          </a:xfrm>
          <a:prstGeom prst="rect">
            <a:avLst/>
          </a:prstGeom>
          <a:noFill/>
        </p:spPr>
        <p:txBody>
          <a:bodyPr wrap="square" lIns="36576" tIns="18288" rIns="36576" bIns="18288" anchor="t">
            <a:spAutoFit/>
          </a:bodyPr>
          <a:lstStyle/>
          <a:p>
            <a:pPr algn="l">
              <a:spcAft>
                <a:spcPts val="400"/>
              </a:spcAft>
            </a:pPr>
            <a:r>
              <a:rPr sz="4000" b="1" i="0">
                <a:solidFill>
                  <a:srgbClr val="D63A4F"/>
                </a:solidFill>
                <a:latin typeface="Arial"/>
              </a:rPr>
              <a:t>×2 wear</a:t>
            </a:r>
          </a:p>
        </p:txBody>
      </p:sp>
      <p:sp>
        <p:nvSpPr>
          <p:cNvPr id="13" name="TextBox 12"/>
          <p:cNvSpPr txBox="1"/>
          <p:nvPr/>
        </p:nvSpPr>
        <p:spPr>
          <a:xfrm>
            <a:off x="8229600" y="3776472"/>
            <a:ext cx="3566160" cy="437043"/>
          </a:xfrm>
          <a:prstGeom prst="rect">
            <a:avLst/>
          </a:prstGeom>
          <a:noFill/>
        </p:spPr>
        <p:txBody>
          <a:bodyPr wrap="square" lIns="36576" tIns="18288" rIns="36576" bIns="18288" anchor="t">
            <a:spAutoFit/>
          </a:bodyPr>
          <a:lstStyle/>
          <a:p>
            <a:pPr>
              <a:spcAft>
                <a:spcPts val="400"/>
              </a:spcAft>
            </a:pPr>
            <a:r>
              <a:rPr sz="1300" b="0" i="0" dirty="0">
                <a:solidFill>
                  <a:srgbClr val="221E1F"/>
                </a:solidFill>
                <a:latin typeface="Arial"/>
              </a:rPr>
              <a:t>every +10 °C: lead-acid life halves with heat</a:t>
            </a:r>
            <a:r>
              <a:rPr lang="en-US" sz="1300" dirty="0">
                <a:solidFill>
                  <a:srgbClr val="221E1F"/>
                </a:solidFill>
                <a:latin typeface="Arial"/>
              </a:rPr>
              <a:t> </a:t>
            </a:r>
            <a:r>
              <a:rPr sz="1300" b="0" i="0" dirty="0">
                <a:solidFill>
                  <a:srgbClr val="221E1F"/>
                </a:solidFill>
                <a:latin typeface="Arial"/>
              </a:rPr>
              <a:t>the Indian summer is the battery's enemy</a:t>
            </a:r>
          </a:p>
        </p:txBody>
      </p:sp>
      <p:sp>
        <p:nvSpPr>
          <p:cNvPr id="14" name="TextBox 13"/>
          <p:cNvSpPr txBox="1"/>
          <p:nvPr/>
        </p:nvSpPr>
        <p:spPr>
          <a:xfrm>
            <a:off x="8229600" y="4617720"/>
            <a:ext cx="3566160" cy="731520"/>
          </a:xfrm>
          <a:prstGeom prst="rect">
            <a:avLst/>
          </a:prstGeom>
          <a:noFill/>
        </p:spPr>
        <p:txBody>
          <a:bodyPr wrap="square" lIns="36576" tIns="18288" rIns="36576" bIns="18288" anchor="t">
            <a:spAutoFit/>
          </a:bodyPr>
          <a:lstStyle/>
          <a:p>
            <a:pPr algn="l">
              <a:spcAft>
                <a:spcPts val="400"/>
              </a:spcAft>
            </a:pPr>
            <a:r>
              <a:rPr sz="4000" b="1" i="0">
                <a:solidFill>
                  <a:srgbClr val="FDC300"/>
                </a:solidFill>
                <a:latin typeface="Arial"/>
              </a:rPr>
              <a:t>≈ 1.5 %</a:t>
            </a:r>
          </a:p>
        </p:txBody>
      </p:sp>
      <p:sp>
        <p:nvSpPr>
          <p:cNvPr id="15" name="TextBox 14"/>
          <p:cNvSpPr txBox="1"/>
          <p:nvPr/>
        </p:nvSpPr>
        <p:spPr>
          <a:xfrm>
            <a:off x="8229600" y="5330952"/>
            <a:ext cx="3566160" cy="437043"/>
          </a:xfrm>
          <a:prstGeom prst="rect">
            <a:avLst/>
          </a:prstGeom>
          <a:noFill/>
        </p:spPr>
        <p:txBody>
          <a:bodyPr wrap="square" lIns="36576" tIns="18288" rIns="36576" bIns="18288" anchor="t">
            <a:spAutoFit/>
          </a:bodyPr>
          <a:lstStyle/>
          <a:p>
            <a:pPr algn="l">
              <a:spcAft>
                <a:spcPts val="400"/>
              </a:spcAft>
            </a:pPr>
            <a:r>
              <a:rPr sz="1300" b="0" i="0">
                <a:solidFill>
                  <a:srgbClr val="221E1F"/>
                </a:solidFill>
                <a:latin typeface="Arial"/>
              </a:rPr>
              <a:t>of V-Guard revenue goes to warranty (</a:t>
            </a:r>
            <a:r>
              <a:rPr sz="1300" b="0" i="1">
                <a:solidFill>
                  <a:srgbClr val="221E1F"/>
                </a:solidFill>
                <a:latin typeface="Arial"/>
              </a:rPr>
              <a:t>≈ ₹69 cr, FY24</a:t>
            </a:r>
            <a:r>
              <a:rPr sz="1300" b="0" i="0">
                <a:solidFill>
                  <a:srgbClr val="221E1F"/>
                </a:solidFill>
                <a:latin typeface="Aria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000104"/>
                </a:solidFill>
                <a:latin typeface="Arial"/>
              </a:rPr>
              <a:t>Sentinel turns a smart inverter into an intelligent one.</a:t>
            </a:r>
          </a:p>
        </p:txBody>
      </p:sp>
      <p:sp>
        <p:nvSpPr>
          <p:cNvPr id="5" name="TextBox 4"/>
          <p:cNvSpPr txBox="1"/>
          <p:nvPr/>
        </p:nvSpPr>
        <p:spPr>
          <a:xfrm>
            <a:off x="795528" y="914400"/>
            <a:ext cx="10789920" cy="252377"/>
          </a:xfrm>
          <a:prstGeom prst="rect">
            <a:avLst/>
          </a:prstGeom>
          <a:noFill/>
        </p:spPr>
        <p:txBody>
          <a:bodyPr wrap="square" lIns="36576" tIns="18288" rIns="36576" bIns="18288" anchor="t">
            <a:spAutoFit/>
          </a:bodyPr>
          <a:lstStyle/>
          <a:p>
            <a:pPr>
              <a:spcAft>
                <a:spcPts val="400"/>
              </a:spcAft>
            </a:pPr>
            <a:r>
              <a:rPr sz="1400" b="0" i="1">
                <a:solidFill>
                  <a:srgbClr val="6C757D"/>
                </a:solidFill>
                <a:latin typeface="Arial"/>
              </a:rPr>
              <a:t>Smart products take commands. Intelligent products predict, decide and act</a:t>
            </a:r>
            <a:r>
              <a:rPr lang="en-US" sz="1400" i="1">
                <a:solidFill>
                  <a:srgbClr val="6C757D"/>
                </a:solidFill>
                <a:latin typeface="Arial"/>
              </a:rPr>
              <a:t> </a:t>
            </a:r>
            <a:r>
              <a:rPr sz="1400" b="0" i="1">
                <a:solidFill>
                  <a:srgbClr val="6C757D"/>
                </a:solidFill>
                <a:latin typeface="Arial"/>
              </a:rPr>
              <a:t>without the cloud.</a:t>
            </a:r>
          </a:p>
        </p:txBody>
      </p:sp>
      <p:sp>
        <p:nvSpPr>
          <p:cNvPr id="6" name="Rectangle 5"/>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655" y="6492240"/>
            <a:ext cx="914400" cy="347472"/>
          </a:xfrm>
          <a:prstGeom prst="rect">
            <a:avLst/>
          </a:prstGeom>
          <a:noFill/>
        </p:spPr>
        <p:txBody>
          <a:bodyPr wrap="square" lIns="36576" tIns="18288" rIns="36576" bIns="18288" anchor="ctr">
            <a:spAutoFit/>
          </a:bodyPr>
          <a:lstStyle/>
          <a:p>
            <a:pPr algn="r">
              <a:spcAft>
                <a:spcPts val="400"/>
              </a:spcAft>
            </a:pPr>
            <a:r>
              <a:rPr sz="1000" b="0" i="0">
                <a:solidFill>
                  <a:srgbClr val="FFFFFF"/>
                </a:solidFill>
                <a:latin typeface="Arial"/>
              </a:rPr>
              <a:t>3</a:t>
            </a:r>
          </a:p>
        </p:txBody>
      </p:sp>
      <p:sp>
        <p:nvSpPr>
          <p:cNvPr id="9" name="Rounded Rectangle 8"/>
          <p:cNvSpPr/>
          <p:nvPr/>
        </p:nvSpPr>
        <p:spPr>
          <a:xfrm>
            <a:off x="822960" y="2011680"/>
            <a:ext cx="3154680" cy="1920240"/>
          </a:xfrm>
          <a:prstGeom prst="roundRect">
            <a:avLst>
              <a:gd name="adj" fmla="val 8000"/>
            </a:avLst>
          </a:prstGeom>
          <a:solidFill>
            <a:srgbClr val="F3EFEF"/>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2200" b="1">
                <a:solidFill>
                  <a:srgbClr val="221E1F"/>
                </a:solidFill>
                <a:latin typeface="Arial"/>
              </a:rPr>
              <a:t>CONNECTED</a:t>
            </a:r>
          </a:p>
          <a:p>
            <a:pPr algn="ctr"/>
            <a:r>
              <a:rPr sz="2000" b="0">
                <a:solidFill>
                  <a:srgbClr val="221E1F"/>
                </a:solidFill>
                <a:latin typeface="Arial"/>
              </a:rPr>
              <a:t>app on / off</a:t>
            </a:r>
          </a:p>
        </p:txBody>
      </p:sp>
      <p:sp>
        <p:nvSpPr>
          <p:cNvPr id="10" name="Right Arrow 9"/>
          <p:cNvSpPr/>
          <p:nvPr/>
        </p:nvSpPr>
        <p:spPr>
          <a:xfrm>
            <a:off x="4069080" y="2834640"/>
            <a:ext cx="457200" cy="274320"/>
          </a:xfrm>
          <a:prstGeom prst="rightArrow">
            <a:avLst/>
          </a:prstGeom>
          <a:solidFill>
            <a:srgbClr val="221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617720" y="2011680"/>
            <a:ext cx="3154680" cy="1920240"/>
          </a:xfrm>
          <a:prstGeom prst="roundRect">
            <a:avLst>
              <a:gd name="adj" fmla="val 8000"/>
            </a:avLst>
          </a:prstGeom>
          <a:solidFill>
            <a:srgbClr val="FCB817"/>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2200" b="1">
                <a:solidFill>
                  <a:srgbClr val="221E1F"/>
                </a:solidFill>
                <a:latin typeface="Arial"/>
              </a:rPr>
              <a:t>SMART</a:t>
            </a:r>
          </a:p>
          <a:p>
            <a:pPr algn="ctr"/>
            <a:r>
              <a:rPr sz="2000" b="0">
                <a:solidFill>
                  <a:srgbClr val="221E1F"/>
                </a:solidFill>
                <a:latin typeface="Arial"/>
              </a:rPr>
              <a:t>schedules · alerts · usage</a:t>
            </a:r>
          </a:p>
        </p:txBody>
      </p:sp>
      <p:sp>
        <p:nvSpPr>
          <p:cNvPr id="12" name="Right Arrow 11"/>
          <p:cNvSpPr/>
          <p:nvPr/>
        </p:nvSpPr>
        <p:spPr>
          <a:xfrm>
            <a:off x="7863840" y="2834640"/>
            <a:ext cx="457200" cy="274320"/>
          </a:xfrm>
          <a:prstGeom prst="rightArrow">
            <a:avLst/>
          </a:prstGeom>
          <a:solidFill>
            <a:srgbClr val="221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412480" y="2011680"/>
            <a:ext cx="3154680" cy="1920240"/>
          </a:xfrm>
          <a:prstGeom prst="roundRect">
            <a:avLst>
              <a:gd name="adj" fmla="val 8000"/>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45720" rIns="54864" bIns="45720" rtlCol="0" anchor="ctr"/>
          <a:lstStyle/>
          <a:p>
            <a:pPr algn="ctr"/>
            <a:r>
              <a:rPr sz="2200" b="1" dirty="0">
                <a:solidFill>
                  <a:srgbClr val="000104"/>
                </a:solidFill>
                <a:latin typeface="Arial"/>
              </a:rPr>
              <a:t>INTELLIGENT</a:t>
            </a:r>
          </a:p>
          <a:p>
            <a:pPr algn="ctr"/>
            <a:r>
              <a:rPr sz="2000" b="0" dirty="0">
                <a:solidFill>
                  <a:srgbClr val="000104"/>
                </a:solidFill>
                <a:latin typeface="Arial"/>
              </a:rPr>
              <a:t>predicts failure · learns the home</a:t>
            </a:r>
            <a:endParaRPr sz="2000" b="0" dirty="0">
              <a:solidFill>
                <a:srgbClr val="000104"/>
              </a:solidFill>
              <a:latin typeface="Arial"/>
              <a:cs typeface="Arial"/>
            </a:endParaRPr>
          </a:p>
          <a:p>
            <a:pPr algn="ctr"/>
            <a:r>
              <a:rPr sz="2000" b="0" dirty="0">
                <a:solidFill>
                  <a:srgbClr val="000104"/>
                </a:solidFill>
                <a:latin typeface="Arial"/>
              </a:rPr>
              <a:t>acts on its own offline</a:t>
            </a:r>
          </a:p>
        </p:txBody>
      </p:sp>
      <p:sp>
        <p:nvSpPr>
          <p:cNvPr id="14" name="TextBox 13"/>
          <p:cNvSpPr txBox="1"/>
          <p:nvPr/>
        </p:nvSpPr>
        <p:spPr>
          <a:xfrm>
            <a:off x="8412480" y="4069080"/>
            <a:ext cx="3108960" cy="457200"/>
          </a:xfrm>
          <a:prstGeom prst="rect">
            <a:avLst/>
          </a:prstGeom>
          <a:noFill/>
        </p:spPr>
        <p:txBody>
          <a:bodyPr wrap="square" lIns="36576" tIns="18288" rIns="36576" bIns="18288" anchor="t">
            <a:spAutoFit/>
          </a:bodyPr>
          <a:lstStyle/>
          <a:p>
            <a:pPr algn="l">
              <a:spcAft>
                <a:spcPts val="400"/>
              </a:spcAft>
            </a:pPr>
            <a:r>
              <a:rPr sz="1800" b="1" i="0">
                <a:solidFill>
                  <a:srgbClr val="F39200"/>
                </a:solidFill>
                <a:latin typeface="Arial"/>
              </a:rPr>
              <a:t>← Sentinel</a:t>
            </a:r>
          </a:p>
        </p:txBody>
      </p:sp>
      <p:sp>
        <p:nvSpPr>
          <p:cNvPr id="15" name="Oval 14"/>
          <p:cNvSpPr/>
          <p:nvPr/>
        </p:nvSpPr>
        <p:spPr>
          <a:xfrm>
            <a:off x="822960" y="4800600"/>
            <a:ext cx="457200" cy="45720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1</a:t>
            </a:r>
          </a:p>
        </p:txBody>
      </p:sp>
      <p:sp>
        <p:nvSpPr>
          <p:cNvPr id="16" name="TextBox 15"/>
          <p:cNvSpPr txBox="1"/>
          <p:nvPr/>
        </p:nvSpPr>
        <p:spPr>
          <a:xfrm>
            <a:off x="1417320" y="4754880"/>
            <a:ext cx="3017520" cy="1005840"/>
          </a:xfrm>
          <a:prstGeom prst="rect">
            <a:avLst/>
          </a:prstGeom>
          <a:noFill/>
        </p:spPr>
        <p:txBody>
          <a:bodyPr wrap="square" lIns="36576" tIns="18288" rIns="36576" bIns="18288" anchor="t">
            <a:spAutoFit/>
          </a:bodyPr>
          <a:lstStyle/>
          <a:p>
            <a:pPr algn="l">
              <a:spcAft>
                <a:spcPts val="400"/>
              </a:spcAft>
            </a:pPr>
            <a:r>
              <a:rPr sz="1600" b="1" i="0">
                <a:solidFill>
                  <a:srgbClr val="221E1F"/>
                </a:solidFill>
                <a:latin typeface="Arial"/>
              </a:rPr>
              <a:t>Embedded  </a:t>
            </a:r>
            <a:r>
              <a:rPr sz="1500" b="0" i="0">
                <a:solidFill>
                  <a:srgbClr val="221E1F"/>
                </a:solidFill>
                <a:latin typeface="Arial"/>
              </a:rPr>
              <a:t>a daughter-board inside new V-Guard inverters</a:t>
            </a:r>
          </a:p>
        </p:txBody>
      </p:sp>
      <p:sp>
        <p:nvSpPr>
          <p:cNvPr id="17" name="Oval 16"/>
          <p:cNvSpPr/>
          <p:nvPr/>
        </p:nvSpPr>
        <p:spPr>
          <a:xfrm>
            <a:off x="4617720" y="4800600"/>
            <a:ext cx="457200" cy="45720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2</a:t>
            </a:r>
          </a:p>
        </p:txBody>
      </p:sp>
      <p:sp>
        <p:nvSpPr>
          <p:cNvPr id="18" name="TextBox 17"/>
          <p:cNvSpPr txBox="1"/>
          <p:nvPr/>
        </p:nvSpPr>
        <p:spPr>
          <a:xfrm>
            <a:off x="5212080" y="4754880"/>
            <a:ext cx="3017520" cy="1005840"/>
          </a:xfrm>
          <a:prstGeom prst="rect">
            <a:avLst/>
          </a:prstGeom>
          <a:noFill/>
        </p:spPr>
        <p:txBody>
          <a:bodyPr wrap="square" lIns="36576" tIns="18288" rIns="36576" bIns="18288" anchor="t">
            <a:spAutoFit/>
          </a:bodyPr>
          <a:lstStyle/>
          <a:p>
            <a:pPr algn="l">
              <a:spcAft>
                <a:spcPts val="400"/>
              </a:spcAft>
            </a:pPr>
            <a:r>
              <a:rPr sz="1600" b="1" i="0">
                <a:solidFill>
                  <a:srgbClr val="221E1F"/>
                </a:solidFill>
                <a:latin typeface="Arial"/>
              </a:rPr>
              <a:t>Retrofit  </a:t>
            </a:r>
            <a:r>
              <a:rPr sz="1500" b="0" i="0">
                <a:solidFill>
                  <a:srgbClr val="221E1F"/>
                </a:solidFill>
                <a:latin typeface="Arial"/>
              </a:rPr>
              <a:t>a 30-minute electrician fit on the installed base</a:t>
            </a:r>
          </a:p>
        </p:txBody>
      </p:sp>
      <p:sp>
        <p:nvSpPr>
          <p:cNvPr id="19" name="Oval 18"/>
          <p:cNvSpPr/>
          <p:nvPr/>
        </p:nvSpPr>
        <p:spPr>
          <a:xfrm>
            <a:off x="8412480" y="4800600"/>
            <a:ext cx="457200" cy="45720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3</a:t>
            </a:r>
          </a:p>
        </p:txBody>
      </p:sp>
      <p:sp>
        <p:nvSpPr>
          <p:cNvPr id="20" name="TextBox 19"/>
          <p:cNvSpPr txBox="1"/>
          <p:nvPr/>
        </p:nvSpPr>
        <p:spPr>
          <a:xfrm>
            <a:off x="9006840" y="4754880"/>
            <a:ext cx="3017520" cy="1005840"/>
          </a:xfrm>
          <a:prstGeom prst="rect">
            <a:avLst/>
          </a:prstGeom>
          <a:noFill/>
        </p:spPr>
        <p:txBody>
          <a:bodyPr wrap="square" lIns="36576" tIns="18288" rIns="36576" bIns="18288" anchor="t">
            <a:spAutoFit/>
          </a:bodyPr>
          <a:lstStyle/>
          <a:p>
            <a:pPr algn="l">
              <a:spcAft>
                <a:spcPts val="400"/>
              </a:spcAft>
            </a:pPr>
            <a:r>
              <a:rPr sz="1600" b="1" i="0">
                <a:solidFill>
                  <a:srgbClr val="221E1F"/>
                </a:solidFill>
                <a:latin typeface="Arial"/>
              </a:rPr>
              <a:t>Offline-first  </a:t>
            </a:r>
            <a:r>
              <a:rPr sz="1500" b="0" i="0">
                <a:solidFill>
                  <a:srgbClr val="221E1F"/>
                </a:solidFill>
                <a:latin typeface="Arial"/>
              </a:rPr>
              <a:t>every core function works with zero internet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452432"/>
          </a:xfrm>
          <a:prstGeom prst="rect">
            <a:avLst/>
          </a:prstGeom>
          <a:noFill/>
        </p:spPr>
        <p:txBody>
          <a:bodyPr wrap="square" lIns="36576" tIns="18288" rIns="36576" bIns="18288" anchor="t">
            <a:spAutoFit/>
          </a:bodyPr>
          <a:lstStyle/>
          <a:p>
            <a:pPr>
              <a:spcAft>
                <a:spcPts val="400"/>
              </a:spcAft>
            </a:pPr>
            <a:r>
              <a:rPr sz="2700" b="1" i="0" dirty="0">
                <a:solidFill>
                  <a:srgbClr val="000104"/>
                </a:solidFill>
                <a:latin typeface="Arial"/>
              </a:rPr>
              <a:t>Four jobs, one board</a:t>
            </a:r>
            <a:r>
              <a:rPr lang="en-US" sz="2700" b="1" dirty="0">
                <a:solidFill>
                  <a:srgbClr val="000104"/>
                </a:solidFill>
                <a:latin typeface="Arial"/>
              </a:rPr>
              <a:t> &amp; </a:t>
            </a:r>
            <a:r>
              <a:rPr sz="2700" b="1" i="0">
                <a:solidFill>
                  <a:srgbClr val="000104"/>
                </a:solidFill>
                <a:latin typeface="Arial"/>
              </a:rPr>
              <a:t>all on </a:t>
            </a:r>
            <a:r>
              <a:rPr lang="en-US" sz="2700" b="1">
                <a:solidFill>
                  <a:srgbClr val="000104"/>
                </a:solidFill>
                <a:latin typeface="Arial"/>
              </a:rPr>
              <a:t>ESP32</a:t>
            </a:r>
            <a:endParaRPr lang="en-US" sz="2700" b="1" i="0" dirty="0">
              <a:solidFill>
                <a:srgbClr val="000104"/>
              </a:solidFill>
              <a:latin typeface="Arial"/>
              <a:cs typeface="Arial"/>
            </a:endParaRPr>
          </a:p>
        </p:txBody>
      </p:sp>
      <p:sp>
        <p:nvSpPr>
          <p:cNvPr id="5" name="Rectangle 4"/>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7" name="TextBox 6"/>
          <p:cNvSpPr txBox="1"/>
          <p:nvPr/>
        </p:nvSpPr>
        <p:spPr>
          <a:xfrm>
            <a:off x="10728655" y="6570565"/>
            <a:ext cx="914400" cy="190821"/>
          </a:xfrm>
          <a:prstGeom prst="rect">
            <a:avLst/>
          </a:prstGeom>
          <a:noFill/>
        </p:spPr>
        <p:txBody>
          <a:bodyPr wrap="square" lIns="36576" tIns="18288" rIns="36576" bIns="18288" anchor="ctr">
            <a:spAutoFit/>
          </a:bodyPr>
          <a:lstStyle/>
          <a:p>
            <a:pPr algn="r">
              <a:spcAft>
                <a:spcPts val="400"/>
              </a:spcAft>
            </a:pPr>
            <a:r>
              <a:rPr lang="en-US" sz="1000" dirty="0">
                <a:solidFill>
                  <a:srgbClr val="FFFFFF"/>
                </a:solidFill>
                <a:latin typeface="Arial"/>
              </a:rPr>
              <a:t>4</a:t>
            </a:r>
            <a:endParaRPr sz="1000" b="0" i="0" dirty="0">
              <a:solidFill>
                <a:srgbClr val="FFFFFF"/>
              </a:solidFill>
              <a:latin typeface="Arial"/>
            </a:endParaRPr>
          </a:p>
        </p:txBody>
      </p:sp>
      <p:sp>
        <p:nvSpPr>
          <p:cNvPr id="8" name="Rounded Rectangle 7"/>
          <p:cNvSpPr/>
          <p:nvPr/>
        </p:nvSpPr>
        <p:spPr>
          <a:xfrm>
            <a:off x="548640" y="1417320"/>
            <a:ext cx="2606040" cy="3840480"/>
          </a:xfrm>
          <a:prstGeom prst="roundRect">
            <a:avLst>
              <a:gd name="adj" fmla="val 8000"/>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600200"/>
            <a:ext cx="2194560" cy="1097280"/>
          </a:xfrm>
          <a:prstGeom prst="rect">
            <a:avLst/>
          </a:prstGeom>
          <a:noFill/>
        </p:spPr>
        <p:txBody>
          <a:bodyPr wrap="square" lIns="36576" tIns="18288" rIns="36576" bIns="18288" anchor="t">
            <a:spAutoFit/>
          </a:bodyPr>
          <a:lstStyle/>
          <a:p>
            <a:pPr algn="l">
              <a:spcAft>
                <a:spcPts val="400"/>
              </a:spcAft>
            </a:pPr>
            <a:r>
              <a:rPr sz="6000" b="1" i="0">
                <a:solidFill>
                  <a:srgbClr val="000104"/>
                </a:solidFill>
                <a:latin typeface="Arial"/>
              </a:rPr>
              <a:t>1</a:t>
            </a:r>
          </a:p>
        </p:txBody>
      </p:sp>
      <p:sp>
        <p:nvSpPr>
          <p:cNvPr id="10" name="TextBox 9"/>
          <p:cNvSpPr txBox="1"/>
          <p:nvPr/>
        </p:nvSpPr>
        <p:spPr>
          <a:xfrm>
            <a:off x="777240" y="2788920"/>
            <a:ext cx="2194560" cy="822960"/>
          </a:xfrm>
          <a:prstGeom prst="rect">
            <a:avLst/>
          </a:prstGeom>
          <a:noFill/>
        </p:spPr>
        <p:txBody>
          <a:bodyPr wrap="square" lIns="36576" tIns="18288" rIns="36576" bIns="18288" anchor="t">
            <a:spAutoFit/>
          </a:bodyPr>
          <a:lstStyle/>
          <a:p>
            <a:pPr algn="l">
              <a:spcAft>
                <a:spcPts val="400"/>
              </a:spcAft>
            </a:pPr>
            <a:r>
              <a:rPr sz="2000" b="1" i="0">
                <a:solidFill>
                  <a:srgbClr val="000104"/>
                </a:solidFill>
                <a:latin typeface="Arial"/>
              </a:rPr>
              <a:t>Battery health</a:t>
            </a:r>
          </a:p>
        </p:txBody>
      </p:sp>
      <p:sp>
        <p:nvSpPr>
          <p:cNvPr id="11" name="TextBox 10"/>
          <p:cNvSpPr txBox="1"/>
          <p:nvPr/>
        </p:nvSpPr>
        <p:spPr>
          <a:xfrm>
            <a:off x="777240" y="3749039"/>
            <a:ext cx="2194560" cy="729430"/>
          </a:xfrm>
          <a:prstGeom prst="rect">
            <a:avLst/>
          </a:prstGeom>
          <a:noFill/>
        </p:spPr>
        <p:txBody>
          <a:bodyPr wrap="square" lIns="36576" tIns="18288" rIns="36576" bIns="18288" anchor="t">
            <a:spAutoFit/>
          </a:bodyPr>
          <a:lstStyle/>
          <a:p>
            <a:pPr>
              <a:spcAft>
                <a:spcPts val="400"/>
              </a:spcAft>
            </a:pPr>
            <a:r>
              <a:rPr sz="1500" b="0" i="0" dirty="0">
                <a:solidFill>
                  <a:srgbClr val="221E1F"/>
                </a:solidFill>
                <a:latin typeface="Arial"/>
              </a:rPr>
              <a:t>Predicts a replacement </a:t>
            </a:r>
            <a:r>
              <a:rPr lang="en-US" sz="1500">
                <a:solidFill>
                  <a:srgbClr val="221E1F"/>
                </a:solidFill>
                <a:latin typeface="Arial"/>
              </a:rPr>
              <a:t>window: 'replace</a:t>
            </a:r>
            <a:r>
              <a:rPr sz="1500" b="0" i="0" dirty="0">
                <a:solidFill>
                  <a:srgbClr val="221E1F"/>
                </a:solidFill>
                <a:latin typeface="Arial"/>
              </a:rPr>
              <a:t> in 6–14 weeks'</a:t>
            </a:r>
          </a:p>
        </p:txBody>
      </p:sp>
      <p:sp>
        <p:nvSpPr>
          <p:cNvPr id="12" name="Rounded Rectangle 11"/>
          <p:cNvSpPr/>
          <p:nvPr/>
        </p:nvSpPr>
        <p:spPr>
          <a:xfrm>
            <a:off x="3383280" y="1417320"/>
            <a:ext cx="2606040" cy="3840480"/>
          </a:xfrm>
          <a:prstGeom prst="roundRect">
            <a:avLst>
              <a:gd name="adj" fmla="val 8000"/>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11880" y="1600200"/>
            <a:ext cx="2194560" cy="1097280"/>
          </a:xfrm>
          <a:prstGeom prst="rect">
            <a:avLst/>
          </a:prstGeom>
          <a:noFill/>
        </p:spPr>
        <p:txBody>
          <a:bodyPr wrap="square" lIns="36576" tIns="18288" rIns="36576" bIns="18288" anchor="t">
            <a:spAutoFit/>
          </a:bodyPr>
          <a:lstStyle/>
          <a:p>
            <a:pPr algn="l">
              <a:spcAft>
                <a:spcPts val="400"/>
              </a:spcAft>
            </a:pPr>
            <a:r>
              <a:rPr sz="6000" b="1" i="0">
                <a:solidFill>
                  <a:srgbClr val="000104"/>
                </a:solidFill>
                <a:latin typeface="Arial"/>
              </a:rPr>
              <a:t>2</a:t>
            </a:r>
          </a:p>
        </p:txBody>
      </p:sp>
      <p:sp>
        <p:nvSpPr>
          <p:cNvPr id="14" name="TextBox 13"/>
          <p:cNvSpPr txBox="1"/>
          <p:nvPr/>
        </p:nvSpPr>
        <p:spPr>
          <a:xfrm>
            <a:off x="3611880" y="2788920"/>
            <a:ext cx="2194560" cy="822960"/>
          </a:xfrm>
          <a:prstGeom prst="rect">
            <a:avLst/>
          </a:prstGeom>
          <a:noFill/>
        </p:spPr>
        <p:txBody>
          <a:bodyPr wrap="square" lIns="36576" tIns="18288" rIns="36576" bIns="18288" anchor="t">
            <a:spAutoFit/>
          </a:bodyPr>
          <a:lstStyle/>
          <a:p>
            <a:pPr algn="l">
              <a:spcAft>
                <a:spcPts val="400"/>
              </a:spcAft>
            </a:pPr>
            <a:r>
              <a:rPr sz="2000" b="1" i="0">
                <a:solidFill>
                  <a:srgbClr val="000104"/>
                </a:solidFill>
                <a:latin typeface="Arial"/>
              </a:rPr>
              <a:t>Habit autopilot</a:t>
            </a:r>
          </a:p>
        </p:txBody>
      </p:sp>
      <p:sp>
        <p:nvSpPr>
          <p:cNvPr id="15" name="TextBox 14"/>
          <p:cNvSpPr txBox="1"/>
          <p:nvPr/>
        </p:nvSpPr>
        <p:spPr>
          <a:xfrm>
            <a:off x="3611880" y="3749039"/>
            <a:ext cx="2194560" cy="1371600"/>
          </a:xfrm>
          <a:prstGeom prst="rect">
            <a:avLst/>
          </a:prstGeom>
          <a:noFill/>
        </p:spPr>
        <p:txBody>
          <a:bodyPr wrap="square" lIns="36576" tIns="18288" rIns="36576" bIns="18288" anchor="t">
            <a:spAutoFit/>
          </a:bodyPr>
          <a:lstStyle/>
          <a:p>
            <a:pPr algn="l">
              <a:spcAft>
                <a:spcPts val="400"/>
              </a:spcAft>
            </a:pPr>
            <a:r>
              <a:rPr sz="1500" b="0" i="0">
                <a:solidFill>
                  <a:srgbClr val="221E1F"/>
                </a:solidFill>
                <a:latin typeface="Arial"/>
              </a:rPr>
              <a:t>Keeps the fridge, lights and router alive during a cut</a:t>
            </a:r>
          </a:p>
        </p:txBody>
      </p:sp>
      <p:sp>
        <p:nvSpPr>
          <p:cNvPr id="16" name="Rounded Rectangle 15"/>
          <p:cNvSpPr/>
          <p:nvPr/>
        </p:nvSpPr>
        <p:spPr>
          <a:xfrm>
            <a:off x="6217920" y="1417320"/>
            <a:ext cx="2606040" cy="3840480"/>
          </a:xfrm>
          <a:prstGeom prst="roundRect">
            <a:avLst>
              <a:gd name="adj" fmla="val 8000"/>
            </a:avLst>
          </a:prstGeom>
          <a:solidFill>
            <a:srgbClr val="FCB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1600200"/>
            <a:ext cx="2194560" cy="1097280"/>
          </a:xfrm>
          <a:prstGeom prst="rect">
            <a:avLst/>
          </a:prstGeom>
          <a:noFill/>
        </p:spPr>
        <p:txBody>
          <a:bodyPr wrap="square" lIns="36576" tIns="18288" rIns="36576" bIns="18288" anchor="t">
            <a:spAutoFit/>
          </a:bodyPr>
          <a:lstStyle/>
          <a:p>
            <a:pPr algn="l">
              <a:spcAft>
                <a:spcPts val="400"/>
              </a:spcAft>
            </a:pPr>
            <a:r>
              <a:rPr sz="6000" b="1" i="0">
                <a:solidFill>
                  <a:srgbClr val="000104"/>
                </a:solidFill>
                <a:latin typeface="Arial"/>
              </a:rPr>
              <a:t>3</a:t>
            </a:r>
          </a:p>
        </p:txBody>
      </p:sp>
      <p:sp>
        <p:nvSpPr>
          <p:cNvPr id="18" name="TextBox 17"/>
          <p:cNvSpPr txBox="1"/>
          <p:nvPr/>
        </p:nvSpPr>
        <p:spPr>
          <a:xfrm>
            <a:off x="6446520" y="2788920"/>
            <a:ext cx="2194560" cy="822960"/>
          </a:xfrm>
          <a:prstGeom prst="rect">
            <a:avLst/>
          </a:prstGeom>
          <a:noFill/>
        </p:spPr>
        <p:txBody>
          <a:bodyPr wrap="square" lIns="36576" tIns="18288" rIns="36576" bIns="18288" anchor="t">
            <a:spAutoFit/>
          </a:bodyPr>
          <a:lstStyle/>
          <a:p>
            <a:pPr algn="l">
              <a:spcAft>
                <a:spcPts val="400"/>
              </a:spcAft>
            </a:pPr>
            <a:r>
              <a:rPr sz="2000" b="1" i="0">
                <a:solidFill>
                  <a:srgbClr val="000104"/>
                </a:solidFill>
                <a:latin typeface="Arial"/>
              </a:rPr>
              <a:t>Energy coach + grid shield</a:t>
            </a:r>
          </a:p>
        </p:txBody>
      </p:sp>
      <p:sp>
        <p:nvSpPr>
          <p:cNvPr id="19" name="TextBox 18"/>
          <p:cNvSpPr txBox="1"/>
          <p:nvPr/>
        </p:nvSpPr>
        <p:spPr>
          <a:xfrm>
            <a:off x="6446520" y="3749039"/>
            <a:ext cx="2194560" cy="1371600"/>
          </a:xfrm>
          <a:prstGeom prst="rect">
            <a:avLst/>
          </a:prstGeom>
          <a:noFill/>
        </p:spPr>
        <p:txBody>
          <a:bodyPr wrap="square" lIns="36576" tIns="18288" rIns="36576" bIns="18288" anchor="t">
            <a:spAutoFit/>
          </a:bodyPr>
          <a:lstStyle/>
          <a:p>
            <a:pPr algn="l">
              <a:spcAft>
                <a:spcPts val="400"/>
              </a:spcAft>
            </a:pPr>
            <a:r>
              <a:rPr sz="1500" b="0" i="0">
                <a:solidFill>
                  <a:srgbClr val="221E1F"/>
                </a:solidFill>
                <a:latin typeface="Arial"/>
              </a:rPr>
              <a:t>Names the big appliances; logs every sag and swell</a:t>
            </a:r>
          </a:p>
        </p:txBody>
      </p:sp>
      <p:sp>
        <p:nvSpPr>
          <p:cNvPr id="20" name="Rounded Rectangle 19"/>
          <p:cNvSpPr/>
          <p:nvPr/>
        </p:nvSpPr>
        <p:spPr>
          <a:xfrm>
            <a:off x="9052560" y="1417320"/>
            <a:ext cx="2606040" cy="3840480"/>
          </a:xfrm>
          <a:prstGeom prst="roundRect">
            <a:avLst>
              <a:gd name="adj" fmla="val 8000"/>
            </a:avLst>
          </a:prstGeom>
          <a:solidFill>
            <a:srgbClr val="F3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81160" y="1600200"/>
            <a:ext cx="2194560" cy="1097280"/>
          </a:xfrm>
          <a:prstGeom prst="rect">
            <a:avLst/>
          </a:prstGeom>
          <a:noFill/>
        </p:spPr>
        <p:txBody>
          <a:bodyPr wrap="square" lIns="36576" tIns="18288" rIns="36576" bIns="18288" anchor="t">
            <a:spAutoFit/>
          </a:bodyPr>
          <a:lstStyle/>
          <a:p>
            <a:pPr algn="l">
              <a:spcAft>
                <a:spcPts val="400"/>
              </a:spcAft>
            </a:pPr>
            <a:r>
              <a:rPr sz="6000" b="1" i="0">
                <a:solidFill>
                  <a:srgbClr val="000104"/>
                </a:solidFill>
                <a:latin typeface="Arial"/>
              </a:rPr>
              <a:t>4</a:t>
            </a:r>
          </a:p>
        </p:txBody>
      </p:sp>
      <p:sp>
        <p:nvSpPr>
          <p:cNvPr id="22" name="TextBox 21"/>
          <p:cNvSpPr txBox="1"/>
          <p:nvPr/>
        </p:nvSpPr>
        <p:spPr>
          <a:xfrm>
            <a:off x="9281160" y="2788920"/>
            <a:ext cx="2194560" cy="822960"/>
          </a:xfrm>
          <a:prstGeom prst="rect">
            <a:avLst/>
          </a:prstGeom>
          <a:noFill/>
        </p:spPr>
        <p:txBody>
          <a:bodyPr wrap="square" lIns="36576" tIns="18288" rIns="36576" bIns="18288" anchor="t">
            <a:spAutoFit/>
          </a:bodyPr>
          <a:lstStyle/>
          <a:p>
            <a:pPr algn="l">
              <a:spcAft>
                <a:spcPts val="400"/>
              </a:spcAft>
            </a:pPr>
            <a:r>
              <a:rPr sz="2000" b="1" i="0">
                <a:solidFill>
                  <a:srgbClr val="000104"/>
                </a:solidFill>
                <a:latin typeface="Arial"/>
              </a:rPr>
              <a:t>Signed health log</a:t>
            </a:r>
          </a:p>
        </p:txBody>
      </p:sp>
      <p:sp>
        <p:nvSpPr>
          <p:cNvPr id="23" name="TextBox 22"/>
          <p:cNvSpPr txBox="1"/>
          <p:nvPr/>
        </p:nvSpPr>
        <p:spPr>
          <a:xfrm>
            <a:off x="9281160" y="3749039"/>
            <a:ext cx="2194560" cy="729430"/>
          </a:xfrm>
          <a:prstGeom prst="rect">
            <a:avLst/>
          </a:prstGeom>
          <a:noFill/>
        </p:spPr>
        <p:txBody>
          <a:bodyPr wrap="square" lIns="36576" tIns="18288" rIns="36576" bIns="18288" anchor="t">
            <a:spAutoFit/>
          </a:bodyPr>
          <a:lstStyle/>
          <a:p>
            <a:pPr>
              <a:spcAft>
                <a:spcPts val="400"/>
              </a:spcAft>
            </a:pPr>
            <a:r>
              <a:rPr sz="1500" b="0" i="0">
                <a:solidFill>
                  <a:srgbClr val="221E1F"/>
                </a:solidFill>
                <a:latin typeface="Arial"/>
              </a:rPr>
              <a:t>Tamper-proof </a:t>
            </a:r>
            <a:r>
              <a:rPr lang="en-US" sz="1500">
                <a:solidFill>
                  <a:srgbClr val="221E1F"/>
                </a:solidFill>
                <a:latin typeface="Arial"/>
              </a:rPr>
              <a:t>record: warranty</a:t>
            </a:r>
            <a:r>
              <a:rPr sz="1500" b="0" i="0">
                <a:solidFill>
                  <a:srgbClr val="221E1F"/>
                </a:solidFill>
                <a:latin typeface="Arial"/>
              </a:rPr>
              <a:t> decided by </a:t>
            </a:r>
            <a:r>
              <a:rPr sz="1500" b="0" i="0" dirty="0">
                <a:solidFill>
                  <a:srgbClr val="221E1F"/>
                </a:solidFill>
                <a:latin typeface="Arial"/>
              </a:rPr>
              <a:t>evidence</a:t>
            </a:r>
          </a:p>
        </p:txBody>
      </p:sp>
      <p:sp>
        <p:nvSpPr>
          <p:cNvPr id="24" name="TextBox 23"/>
          <p:cNvSpPr txBox="1"/>
          <p:nvPr/>
        </p:nvSpPr>
        <p:spPr>
          <a:xfrm>
            <a:off x="548640" y="5532120"/>
            <a:ext cx="10972800" cy="548640"/>
          </a:xfrm>
          <a:prstGeom prst="rect">
            <a:avLst/>
          </a:prstGeom>
          <a:noFill/>
        </p:spPr>
        <p:txBody>
          <a:bodyPr wrap="square" lIns="36576" tIns="18288" rIns="36576" bIns="18288" anchor="t">
            <a:spAutoFit/>
          </a:bodyPr>
          <a:lstStyle/>
          <a:p>
            <a:pPr algn="l">
              <a:spcAft>
                <a:spcPts val="400"/>
              </a:spcAft>
            </a:pPr>
            <a:r>
              <a:rPr sz="1400" b="0" i="1">
                <a:solidFill>
                  <a:srgbClr val="6C757D"/>
                </a:solidFill>
                <a:latin typeface="Arial"/>
              </a:rPr>
              <a:t>Same core, same sensors, different models → the platform extends to pumps, stabilisers and water heaters.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FFFFFF"/>
                </a:solidFill>
                <a:latin typeface="Arial"/>
              </a:rPr>
              <a:t>Inside the inverter, Sentinel taps what's already there.</a:t>
            </a:r>
          </a:p>
        </p:txBody>
      </p:sp>
      <p:sp>
        <p:nvSpPr>
          <p:cNvPr id="6" name="TextBox 5"/>
          <p:cNvSpPr txBox="1"/>
          <p:nvPr/>
        </p:nvSpPr>
        <p:spPr>
          <a:xfrm>
            <a:off x="795528" y="914400"/>
            <a:ext cx="10789920" cy="411480"/>
          </a:xfrm>
          <a:prstGeom prst="rect">
            <a:avLst/>
          </a:prstGeom>
          <a:noFill/>
        </p:spPr>
        <p:txBody>
          <a:bodyPr wrap="square" lIns="36576" tIns="18288" rIns="36576" bIns="18288" anchor="t">
            <a:spAutoFit/>
          </a:bodyPr>
          <a:lstStyle/>
          <a:p>
            <a:pPr algn="l">
              <a:spcAft>
                <a:spcPts val="400"/>
              </a:spcAft>
            </a:pPr>
            <a:r>
              <a:rPr sz="1400" b="0" i="1">
                <a:solidFill>
                  <a:srgbClr val="A9B0BC"/>
                </a:solidFill>
                <a:latin typeface="Arial"/>
              </a:rPr>
              <a:t>Our 3D proof of concept of the Embedded SKU: lid off, every part clickable, live power flow.</a:t>
            </a:r>
          </a:p>
        </p:txBody>
      </p:sp>
      <p:sp>
        <p:nvSpPr>
          <p:cNvPr id="7" name="Rectangle 6"/>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9" name="TextBox 8"/>
          <p:cNvSpPr txBox="1"/>
          <p:nvPr/>
        </p:nvSpPr>
        <p:spPr>
          <a:xfrm>
            <a:off x="10728655" y="6570565"/>
            <a:ext cx="914400" cy="190821"/>
          </a:xfrm>
          <a:prstGeom prst="rect">
            <a:avLst/>
          </a:prstGeom>
          <a:noFill/>
        </p:spPr>
        <p:txBody>
          <a:bodyPr wrap="square" lIns="36576" tIns="18288" rIns="36576" bIns="18288" anchor="ctr">
            <a:spAutoFit/>
          </a:bodyPr>
          <a:lstStyle/>
          <a:p>
            <a:pPr algn="r">
              <a:spcAft>
                <a:spcPts val="400"/>
              </a:spcAft>
            </a:pPr>
            <a:r>
              <a:rPr lang="en-US" sz="1000" dirty="0">
                <a:solidFill>
                  <a:srgbClr val="FFFFFF"/>
                </a:solidFill>
                <a:latin typeface="Arial"/>
              </a:rPr>
              <a:t>5</a:t>
            </a:r>
            <a:endParaRPr sz="1000" b="0" i="0" dirty="0">
              <a:solidFill>
                <a:srgbClr val="FFFFFF"/>
              </a:solidFill>
              <a:latin typeface="Arial"/>
            </a:endParaRPr>
          </a:p>
        </p:txBody>
      </p:sp>
      <p:pic>
        <p:nvPicPr>
          <p:cNvPr id="10" name="Picture 9" descr="b_inside_c.png"/>
          <p:cNvPicPr>
            <a:picLocks noChangeAspect="1"/>
          </p:cNvPicPr>
          <p:nvPr/>
        </p:nvPicPr>
        <p:blipFill>
          <a:blip r:embed="rId3"/>
          <a:stretch>
            <a:fillRect/>
          </a:stretch>
        </p:blipFill>
        <p:spPr>
          <a:xfrm>
            <a:off x="548640" y="1513515"/>
            <a:ext cx="7040880" cy="4562490"/>
          </a:xfrm>
          <a:prstGeom prst="rect">
            <a:avLst/>
          </a:prstGeom>
          <a:ln w="19050">
            <a:solidFill>
              <a:srgbClr val="FDC300"/>
            </a:solidFill>
          </a:ln>
        </p:spPr>
      </p:pic>
      <p:sp>
        <p:nvSpPr>
          <p:cNvPr id="11" name="Oval 10"/>
          <p:cNvSpPr/>
          <p:nvPr/>
        </p:nvSpPr>
        <p:spPr>
          <a:xfrm>
            <a:off x="7863840" y="1508760"/>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1</a:t>
            </a:r>
          </a:p>
        </p:txBody>
      </p:sp>
      <p:sp>
        <p:nvSpPr>
          <p:cNvPr id="12" name="TextBox 11"/>
          <p:cNvSpPr txBox="1"/>
          <p:nvPr/>
        </p:nvSpPr>
        <p:spPr>
          <a:xfrm>
            <a:off x="8412480" y="1463040"/>
            <a:ext cx="3383280" cy="868680"/>
          </a:xfrm>
          <a:prstGeom prst="rect">
            <a:avLst/>
          </a:prstGeom>
          <a:noFill/>
        </p:spPr>
        <p:txBody>
          <a:bodyPr wrap="square" lIns="36576" tIns="18288" rIns="36576" bIns="18288" anchor="t">
            <a:spAutoFit/>
          </a:bodyPr>
          <a:lstStyle/>
          <a:p>
            <a:pPr algn="l">
              <a:spcAft>
                <a:spcPts val="100"/>
              </a:spcAft>
            </a:pPr>
            <a:r>
              <a:rPr sz="1500" b="1" i="0">
                <a:solidFill>
                  <a:srgbClr val="FFFFFF"/>
                </a:solidFill>
                <a:latin typeface="Arial"/>
              </a:rPr>
              <a:t>Inverter's own shunt (I8)</a:t>
            </a:r>
          </a:p>
          <a:p>
            <a:pPr algn="l">
              <a:spcAft>
                <a:spcPts val="100"/>
              </a:spcAft>
            </a:pPr>
            <a:r>
              <a:rPr sz="1300" b="0" i="0">
                <a:solidFill>
                  <a:srgbClr val="C9CED6"/>
                </a:solidFill>
                <a:latin typeface="Arial"/>
              </a:rPr>
              <a:t>→ INA228 · battery current</a:t>
            </a:r>
          </a:p>
        </p:txBody>
      </p:sp>
      <p:sp>
        <p:nvSpPr>
          <p:cNvPr id="13" name="Oval 12"/>
          <p:cNvSpPr/>
          <p:nvPr/>
        </p:nvSpPr>
        <p:spPr>
          <a:xfrm>
            <a:off x="7863840" y="2441448"/>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2</a:t>
            </a:r>
          </a:p>
        </p:txBody>
      </p:sp>
      <p:sp>
        <p:nvSpPr>
          <p:cNvPr id="14" name="TextBox 13"/>
          <p:cNvSpPr txBox="1"/>
          <p:nvPr/>
        </p:nvSpPr>
        <p:spPr>
          <a:xfrm>
            <a:off x="8412480" y="2395728"/>
            <a:ext cx="3383280" cy="480644"/>
          </a:xfrm>
          <a:prstGeom prst="rect">
            <a:avLst/>
          </a:prstGeom>
          <a:noFill/>
        </p:spPr>
        <p:txBody>
          <a:bodyPr wrap="square" lIns="36576" tIns="18288" rIns="36576" bIns="18288" anchor="t">
            <a:spAutoFit/>
          </a:bodyPr>
          <a:lstStyle/>
          <a:p>
            <a:pPr algn="l">
              <a:spcAft>
                <a:spcPts val="100"/>
              </a:spcAft>
            </a:pPr>
            <a:r>
              <a:rPr sz="1500" b="1" i="0" dirty="0">
                <a:solidFill>
                  <a:srgbClr val="FFFFFF"/>
                </a:solidFill>
                <a:latin typeface="Arial"/>
              </a:rPr>
              <a:t>Mode / mains line</a:t>
            </a:r>
          </a:p>
          <a:p>
            <a:pPr>
              <a:spcAft>
                <a:spcPts val="100"/>
              </a:spcAft>
            </a:pPr>
            <a:r>
              <a:rPr sz="1300" b="0" i="0" dirty="0">
                <a:solidFill>
                  <a:srgbClr val="C9CED6"/>
                </a:solidFill>
                <a:latin typeface="Arial"/>
              </a:rPr>
              <a:t>→ PC817 </a:t>
            </a:r>
            <a:r>
              <a:rPr sz="1300" b="0" i="0">
                <a:solidFill>
                  <a:srgbClr val="C9CED6"/>
                </a:solidFill>
                <a:latin typeface="Arial"/>
              </a:rPr>
              <a:t>opto </a:t>
            </a:r>
            <a:endParaRPr lang="en-US" sz="1300" b="0" i="0">
              <a:solidFill>
                <a:srgbClr val="C9CED6"/>
              </a:solidFill>
              <a:latin typeface="Arial"/>
              <a:cs typeface="Arial"/>
            </a:endParaRPr>
          </a:p>
        </p:txBody>
      </p:sp>
      <p:sp>
        <p:nvSpPr>
          <p:cNvPr id="15" name="Oval 14"/>
          <p:cNvSpPr/>
          <p:nvPr/>
        </p:nvSpPr>
        <p:spPr>
          <a:xfrm>
            <a:off x="7863840" y="3374136"/>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3</a:t>
            </a:r>
          </a:p>
        </p:txBody>
      </p:sp>
      <p:sp>
        <p:nvSpPr>
          <p:cNvPr id="16" name="TextBox 15"/>
          <p:cNvSpPr txBox="1"/>
          <p:nvPr/>
        </p:nvSpPr>
        <p:spPr>
          <a:xfrm>
            <a:off x="8412480" y="3328416"/>
            <a:ext cx="3383280" cy="868680"/>
          </a:xfrm>
          <a:prstGeom prst="rect">
            <a:avLst/>
          </a:prstGeom>
          <a:noFill/>
        </p:spPr>
        <p:txBody>
          <a:bodyPr wrap="square" lIns="36576" tIns="18288" rIns="36576" bIns="18288" anchor="t">
            <a:spAutoFit/>
          </a:bodyPr>
          <a:lstStyle/>
          <a:p>
            <a:pPr algn="l">
              <a:spcAft>
                <a:spcPts val="100"/>
              </a:spcAft>
            </a:pPr>
            <a:r>
              <a:rPr sz="1500" b="1" i="0">
                <a:solidFill>
                  <a:srgbClr val="FFFFFF"/>
                </a:solidFill>
                <a:latin typeface="Arial"/>
              </a:rPr>
              <a:t>SG3525 charge feedback</a:t>
            </a:r>
          </a:p>
          <a:p>
            <a:pPr algn="l">
              <a:spcAft>
                <a:spcPts val="100"/>
              </a:spcAft>
            </a:pPr>
            <a:r>
              <a:rPr sz="1300" b="0" i="0">
                <a:solidFill>
                  <a:srgbClr val="C9CED6"/>
                </a:solidFill>
                <a:latin typeface="Arial"/>
              </a:rPr>
              <a:t>→ MCP4725 DAC · temperature-compensated charging</a:t>
            </a:r>
          </a:p>
        </p:txBody>
      </p:sp>
      <p:sp>
        <p:nvSpPr>
          <p:cNvPr id="17" name="Oval 16"/>
          <p:cNvSpPr/>
          <p:nvPr/>
        </p:nvSpPr>
        <p:spPr>
          <a:xfrm>
            <a:off x="7863840" y="4306824"/>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4</a:t>
            </a:r>
          </a:p>
        </p:txBody>
      </p:sp>
      <p:sp>
        <p:nvSpPr>
          <p:cNvPr id="18" name="TextBox 17"/>
          <p:cNvSpPr txBox="1"/>
          <p:nvPr/>
        </p:nvSpPr>
        <p:spPr>
          <a:xfrm>
            <a:off x="8412480" y="4261104"/>
            <a:ext cx="3383280" cy="868680"/>
          </a:xfrm>
          <a:prstGeom prst="rect">
            <a:avLst/>
          </a:prstGeom>
          <a:noFill/>
        </p:spPr>
        <p:txBody>
          <a:bodyPr wrap="square" lIns="36576" tIns="18288" rIns="36576" bIns="18288" anchor="t">
            <a:spAutoFit/>
          </a:bodyPr>
          <a:lstStyle/>
          <a:p>
            <a:pPr algn="l">
              <a:spcAft>
                <a:spcPts val="100"/>
              </a:spcAft>
            </a:pPr>
            <a:r>
              <a:rPr sz="1500" b="1" i="0">
                <a:solidFill>
                  <a:srgbClr val="FFFFFF"/>
                </a:solidFill>
                <a:latin typeface="Arial"/>
              </a:rPr>
              <a:t>AC-OUT rail</a:t>
            </a:r>
          </a:p>
          <a:p>
            <a:pPr algn="l">
              <a:spcAft>
                <a:spcPts val="100"/>
              </a:spcAft>
            </a:pPr>
            <a:r>
              <a:rPr sz="1300" b="0" i="0">
                <a:solidFill>
                  <a:srgbClr val="C9CED6"/>
                </a:solidFill>
                <a:latin typeface="Arial"/>
              </a:rPr>
              <a:t>→ AMC1311 + ATM90E32AS · V, P, Q</a:t>
            </a:r>
          </a:p>
        </p:txBody>
      </p:sp>
      <p:sp>
        <p:nvSpPr>
          <p:cNvPr id="19" name="Oval 18"/>
          <p:cNvSpPr/>
          <p:nvPr/>
        </p:nvSpPr>
        <p:spPr>
          <a:xfrm>
            <a:off x="7863840" y="5239512"/>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5</a:t>
            </a:r>
          </a:p>
        </p:txBody>
      </p:sp>
      <p:sp>
        <p:nvSpPr>
          <p:cNvPr id="20" name="TextBox 19"/>
          <p:cNvSpPr txBox="1"/>
          <p:nvPr/>
        </p:nvSpPr>
        <p:spPr>
          <a:xfrm>
            <a:off x="8412480" y="5193792"/>
            <a:ext cx="3383280" cy="868680"/>
          </a:xfrm>
          <a:prstGeom prst="rect">
            <a:avLst/>
          </a:prstGeom>
          <a:noFill/>
        </p:spPr>
        <p:txBody>
          <a:bodyPr wrap="square" lIns="36576" tIns="18288" rIns="36576" bIns="18288" anchor="t">
            <a:spAutoFit/>
          </a:bodyPr>
          <a:lstStyle/>
          <a:p>
            <a:pPr algn="l">
              <a:spcAft>
                <a:spcPts val="100"/>
              </a:spcAft>
            </a:pPr>
            <a:r>
              <a:rPr sz="1500" b="1" i="0">
                <a:solidFill>
                  <a:srgbClr val="FFFFFF"/>
                </a:solidFill>
                <a:latin typeface="Arial"/>
              </a:rPr>
              <a:t>4 coil outputs</a:t>
            </a:r>
          </a:p>
          <a:p>
            <a:pPr algn="l">
              <a:spcAft>
                <a:spcPts val="100"/>
              </a:spcAft>
            </a:pPr>
            <a:r>
              <a:rPr sz="1300" b="0" i="0">
                <a:solidFill>
                  <a:srgbClr val="C9CED6"/>
                </a:solidFill>
                <a:latin typeface="Arial"/>
              </a:rPr>
              <a:t>→ NC contactor panel · T1 / T2 / T3 / medical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000104"/>
                </a:solidFill>
                <a:latin typeface="Arial"/>
              </a:rPr>
              <a:t>One small box reads the battery and switches the loads.</a:t>
            </a:r>
          </a:p>
        </p:txBody>
      </p:sp>
      <p:sp>
        <p:nvSpPr>
          <p:cNvPr id="5" name="TextBox 4"/>
          <p:cNvSpPr txBox="1"/>
          <p:nvPr/>
        </p:nvSpPr>
        <p:spPr>
          <a:xfrm>
            <a:off x="795528" y="914400"/>
            <a:ext cx="10789920" cy="252377"/>
          </a:xfrm>
          <a:prstGeom prst="rect">
            <a:avLst/>
          </a:prstGeom>
          <a:noFill/>
        </p:spPr>
        <p:txBody>
          <a:bodyPr wrap="square" lIns="36576" tIns="18288" rIns="36576" bIns="18288" anchor="t">
            <a:spAutoFit/>
          </a:bodyPr>
          <a:lstStyle/>
          <a:p>
            <a:pPr algn="l">
              <a:spcAft>
                <a:spcPts val="400"/>
              </a:spcAft>
            </a:pPr>
            <a:r>
              <a:rPr sz="1400" b="0" i="1">
                <a:solidFill>
                  <a:srgbClr val="6C757D"/>
                </a:solidFill>
                <a:latin typeface="Arial"/>
              </a:rPr>
              <a:t>Nothing on the battery or the inverter is modified on the retrofit only the negative cable passes through a shunt.</a:t>
            </a:r>
          </a:p>
        </p:txBody>
      </p:sp>
      <p:sp>
        <p:nvSpPr>
          <p:cNvPr id="6" name="Rectangle 5"/>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655" y="6570565"/>
            <a:ext cx="914400" cy="190821"/>
          </a:xfrm>
          <a:prstGeom prst="rect">
            <a:avLst/>
          </a:prstGeom>
          <a:noFill/>
        </p:spPr>
        <p:txBody>
          <a:bodyPr wrap="square" lIns="36576" tIns="18288" rIns="36576" bIns="18288" anchor="ctr">
            <a:spAutoFit/>
          </a:bodyPr>
          <a:lstStyle/>
          <a:p>
            <a:pPr algn="r">
              <a:spcAft>
                <a:spcPts val="400"/>
              </a:spcAft>
            </a:pPr>
            <a:r>
              <a:rPr lang="en-US" sz="1000" dirty="0">
                <a:solidFill>
                  <a:srgbClr val="FFFFFF"/>
                </a:solidFill>
                <a:latin typeface="Arial"/>
              </a:rPr>
              <a:t>12</a:t>
            </a:r>
            <a:endParaRPr sz="1000" b="0" i="0" dirty="0">
              <a:solidFill>
                <a:srgbClr val="FFFFFF"/>
              </a:solidFill>
              <a:latin typeface="Arial"/>
            </a:endParaRPr>
          </a:p>
        </p:txBody>
      </p:sp>
      <p:pic>
        <p:nvPicPr>
          <p:cNvPr id="9" name="Picture 8" descr="v_home1_corner_c.png"/>
          <p:cNvPicPr>
            <a:picLocks noChangeAspect="1"/>
          </p:cNvPicPr>
          <p:nvPr/>
        </p:nvPicPr>
        <p:blipFill>
          <a:blip r:embed="rId3"/>
          <a:stretch>
            <a:fillRect/>
          </a:stretch>
        </p:blipFill>
        <p:spPr>
          <a:xfrm>
            <a:off x="548640" y="1616964"/>
            <a:ext cx="6949440" cy="4401312"/>
          </a:xfrm>
          <a:prstGeom prst="rect">
            <a:avLst/>
          </a:prstGeom>
          <a:ln w="19050">
            <a:solidFill>
              <a:srgbClr val="FDC300"/>
            </a:solidFill>
          </a:ln>
        </p:spPr>
      </p:pic>
      <p:sp>
        <p:nvSpPr>
          <p:cNvPr id="10" name="Oval 9"/>
          <p:cNvSpPr/>
          <p:nvPr/>
        </p:nvSpPr>
        <p:spPr>
          <a:xfrm>
            <a:off x="7818120" y="1554480"/>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1</a:t>
            </a:r>
          </a:p>
        </p:txBody>
      </p:sp>
      <p:sp>
        <p:nvSpPr>
          <p:cNvPr id="11" name="TextBox 10"/>
          <p:cNvSpPr txBox="1"/>
          <p:nvPr/>
        </p:nvSpPr>
        <p:spPr>
          <a:xfrm>
            <a:off x="8366760" y="1508760"/>
            <a:ext cx="3383280" cy="868680"/>
          </a:xfrm>
          <a:prstGeom prst="rect">
            <a:avLst/>
          </a:prstGeom>
          <a:noFill/>
        </p:spPr>
        <p:txBody>
          <a:bodyPr wrap="square" lIns="36576" tIns="18288" rIns="36576" bIns="18288" anchor="t">
            <a:spAutoFit/>
          </a:bodyPr>
          <a:lstStyle/>
          <a:p>
            <a:pPr algn="l">
              <a:spcAft>
                <a:spcPts val="100"/>
              </a:spcAft>
            </a:pPr>
            <a:r>
              <a:rPr sz="1500" b="1" i="0">
                <a:solidFill>
                  <a:srgbClr val="221E1F"/>
                </a:solidFill>
                <a:latin typeface="Arial"/>
              </a:rPr>
              <a:t>Shunt in the battery − lead</a:t>
            </a:r>
          </a:p>
          <a:p>
            <a:pPr algn="l">
              <a:spcAft>
                <a:spcPts val="100"/>
              </a:spcAft>
            </a:pPr>
            <a:r>
              <a:rPr sz="1300" b="0" i="0">
                <a:solidFill>
                  <a:srgbClr val="6C757D"/>
                </a:solidFill>
                <a:latin typeface="Arial"/>
              </a:rPr>
              <a:t>battery current → INA228</a:t>
            </a:r>
          </a:p>
        </p:txBody>
      </p:sp>
      <p:sp>
        <p:nvSpPr>
          <p:cNvPr id="12" name="Oval 11"/>
          <p:cNvSpPr/>
          <p:nvPr/>
        </p:nvSpPr>
        <p:spPr>
          <a:xfrm>
            <a:off x="7818120" y="2468880"/>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2</a:t>
            </a:r>
          </a:p>
        </p:txBody>
      </p:sp>
      <p:sp>
        <p:nvSpPr>
          <p:cNvPr id="13" name="TextBox 12"/>
          <p:cNvSpPr txBox="1"/>
          <p:nvPr/>
        </p:nvSpPr>
        <p:spPr>
          <a:xfrm>
            <a:off x="8366760" y="2423160"/>
            <a:ext cx="3383280" cy="868680"/>
          </a:xfrm>
          <a:prstGeom prst="rect">
            <a:avLst/>
          </a:prstGeom>
          <a:noFill/>
        </p:spPr>
        <p:txBody>
          <a:bodyPr wrap="square" lIns="36576" tIns="18288" rIns="36576" bIns="18288" anchor="t">
            <a:spAutoFit/>
          </a:bodyPr>
          <a:lstStyle/>
          <a:p>
            <a:pPr algn="l">
              <a:spcAft>
                <a:spcPts val="100"/>
              </a:spcAft>
            </a:pPr>
            <a:r>
              <a:rPr sz="1500" b="1" i="0">
                <a:solidFill>
                  <a:srgbClr val="221E1F"/>
                </a:solidFill>
                <a:latin typeface="Arial"/>
              </a:rPr>
              <a:t>NTC on the battery post</a:t>
            </a:r>
          </a:p>
          <a:p>
            <a:pPr algn="l">
              <a:spcAft>
                <a:spcPts val="100"/>
              </a:spcAft>
            </a:pPr>
            <a:r>
              <a:rPr sz="1300" b="0" i="0">
                <a:solidFill>
                  <a:srgbClr val="6C757D"/>
                </a:solidFill>
                <a:latin typeface="Arial"/>
              </a:rPr>
              <a:t>temperature: the #1 ageing driver</a:t>
            </a:r>
          </a:p>
        </p:txBody>
      </p:sp>
      <p:sp>
        <p:nvSpPr>
          <p:cNvPr id="14" name="Oval 13"/>
          <p:cNvSpPr/>
          <p:nvPr/>
        </p:nvSpPr>
        <p:spPr>
          <a:xfrm>
            <a:off x="7818120" y="3383280"/>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3</a:t>
            </a:r>
          </a:p>
        </p:txBody>
      </p:sp>
      <p:sp>
        <p:nvSpPr>
          <p:cNvPr id="15" name="TextBox 14"/>
          <p:cNvSpPr txBox="1"/>
          <p:nvPr/>
        </p:nvSpPr>
        <p:spPr>
          <a:xfrm>
            <a:off x="8366760" y="3337560"/>
            <a:ext cx="3383280" cy="868680"/>
          </a:xfrm>
          <a:prstGeom prst="rect">
            <a:avLst/>
          </a:prstGeom>
          <a:noFill/>
        </p:spPr>
        <p:txBody>
          <a:bodyPr wrap="square" lIns="36576" tIns="18288" rIns="36576" bIns="18288" anchor="t">
            <a:spAutoFit/>
          </a:bodyPr>
          <a:lstStyle/>
          <a:p>
            <a:pPr algn="l">
              <a:spcAft>
                <a:spcPts val="100"/>
              </a:spcAft>
            </a:pPr>
            <a:r>
              <a:rPr sz="1500" b="1" i="0">
                <a:solidFill>
                  <a:srgbClr val="221E1F"/>
                </a:solidFill>
                <a:latin typeface="Arial"/>
              </a:rPr>
              <a:t>CT + voltage tap on AC-OUT</a:t>
            </a:r>
          </a:p>
          <a:p>
            <a:pPr algn="l">
              <a:spcAft>
                <a:spcPts val="100"/>
              </a:spcAft>
            </a:pPr>
            <a:r>
              <a:rPr sz="1300" b="0" i="0">
                <a:solidFill>
                  <a:srgbClr val="6C757D"/>
                </a:solidFill>
                <a:latin typeface="Arial"/>
              </a:rPr>
              <a:t>real &amp; reactive power → ATM90E32AS</a:t>
            </a:r>
          </a:p>
        </p:txBody>
      </p:sp>
      <p:sp>
        <p:nvSpPr>
          <p:cNvPr id="16" name="Oval 15"/>
          <p:cNvSpPr/>
          <p:nvPr/>
        </p:nvSpPr>
        <p:spPr>
          <a:xfrm>
            <a:off x="7818120" y="4297680"/>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4</a:t>
            </a:r>
          </a:p>
        </p:txBody>
      </p:sp>
      <p:sp>
        <p:nvSpPr>
          <p:cNvPr id="17" name="TextBox 16"/>
          <p:cNvSpPr txBox="1"/>
          <p:nvPr/>
        </p:nvSpPr>
        <p:spPr>
          <a:xfrm>
            <a:off x="8366760" y="4251960"/>
            <a:ext cx="3383280" cy="868680"/>
          </a:xfrm>
          <a:prstGeom prst="rect">
            <a:avLst/>
          </a:prstGeom>
          <a:noFill/>
        </p:spPr>
        <p:txBody>
          <a:bodyPr wrap="square" lIns="36576" tIns="18288" rIns="36576" bIns="18288" anchor="t">
            <a:spAutoFit/>
          </a:bodyPr>
          <a:lstStyle/>
          <a:p>
            <a:pPr algn="l">
              <a:spcAft>
                <a:spcPts val="100"/>
              </a:spcAft>
            </a:pPr>
            <a:r>
              <a:rPr sz="1500" b="1" i="0">
                <a:solidFill>
                  <a:srgbClr val="221E1F"/>
                </a:solidFill>
                <a:latin typeface="Arial"/>
              </a:rPr>
              <a:t>4 NC contactors in the DB</a:t>
            </a:r>
          </a:p>
          <a:p>
            <a:pPr algn="l">
              <a:spcAft>
                <a:spcPts val="100"/>
              </a:spcAft>
            </a:pPr>
            <a:r>
              <a:rPr sz="1300" b="0" i="0">
                <a:solidFill>
                  <a:srgbClr val="6C757D"/>
                </a:solidFill>
                <a:latin typeface="Arial"/>
              </a:rPr>
              <a:t>coil off = load ON, always</a:t>
            </a:r>
          </a:p>
        </p:txBody>
      </p:sp>
      <p:sp>
        <p:nvSpPr>
          <p:cNvPr id="18" name="Oval 17"/>
          <p:cNvSpPr/>
          <p:nvPr/>
        </p:nvSpPr>
        <p:spPr>
          <a:xfrm>
            <a:off x="7818120" y="5212080"/>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5</a:t>
            </a:r>
          </a:p>
        </p:txBody>
      </p:sp>
      <p:sp>
        <p:nvSpPr>
          <p:cNvPr id="19" name="TextBox 18"/>
          <p:cNvSpPr txBox="1"/>
          <p:nvPr/>
        </p:nvSpPr>
        <p:spPr>
          <a:xfrm>
            <a:off x="8366760" y="5166360"/>
            <a:ext cx="3383280" cy="868680"/>
          </a:xfrm>
          <a:prstGeom prst="rect">
            <a:avLst/>
          </a:prstGeom>
          <a:noFill/>
        </p:spPr>
        <p:txBody>
          <a:bodyPr wrap="square" lIns="36576" tIns="18288" rIns="36576" bIns="18288" anchor="t">
            <a:spAutoFit/>
          </a:bodyPr>
          <a:lstStyle/>
          <a:p>
            <a:pPr algn="l">
              <a:spcAft>
                <a:spcPts val="100"/>
              </a:spcAft>
            </a:pPr>
            <a:r>
              <a:rPr sz="1500" b="1" i="0">
                <a:solidFill>
                  <a:srgbClr val="221E1F"/>
                </a:solidFill>
                <a:latin typeface="Arial"/>
              </a:rPr>
              <a:t>ESP32-S3 Sentinel Core</a:t>
            </a:r>
          </a:p>
          <a:p>
            <a:pPr algn="l">
              <a:spcAft>
                <a:spcPts val="100"/>
              </a:spcAft>
            </a:pPr>
            <a:r>
              <a:rPr sz="1300" b="0" i="0">
                <a:solidFill>
                  <a:srgbClr val="6C757D"/>
                </a:solidFill>
                <a:latin typeface="Arial"/>
              </a:rPr>
              <a:t>90 × 70 × 35 mm, powered by the battery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000104"/>
                </a:solidFill>
                <a:latin typeface="Arial"/>
              </a:rPr>
              <a:t>And this is exactly how the bench is wired.</a:t>
            </a:r>
          </a:p>
        </p:txBody>
      </p:sp>
      <p:sp>
        <p:nvSpPr>
          <p:cNvPr id="5" name="TextBox 4"/>
          <p:cNvSpPr txBox="1"/>
          <p:nvPr/>
        </p:nvSpPr>
        <p:spPr>
          <a:xfrm>
            <a:off x="795528" y="914400"/>
            <a:ext cx="10789920" cy="252377"/>
          </a:xfrm>
          <a:prstGeom prst="rect">
            <a:avLst/>
          </a:prstGeom>
          <a:noFill/>
        </p:spPr>
        <p:txBody>
          <a:bodyPr wrap="square" lIns="36576" tIns="18288" rIns="36576" bIns="18288" anchor="t">
            <a:spAutoFit/>
          </a:bodyPr>
          <a:lstStyle/>
          <a:p>
            <a:pPr>
              <a:spcAft>
                <a:spcPts val="400"/>
              </a:spcAft>
            </a:pPr>
            <a:r>
              <a:rPr lang="en-US" sz="1400" i="1">
                <a:solidFill>
                  <a:srgbClr val="6C757D"/>
                </a:solidFill>
                <a:latin typeface="Arial"/>
                <a:ea typeface="+mn-lt"/>
                <a:cs typeface="Arial"/>
              </a:rPr>
              <a:t>Real battery, real inverter, off-the-shelf parts, every</a:t>
            </a:r>
            <a:r>
              <a:rPr lang="en-US" sz="1400" b="0" i="1">
                <a:solidFill>
                  <a:srgbClr val="6C757D"/>
                </a:solidFill>
                <a:latin typeface="Arial"/>
                <a:ea typeface="+mn-lt"/>
                <a:cs typeface="Arial"/>
              </a:rPr>
              <a:t> </a:t>
            </a:r>
            <a:r>
              <a:rPr lang="en-US" sz="1400" i="1">
                <a:solidFill>
                  <a:srgbClr val="6C757D"/>
                </a:solidFill>
                <a:latin typeface="Arial"/>
                <a:ea typeface="+mn-lt"/>
                <a:cs typeface="Arial"/>
              </a:rPr>
              <a:t>part </a:t>
            </a:r>
            <a:r>
              <a:rPr lang="en-US" sz="1400" b="0" i="1">
                <a:solidFill>
                  <a:srgbClr val="6C757D"/>
                </a:solidFill>
                <a:latin typeface="Arial"/>
                <a:ea typeface="+mn-lt"/>
                <a:cs typeface="Arial"/>
              </a:rPr>
              <a:t>available from Indian distributors today</a:t>
            </a:r>
            <a:r>
              <a:rPr lang="en-US" sz="1400" i="1">
                <a:solidFill>
                  <a:srgbClr val="6C757D"/>
                </a:solidFill>
                <a:latin typeface="Arial"/>
                <a:ea typeface="+mn-lt"/>
                <a:cs typeface="Arial"/>
              </a:rPr>
              <a:t>.</a:t>
            </a:r>
            <a:endParaRPr lang="en-US">
              <a:ea typeface="Calibri"/>
              <a:cs typeface="Calibri"/>
            </a:endParaRPr>
          </a:p>
        </p:txBody>
      </p:sp>
      <p:sp>
        <p:nvSpPr>
          <p:cNvPr id="6" name="Rectangle 5"/>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655" y="6570565"/>
            <a:ext cx="914400" cy="190821"/>
          </a:xfrm>
          <a:prstGeom prst="rect">
            <a:avLst/>
          </a:prstGeom>
          <a:noFill/>
        </p:spPr>
        <p:txBody>
          <a:bodyPr wrap="square" lIns="36576" tIns="18288" rIns="36576" bIns="18288" anchor="ctr">
            <a:spAutoFit/>
          </a:bodyPr>
          <a:lstStyle/>
          <a:p>
            <a:pPr algn="r">
              <a:spcAft>
                <a:spcPts val="400"/>
              </a:spcAft>
            </a:pPr>
            <a:r>
              <a:rPr lang="en-US" sz="1000" dirty="0">
                <a:solidFill>
                  <a:srgbClr val="FFFFFF"/>
                </a:solidFill>
                <a:latin typeface="Arial"/>
              </a:rPr>
              <a:t>6</a:t>
            </a:r>
            <a:endParaRPr sz="1000" b="0" i="0" dirty="0">
              <a:solidFill>
                <a:srgbClr val="FFFFFF"/>
              </a:solidFill>
              <a:latin typeface="Arial"/>
            </a:endParaRPr>
          </a:p>
        </p:txBody>
      </p:sp>
      <p:pic>
        <p:nvPicPr>
          <p:cNvPr id="9" name="Picture 8" descr="bench_sketch.png"/>
          <p:cNvPicPr>
            <a:picLocks noChangeAspect="1"/>
          </p:cNvPicPr>
          <p:nvPr/>
        </p:nvPicPr>
        <p:blipFill>
          <a:blip r:embed="rId3"/>
          <a:srcRect t="18000" r="-161"/>
          <a:stretch>
            <a:fillRect/>
          </a:stretch>
        </p:blipFill>
        <p:spPr>
          <a:xfrm>
            <a:off x="603945" y="1541542"/>
            <a:ext cx="10306674" cy="46415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452432"/>
          </a:xfrm>
          <a:prstGeom prst="rect">
            <a:avLst/>
          </a:prstGeom>
          <a:noFill/>
        </p:spPr>
        <p:txBody>
          <a:bodyPr wrap="square" lIns="36576" tIns="18288" rIns="36576" bIns="18288" anchor="t">
            <a:spAutoFit/>
          </a:bodyPr>
          <a:lstStyle/>
          <a:p>
            <a:pPr>
              <a:spcAft>
                <a:spcPts val="400"/>
              </a:spcAft>
            </a:pPr>
            <a:r>
              <a:rPr sz="2700" b="1" i="0">
                <a:solidFill>
                  <a:srgbClr val="000104"/>
                </a:solidFill>
                <a:latin typeface="Arial"/>
              </a:rPr>
              <a:t>It gives a window, not a date: "replace in </a:t>
            </a:r>
            <a:r>
              <a:rPr lang="en-US" sz="2700" b="1">
                <a:solidFill>
                  <a:srgbClr val="000104"/>
                </a:solidFill>
                <a:latin typeface="Arial"/>
              </a:rPr>
              <a:t>6 –14</a:t>
            </a:r>
            <a:r>
              <a:rPr sz="2700" b="1" i="0">
                <a:solidFill>
                  <a:srgbClr val="000104"/>
                </a:solidFill>
                <a:latin typeface="Arial"/>
              </a:rPr>
              <a:t> weeks".</a:t>
            </a:r>
          </a:p>
        </p:txBody>
      </p:sp>
      <p:sp>
        <p:nvSpPr>
          <p:cNvPr id="5" name="TextBox 4"/>
          <p:cNvSpPr txBox="1"/>
          <p:nvPr/>
        </p:nvSpPr>
        <p:spPr>
          <a:xfrm>
            <a:off x="795528" y="914400"/>
            <a:ext cx="10789920" cy="252377"/>
          </a:xfrm>
          <a:prstGeom prst="rect">
            <a:avLst/>
          </a:prstGeom>
          <a:noFill/>
        </p:spPr>
        <p:txBody>
          <a:bodyPr wrap="square" lIns="36576" tIns="18288" rIns="36576" bIns="18288" anchor="t">
            <a:spAutoFit/>
          </a:bodyPr>
          <a:lstStyle/>
          <a:p>
            <a:pPr>
              <a:spcAft>
                <a:spcPts val="400"/>
              </a:spcAft>
            </a:pPr>
            <a:r>
              <a:rPr sz="1400" b="0" i="1">
                <a:solidFill>
                  <a:srgbClr val="6C757D"/>
                </a:solidFill>
                <a:latin typeface="Arial"/>
              </a:rPr>
              <a:t>Physics first, learning second </a:t>
            </a:r>
            <a:r>
              <a:rPr lang="en-US" sz="1400" i="1" dirty="0">
                <a:solidFill>
                  <a:srgbClr val="6C757D"/>
                </a:solidFill>
                <a:latin typeface="Arial"/>
              </a:rPr>
              <a:t> </a:t>
            </a:r>
            <a:r>
              <a:rPr sz="1400" b="0" i="1">
                <a:solidFill>
                  <a:srgbClr val="6C757D"/>
                </a:solidFill>
                <a:latin typeface="Arial"/>
              </a:rPr>
              <a:t>every step runs on the ESP32.</a:t>
            </a:r>
          </a:p>
        </p:txBody>
      </p:sp>
      <p:sp>
        <p:nvSpPr>
          <p:cNvPr id="6" name="Rectangle 5"/>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655" y="6570565"/>
            <a:ext cx="914400" cy="190821"/>
          </a:xfrm>
          <a:prstGeom prst="rect">
            <a:avLst/>
          </a:prstGeom>
          <a:noFill/>
        </p:spPr>
        <p:txBody>
          <a:bodyPr wrap="square" lIns="36576" tIns="18288" rIns="36576" bIns="18288" anchor="ctr">
            <a:spAutoFit/>
          </a:bodyPr>
          <a:lstStyle/>
          <a:p>
            <a:pPr algn="r">
              <a:spcAft>
                <a:spcPts val="400"/>
              </a:spcAft>
            </a:pPr>
            <a:r>
              <a:rPr lang="en-US" sz="1000" dirty="0">
                <a:solidFill>
                  <a:srgbClr val="FFFFFF"/>
                </a:solidFill>
                <a:latin typeface="Arial"/>
              </a:rPr>
              <a:t>7</a:t>
            </a:r>
            <a:endParaRPr sz="1000" b="0" i="0" dirty="0">
              <a:solidFill>
                <a:srgbClr val="FFFFFF"/>
              </a:solidFill>
              <a:latin typeface="Arial"/>
            </a:endParaRPr>
          </a:p>
        </p:txBody>
      </p:sp>
      <p:sp>
        <p:nvSpPr>
          <p:cNvPr id="9" name="Rounded Rectangle 8"/>
          <p:cNvSpPr/>
          <p:nvPr/>
        </p:nvSpPr>
        <p:spPr>
          <a:xfrm>
            <a:off x="548640" y="1463040"/>
            <a:ext cx="1920240" cy="960120"/>
          </a:xfrm>
          <a:prstGeom prst="roundRect">
            <a:avLst>
              <a:gd name="adj" fmla="val 8000"/>
            </a:avLst>
          </a:prstGeom>
          <a:solidFill>
            <a:srgbClr val="F3EFE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45720" rIns="54864" bIns="45720" rtlCol="0" anchor="ctr"/>
          <a:lstStyle/>
          <a:p>
            <a:pPr algn="ctr"/>
            <a:r>
              <a:rPr sz="1500" b="1">
                <a:solidFill>
                  <a:srgbClr val="221E1F"/>
                </a:solidFill>
                <a:latin typeface="Arial"/>
              </a:rPr>
              <a:t>1 Hz sensing</a:t>
            </a:r>
          </a:p>
          <a:p>
            <a:pPr algn="ctr"/>
            <a:r>
              <a:rPr sz="1300" b="0" dirty="0">
                <a:solidFill>
                  <a:srgbClr val="221E1F"/>
                </a:solidFill>
                <a:latin typeface="Arial"/>
              </a:rPr>
              <a:t>I </a:t>
            </a:r>
            <a:r>
              <a:rPr lang="en-US" sz="1300">
                <a:solidFill>
                  <a:srgbClr val="221E1F"/>
                </a:solidFill>
                <a:latin typeface="Arial"/>
              </a:rPr>
              <a:t>/ </a:t>
            </a:r>
            <a:r>
              <a:rPr sz="1300" b="0" dirty="0">
                <a:solidFill>
                  <a:srgbClr val="221E1F"/>
                </a:solidFill>
                <a:latin typeface="Arial"/>
              </a:rPr>
              <a:t>V </a:t>
            </a:r>
            <a:r>
              <a:rPr lang="en-US" sz="1300" dirty="0">
                <a:solidFill>
                  <a:srgbClr val="221E1F"/>
                </a:solidFill>
                <a:latin typeface="Arial"/>
              </a:rPr>
              <a:t>/ </a:t>
            </a:r>
            <a:r>
              <a:rPr sz="1300" b="0" dirty="0">
                <a:solidFill>
                  <a:srgbClr val="221E1F"/>
                </a:solidFill>
                <a:latin typeface="Arial"/>
              </a:rPr>
              <a:t>T</a:t>
            </a:r>
            <a:endParaRPr sz="1300" b="0" dirty="0">
              <a:solidFill>
                <a:srgbClr val="221E1F"/>
              </a:solidFill>
              <a:latin typeface="Arial"/>
              <a:cs typeface="Arial"/>
            </a:endParaRPr>
          </a:p>
        </p:txBody>
      </p:sp>
      <p:sp>
        <p:nvSpPr>
          <p:cNvPr id="10" name="Right Arrow 9"/>
          <p:cNvSpPr/>
          <p:nvPr/>
        </p:nvSpPr>
        <p:spPr>
          <a:xfrm>
            <a:off x="2496312" y="1801368"/>
            <a:ext cx="301752" cy="274320"/>
          </a:xfrm>
          <a:prstGeom prst="rightArrow">
            <a:avLst/>
          </a:prstGeom>
          <a:solidFill>
            <a:srgbClr val="221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834640" y="1463040"/>
            <a:ext cx="1920240" cy="960120"/>
          </a:xfrm>
          <a:prstGeom prst="roundRect">
            <a:avLst>
              <a:gd name="adj" fmla="val 8000"/>
            </a:avLst>
          </a:prstGeom>
          <a:solidFill>
            <a:srgbClr val="FCB817"/>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a:solidFill>
                  <a:srgbClr val="221E1F"/>
                </a:solidFill>
                <a:latin typeface="Arial"/>
              </a:rPr>
              <a:t>Kalman filter</a:t>
            </a:r>
          </a:p>
          <a:p>
            <a:pPr algn="ctr"/>
            <a:r>
              <a:rPr sz="1300" b="0">
                <a:solidFill>
                  <a:srgbClr val="221E1F"/>
                </a:solidFill>
                <a:latin typeface="Arial"/>
              </a:rPr>
              <a:t>SoC · R_int</a:t>
            </a:r>
          </a:p>
        </p:txBody>
      </p:sp>
      <p:sp>
        <p:nvSpPr>
          <p:cNvPr id="12" name="Right Arrow 11"/>
          <p:cNvSpPr/>
          <p:nvPr/>
        </p:nvSpPr>
        <p:spPr>
          <a:xfrm>
            <a:off x="4782312" y="1801368"/>
            <a:ext cx="301752" cy="274320"/>
          </a:xfrm>
          <a:prstGeom prst="rightArrow">
            <a:avLst/>
          </a:prstGeom>
          <a:solidFill>
            <a:srgbClr val="221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120640" y="1463040"/>
            <a:ext cx="1920240" cy="960120"/>
          </a:xfrm>
          <a:prstGeom prst="roundRect">
            <a:avLst>
              <a:gd name="adj" fmla="val 8000"/>
            </a:avLst>
          </a:prstGeom>
          <a:solidFill>
            <a:srgbClr val="FCB817"/>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a:solidFill>
                  <a:srgbClr val="221E1F"/>
                </a:solidFill>
                <a:latin typeface="Arial"/>
              </a:rPr>
              <a:t>14 + 6 features</a:t>
            </a:r>
          </a:p>
          <a:p>
            <a:pPr algn="ctr"/>
            <a:r>
              <a:rPr sz="1300" b="0">
                <a:solidFill>
                  <a:srgbClr val="221E1F"/>
                </a:solidFill>
                <a:latin typeface="Arial"/>
              </a:rPr>
              <a:t>per outage cycle</a:t>
            </a:r>
          </a:p>
        </p:txBody>
      </p:sp>
      <p:sp>
        <p:nvSpPr>
          <p:cNvPr id="14" name="Right Arrow 13"/>
          <p:cNvSpPr/>
          <p:nvPr/>
        </p:nvSpPr>
        <p:spPr>
          <a:xfrm>
            <a:off x="7068312" y="1801368"/>
            <a:ext cx="301752" cy="274320"/>
          </a:xfrm>
          <a:prstGeom prst="rightArrow">
            <a:avLst/>
          </a:prstGeom>
          <a:solidFill>
            <a:srgbClr val="221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406640" y="1463040"/>
            <a:ext cx="1920240" cy="960120"/>
          </a:xfrm>
          <a:prstGeom prst="roundRect">
            <a:avLst>
              <a:gd name="adj" fmla="val 8000"/>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a:solidFill>
                  <a:srgbClr val="221E1F"/>
                </a:solidFill>
                <a:latin typeface="Arial"/>
              </a:rPr>
              <a:t>int8 CNN × 3</a:t>
            </a:r>
          </a:p>
          <a:p>
            <a:pPr algn="ctr"/>
            <a:r>
              <a:rPr sz="1300" b="0">
                <a:solidFill>
                  <a:srgbClr val="221E1F"/>
                </a:solidFill>
                <a:latin typeface="Arial"/>
              </a:rPr>
              <a:t>28 k params · 16 KB</a:t>
            </a:r>
          </a:p>
        </p:txBody>
      </p:sp>
      <p:sp>
        <p:nvSpPr>
          <p:cNvPr id="16" name="Right Arrow 15"/>
          <p:cNvSpPr/>
          <p:nvPr/>
        </p:nvSpPr>
        <p:spPr>
          <a:xfrm>
            <a:off x="9354312" y="1801368"/>
            <a:ext cx="301752" cy="274320"/>
          </a:xfrm>
          <a:prstGeom prst="rightArrow">
            <a:avLst/>
          </a:prstGeom>
          <a:solidFill>
            <a:srgbClr val="221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692640" y="1463040"/>
            <a:ext cx="1920240" cy="960120"/>
          </a:xfrm>
          <a:prstGeom prst="roundRect">
            <a:avLst>
              <a:gd name="adj" fmla="val 8000"/>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a:solidFill>
                  <a:srgbClr val="FFFFFF"/>
                </a:solidFill>
                <a:latin typeface="Arial"/>
              </a:rPr>
              <a:t>Grade</a:t>
            </a:r>
          </a:p>
          <a:p>
            <a:pPr algn="ctr"/>
            <a:r>
              <a:rPr sz="1300" b="0">
                <a:solidFill>
                  <a:srgbClr val="FFFFFF"/>
                </a:solidFill>
                <a:latin typeface="Arial"/>
              </a:rPr>
              <a:t>window, never a date</a:t>
            </a:r>
          </a:p>
        </p:txBody>
      </p:sp>
      <p:pic>
        <p:nvPicPr>
          <p:cNvPr id="18" name="Picture 17" descr="soh_band_c.png"/>
          <p:cNvPicPr>
            <a:picLocks noChangeAspect="1"/>
          </p:cNvPicPr>
          <p:nvPr/>
        </p:nvPicPr>
        <p:blipFill>
          <a:blip r:embed="rId3"/>
          <a:stretch>
            <a:fillRect/>
          </a:stretch>
        </p:blipFill>
        <p:spPr>
          <a:xfrm>
            <a:off x="548640" y="2997501"/>
            <a:ext cx="7863840" cy="2920397"/>
          </a:xfrm>
          <a:prstGeom prst="rect">
            <a:avLst/>
          </a:prstGeom>
        </p:spPr>
      </p:pic>
      <p:sp>
        <p:nvSpPr>
          <p:cNvPr id="19" name="TextBox 18"/>
          <p:cNvSpPr txBox="1"/>
          <p:nvPr/>
        </p:nvSpPr>
        <p:spPr>
          <a:xfrm>
            <a:off x="8732520" y="2743200"/>
            <a:ext cx="3017520" cy="731520"/>
          </a:xfrm>
          <a:prstGeom prst="rect">
            <a:avLst/>
          </a:prstGeom>
          <a:noFill/>
        </p:spPr>
        <p:txBody>
          <a:bodyPr wrap="square" lIns="36576" tIns="18288" rIns="36576" bIns="18288" anchor="t">
            <a:spAutoFit/>
          </a:bodyPr>
          <a:lstStyle/>
          <a:p>
            <a:pPr algn="l">
              <a:spcAft>
                <a:spcPts val="400"/>
              </a:spcAft>
            </a:pPr>
            <a:r>
              <a:rPr sz="3400" b="1" i="0">
                <a:solidFill>
                  <a:srgbClr val="F39200"/>
                </a:solidFill>
                <a:latin typeface="Arial"/>
              </a:rPr>
              <a:t>8.2 pt</a:t>
            </a:r>
          </a:p>
        </p:txBody>
      </p:sp>
      <p:sp>
        <p:nvSpPr>
          <p:cNvPr id="20" name="TextBox 19"/>
          <p:cNvSpPr txBox="1"/>
          <p:nvPr/>
        </p:nvSpPr>
        <p:spPr>
          <a:xfrm>
            <a:off x="8732520" y="3456432"/>
            <a:ext cx="3017520" cy="437043"/>
          </a:xfrm>
          <a:prstGeom prst="rect">
            <a:avLst/>
          </a:prstGeom>
          <a:noFill/>
        </p:spPr>
        <p:txBody>
          <a:bodyPr wrap="square" lIns="36576" tIns="18288" rIns="36576" bIns="18288" anchor="t">
            <a:spAutoFit/>
          </a:bodyPr>
          <a:lstStyle/>
          <a:p>
            <a:pPr>
              <a:spcAft>
                <a:spcPts val="400"/>
              </a:spcAft>
            </a:pPr>
            <a:r>
              <a:rPr sz="1300" b="0" i="0" dirty="0">
                <a:solidFill>
                  <a:srgbClr val="221E1F"/>
                </a:solidFill>
                <a:latin typeface="Arial"/>
              </a:rPr>
              <a:t>SoH error on 3 never-seen test </a:t>
            </a:r>
            <a:r>
              <a:rPr sz="1300" b="0" i="0">
                <a:solidFill>
                  <a:srgbClr val="221E1F"/>
                </a:solidFill>
                <a:latin typeface="Arial"/>
              </a:rPr>
              <a:t>batteries </a:t>
            </a:r>
            <a:r>
              <a:rPr lang="en-US" sz="1300">
                <a:solidFill>
                  <a:srgbClr val="221E1F"/>
                </a:solidFill>
                <a:latin typeface="Arial"/>
              </a:rPr>
              <a:t>(Based on simulation data)</a:t>
            </a:r>
            <a:endParaRPr lang="en-US" sz="1300">
              <a:solidFill>
                <a:srgbClr val="221E1F"/>
              </a:solidFill>
              <a:latin typeface="Arial"/>
              <a:cs typeface="Arial"/>
            </a:endParaRPr>
          </a:p>
        </p:txBody>
      </p:sp>
      <p:sp>
        <p:nvSpPr>
          <p:cNvPr id="21" name="TextBox 20"/>
          <p:cNvSpPr txBox="1"/>
          <p:nvPr/>
        </p:nvSpPr>
        <p:spPr>
          <a:xfrm>
            <a:off x="8732520" y="4160520"/>
            <a:ext cx="3017520" cy="731520"/>
          </a:xfrm>
          <a:prstGeom prst="rect">
            <a:avLst/>
          </a:prstGeom>
          <a:noFill/>
        </p:spPr>
        <p:txBody>
          <a:bodyPr wrap="square" lIns="36576" tIns="18288" rIns="36576" bIns="18288" anchor="t">
            <a:spAutoFit/>
          </a:bodyPr>
          <a:lstStyle/>
          <a:p>
            <a:pPr algn="l">
              <a:spcAft>
                <a:spcPts val="400"/>
              </a:spcAft>
            </a:pPr>
            <a:r>
              <a:rPr sz="3400" b="1" i="0">
                <a:solidFill>
                  <a:srgbClr val="FDC300"/>
                </a:solidFill>
                <a:latin typeface="Arial"/>
              </a:rPr>
              <a:t>+0.01 pt</a:t>
            </a:r>
          </a:p>
        </p:txBody>
      </p:sp>
      <p:sp>
        <p:nvSpPr>
          <p:cNvPr id="22" name="TextBox 21"/>
          <p:cNvSpPr txBox="1"/>
          <p:nvPr/>
        </p:nvSpPr>
        <p:spPr>
          <a:xfrm>
            <a:off x="8732520" y="4873752"/>
            <a:ext cx="3017520" cy="731520"/>
          </a:xfrm>
          <a:prstGeom prst="rect">
            <a:avLst/>
          </a:prstGeom>
          <a:noFill/>
        </p:spPr>
        <p:txBody>
          <a:bodyPr wrap="square" lIns="36576" tIns="18288" rIns="36576" bIns="18288" anchor="t">
            <a:spAutoFit/>
          </a:bodyPr>
          <a:lstStyle/>
          <a:p>
            <a:pPr algn="l">
              <a:spcAft>
                <a:spcPts val="400"/>
              </a:spcAft>
            </a:pPr>
            <a:r>
              <a:rPr sz="1300" b="0" i="0">
                <a:solidFill>
                  <a:srgbClr val="221E1F"/>
                </a:solidFill>
                <a:latin typeface="Arial"/>
              </a:rPr>
              <a:t>accuracy lost going float → int8 — it fits on the chip for free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FFFFFF"/>
                </a:solidFill>
                <a:latin typeface="Arial"/>
              </a:rPr>
              <a:t>Designed to be built: 90 × 70 × 35 mm, HV zone fenced off.</a:t>
            </a:r>
          </a:p>
        </p:txBody>
      </p:sp>
      <p:sp>
        <p:nvSpPr>
          <p:cNvPr id="6" name="TextBox 5"/>
          <p:cNvSpPr txBox="1"/>
          <p:nvPr/>
        </p:nvSpPr>
        <p:spPr>
          <a:xfrm>
            <a:off x="795528" y="914400"/>
            <a:ext cx="10789920" cy="411480"/>
          </a:xfrm>
          <a:prstGeom prst="rect">
            <a:avLst/>
          </a:prstGeom>
          <a:noFill/>
        </p:spPr>
        <p:txBody>
          <a:bodyPr wrap="square" lIns="36576" tIns="18288" rIns="36576" bIns="18288" anchor="t">
            <a:spAutoFit/>
          </a:bodyPr>
          <a:lstStyle/>
          <a:p>
            <a:pPr algn="l">
              <a:spcAft>
                <a:spcPts val="400"/>
              </a:spcAft>
            </a:pPr>
            <a:r>
              <a:rPr sz="1400" b="0" i="1">
                <a:solidFill>
                  <a:srgbClr val="A9B0BC"/>
                </a:solidFill>
                <a:latin typeface="Arial"/>
              </a:rPr>
              <a:t>Mechanical drawing from our round-3 spec, and the same board as a 3D render in the simulation.</a:t>
            </a:r>
          </a:p>
        </p:txBody>
      </p:sp>
      <p:sp>
        <p:nvSpPr>
          <p:cNvPr id="7" name="Rectangle 6"/>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9" name="TextBox 8"/>
          <p:cNvSpPr txBox="1"/>
          <p:nvPr/>
        </p:nvSpPr>
        <p:spPr>
          <a:xfrm>
            <a:off x="10728655" y="6570565"/>
            <a:ext cx="914400" cy="190821"/>
          </a:xfrm>
          <a:prstGeom prst="rect">
            <a:avLst/>
          </a:prstGeom>
          <a:noFill/>
        </p:spPr>
        <p:txBody>
          <a:bodyPr wrap="square" lIns="36576" tIns="18288" rIns="36576" bIns="18288" anchor="ctr">
            <a:spAutoFit/>
          </a:bodyPr>
          <a:lstStyle/>
          <a:p>
            <a:pPr algn="r">
              <a:spcAft>
                <a:spcPts val="400"/>
              </a:spcAft>
            </a:pPr>
            <a:r>
              <a:rPr lang="en-US" sz="1000" dirty="0">
                <a:solidFill>
                  <a:srgbClr val="FFFFFF"/>
                </a:solidFill>
                <a:latin typeface="Arial"/>
              </a:rPr>
              <a:t>8</a:t>
            </a:r>
            <a:endParaRPr sz="1000" b="0" i="0" dirty="0">
              <a:solidFill>
                <a:srgbClr val="FFFFFF"/>
              </a:solidFill>
              <a:latin typeface="Arial"/>
            </a:endParaRPr>
          </a:p>
        </p:txBody>
      </p:sp>
      <p:pic>
        <p:nvPicPr>
          <p:cNvPr id="10" name="Picture 9" descr="cad_sheet.png"/>
          <p:cNvPicPr>
            <a:picLocks noChangeAspect="1"/>
          </p:cNvPicPr>
          <p:nvPr/>
        </p:nvPicPr>
        <p:blipFill>
          <a:blip r:embed="rId3"/>
          <a:stretch>
            <a:fillRect/>
          </a:stretch>
        </p:blipFill>
        <p:spPr>
          <a:xfrm>
            <a:off x="457200" y="1683067"/>
            <a:ext cx="7589520" cy="4269105"/>
          </a:xfrm>
          <a:prstGeom prst="rect">
            <a:avLst/>
          </a:prstGeom>
        </p:spPr>
      </p:pic>
      <p:pic>
        <p:nvPicPr>
          <p:cNvPr id="11" name="Picture 10" descr="b_board_c.png"/>
          <p:cNvPicPr>
            <a:picLocks noChangeAspect="1"/>
          </p:cNvPicPr>
          <p:nvPr/>
        </p:nvPicPr>
        <p:blipFill>
          <a:blip r:embed="rId4"/>
          <a:stretch>
            <a:fillRect/>
          </a:stretch>
        </p:blipFill>
        <p:spPr>
          <a:xfrm>
            <a:off x="8183879" y="1488277"/>
            <a:ext cx="3520440" cy="2281245"/>
          </a:xfrm>
          <a:prstGeom prst="rect">
            <a:avLst/>
          </a:prstGeom>
          <a:ln w="19050">
            <a:solidFill>
              <a:srgbClr val="FDC300"/>
            </a:solidFill>
          </a:ln>
        </p:spPr>
      </p:pic>
      <p:sp>
        <p:nvSpPr>
          <p:cNvPr id="12" name="TextBox 11"/>
          <p:cNvSpPr txBox="1"/>
          <p:nvPr/>
        </p:nvSpPr>
        <p:spPr>
          <a:xfrm>
            <a:off x="8183879" y="3931920"/>
            <a:ext cx="3566160" cy="2194560"/>
          </a:xfrm>
          <a:prstGeom prst="rect">
            <a:avLst/>
          </a:prstGeom>
          <a:noFill/>
        </p:spPr>
        <p:txBody>
          <a:bodyPr wrap="square" lIns="36576" tIns="18288" rIns="36576" bIns="18288" anchor="t">
            <a:spAutoFit/>
          </a:bodyPr>
          <a:lstStyle/>
          <a:p>
            <a:pPr algn="l">
              <a:spcAft>
                <a:spcPts val="200"/>
              </a:spcAft>
            </a:pPr>
            <a:r>
              <a:rPr sz="1400" b="1" i="0">
                <a:solidFill>
                  <a:srgbClr val="FDC300"/>
                </a:solidFill>
                <a:latin typeface="Arial"/>
              </a:rPr>
              <a:t>Battery current never enters the PCB</a:t>
            </a:r>
          </a:p>
          <a:p>
            <a:pPr algn="l">
              <a:spcAft>
                <a:spcPts val="200"/>
              </a:spcAft>
            </a:pPr>
            <a:r>
              <a:rPr sz="1300" b="0" i="0">
                <a:solidFill>
                  <a:srgbClr val="C9CED6"/>
                </a:solidFill>
                <a:latin typeface="Arial"/>
              </a:rPr>
              <a:t>only the shunt's millivolts do.</a:t>
            </a:r>
          </a:p>
          <a:p>
            <a:pPr algn="l">
              <a:spcAft>
                <a:spcPts val="200"/>
              </a:spcAft>
            </a:pPr>
            <a:r>
              <a:rPr sz="1400" b="1" i="0">
                <a:solidFill>
                  <a:srgbClr val="FDC300"/>
                </a:solidFill>
                <a:latin typeface="Arial"/>
              </a:rPr>
              <a:t>Isolation moat</a:t>
            </a:r>
          </a:p>
          <a:p>
            <a:pPr algn="l">
              <a:spcAft>
                <a:spcPts val="200"/>
              </a:spcAft>
            </a:pPr>
            <a:r>
              <a:rPr sz="1300" b="0" i="0">
                <a:solidFill>
                  <a:srgbClr val="C9CED6"/>
                </a:solidFill>
                <a:latin typeface="Arial"/>
              </a:rPr>
              <a:t>AMC1311 and PC817 straddle the HV zone.</a:t>
            </a:r>
          </a:p>
          <a:p>
            <a:pPr algn="l">
              <a:spcAft>
                <a:spcPts val="200"/>
              </a:spcAft>
            </a:pPr>
            <a:r>
              <a:rPr sz="1400" b="1" i="0">
                <a:solidFill>
                  <a:srgbClr val="FDC300"/>
                </a:solidFill>
                <a:latin typeface="Arial"/>
              </a:rPr>
              <a:t>UL94 V-0 PC/ABS, 4× M3</a:t>
            </a:r>
          </a:p>
          <a:p>
            <a:pPr algn="l">
              <a:spcAft>
                <a:spcPts val="200"/>
              </a:spcAft>
            </a:pPr>
            <a:r>
              <a:rPr sz="1300" b="0" i="0">
                <a:solidFill>
                  <a:srgbClr val="C9CED6"/>
                </a:solidFill>
                <a:latin typeface="Arial"/>
              </a:rPr>
              <a:t>DIN or screw mount beside the inverter.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452432"/>
          </a:xfrm>
          <a:prstGeom prst="rect">
            <a:avLst/>
          </a:prstGeom>
          <a:noFill/>
        </p:spPr>
        <p:txBody>
          <a:bodyPr wrap="square" lIns="36576" tIns="18288" rIns="36576" bIns="18288" anchor="t">
            <a:spAutoFit/>
          </a:bodyPr>
          <a:lstStyle/>
          <a:p>
            <a:pPr>
              <a:spcAft>
                <a:spcPts val="400"/>
              </a:spcAft>
            </a:pPr>
            <a:r>
              <a:rPr sz="2400" b="1" i="0">
                <a:solidFill>
                  <a:srgbClr val="000104"/>
                </a:solidFill>
                <a:latin typeface="Arial"/>
              </a:rPr>
              <a:t>Same outage, same battery: only Home 1 </a:t>
            </a:r>
            <a:r>
              <a:rPr lang="en-US" sz="2400" b="1">
                <a:solidFill>
                  <a:srgbClr val="000104"/>
                </a:solidFill>
                <a:latin typeface="Arial"/>
              </a:rPr>
              <a:t>gets to keeps</a:t>
            </a:r>
            <a:r>
              <a:rPr sz="2400" b="1" i="0">
                <a:solidFill>
                  <a:srgbClr val="000104"/>
                </a:solidFill>
                <a:latin typeface="Arial"/>
              </a:rPr>
              <a:t> its fridge on</a:t>
            </a:r>
            <a:r>
              <a:rPr sz="2700" b="1" i="0">
                <a:solidFill>
                  <a:srgbClr val="000104"/>
                </a:solidFill>
                <a:latin typeface="Arial"/>
              </a:rPr>
              <a:t>.</a:t>
            </a:r>
          </a:p>
        </p:txBody>
      </p:sp>
      <p:sp>
        <p:nvSpPr>
          <p:cNvPr id="5" name="TextBox 4"/>
          <p:cNvSpPr txBox="1"/>
          <p:nvPr/>
        </p:nvSpPr>
        <p:spPr>
          <a:xfrm>
            <a:off x="795528" y="914400"/>
            <a:ext cx="10789920" cy="252377"/>
          </a:xfrm>
          <a:prstGeom prst="rect">
            <a:avLst/>
          </a:prstGeom>
          <a:noFill/>
        </p:spPr>
        <p:txBody>
          <a:bodyPr wrap="square" lIns="36576" tIns="18288" rIns="36576" bIns="18288" anchor="t">
            <a:spAutoFit/>
          </a:bodyPr>
          <a:lstStyle/>
          <a:p>
            <a:pPr algn="l">
              <a:spcAft>
                <a:spcPts val="400"/>
              </a:spcAft>
            </a:pPr>
            <a:r>
              <a:rPr sz="1400" b="0" i="1">
                <a:solidFill>
                  <a:srgbClr val="6C757D"/>
                </a:solidFill>
                <a:latin typeface="Arial"/>
              </a:rPr>
              <a:t>Battery charge through the 7–11 pm cut, straight from our simulation engine</a:t>
            </a:r>
            <a:endParaRPr lang="en-US" sz="1400" b="0" i="1">
              <a:solidFill>
                <a:srgbClr val="6C757D"/>
              </a:solidFill>
              <a:latin typeface="Arial"/>
              <a:cs typeface="Arial"/>
            </a:endParaRPr>
          </a:p>
        </p:txBody>
      </p:sp>
      <p:sp>
        <p:nvSpPr>
          <p:cNvPr id="6" name="Rectangle 5"/>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655" y="6570565"/>
            <a:ext cx="914400" cy="190821"/>
          </a:xfrm>
          <a:prstGeom prst="rect">
            <a:avLst/>
          </a:prstGeom>
          <a:noFill/>
        </p:spPr>
        <p:txBody>
          <a:bodyPr wrap="square" lIns="36576" tIns="18288" rIns="36576" bIns="18288" anchor="ctr">
            <a:spAutoFit/>
          </a:bodyPr>
          <a:lstStyle/>
          <a:p>
            <a:pPr algn="r">
              <a:spcAft>
                <a:spcPts val="400"/>
              </a:spcAft>
            </a:pPr>
            <a:r>
              <a:rPr lang="en-US" sz="1000" dirty="0">
                <a:solidFill>
                  <a:srgbClr val="FFFFFF"/>
                </a:solidFill>
                <a:latin typeface="Arial"/>
                <a:cs typeface="Arial"/>
              </a:rPr>
              <a:t>9</a:t>
            </a:r>
            <a:endParaRPr lang="en-US" sz="1000" b="0" i="0" dirty="0">
              <a:solidFill>
                <a:srgbClr val="FFFFFF"/>
              </a:solidFill>
              <a:latin typeface="Arial"/>
              <a:cs typeface="Arial"/>
            </a:endParaRPr>
          </a:p>
        </p:txBody>
      </p:sp>
      <p:graphicFrame>
        <p:nvGraphicFramePr>
          <p:cNvPr id="9" name="Chart 8"/>
          <p:cNvGraphicFramePr>
            <a:graphicFrameLocks noGrp="1"/>
          </p:cNvGraphicFramePr>
          <p:nvPr/>
        </p:nvGraphicFramePr>
        <p:xfrm>
          <a:off x="548640" y="1417320"/>
          <a:ext cx="8138160" cy="4800600"/>
        </p:xfrm>
        <a:graphic>
          <a:graphicData uri="http://schemas.openxmlformats.org/drawingml/2006/chart">
            <c:chart xmlns:c="http://schemas.openxmlformats.org/drawingml/2006/chart" xmlns:r="http://schemas.openxmlformats.org/officeDocument/2006/relationships" r:id="rId3"/>
          </a:graphicData>
        </a:graphic>
      </p:graphicFrame>
      <p:sp>
        <p:nvSpPr>
          <p:cNvPr id="10" name="Oval 9"/>
          <p:cNvSpPr/>
          <p:nvPr/>
        </p:nvSpPr>
        <p:spPr>
          <a:xfrm>
            <a:off x="4042714" y="3535641"/>
            <a:ext cx="146304" cy="146304"/>
          </a:xfrm>
          <a:prstGeom prst="ellipse">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07306" y="2740113"/>
            <a:ext cx="2057400" cy="640080"/>
          </a:xfrm>
          <a:prstGeom prst="rect">
            <a:avLst/>
          </a:prstGeom>
          <a:noFill/>
        </p:spPr>
        <p:txBody>
          <a:bodyPr wrap="square" lIns="36576" tIns="18288" rIns="36576" bIns="18288" anchor="t">
            <a:spAutoFit/>
          </a:bodyPr>
          <a:lstStyle/>
          <a:p>
            <a:pPr algn="l">
              <a:spcAft>
                <a:spcPts val="400"/>
              </a:spcAft>
            </a:pPr>
            <a:r>
              <a:rPr sz="1200" b="1" i="0">
                <a:solidFill>
                  <a:srgbClr val="B8860B"/>
                </a:solidFill>
                <a:latin typeface="Arial"/>
              </a:rPr>
              <a:t>8:24 pm · fans &amp; TV deferred
(T2 at 55 %)</a:t>
            </a:r>
          </a:p>
        </p:txBody>
      </p:sp>
      <p:sp>
        <p:nvSpPr>
          <p:cNvPr id="12" name="Oval 11"/>
          <p:cNvSpPr/>
          <p:nvPr/>
        </p:nvSpPr>
        <p:spPr>
          <a:xfrm>
            <a:off x="6393738" y="4829403"/>
            <a:ext cx="146304" cy="146304"/>
          </a:xfrm>
          <a:prstGeom prst="ellipse">
            <a:avLst/>
          </a:prstGeom>
          <a:solidFill>
            <a:srgbClr val="D6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18050" y="5039715"/>
            <a:ext cx="2194560" cy="640080"/>
          </a:xfrm>
          <a:prstGeom prst="rect">
            <a:avLst/>
          </a:prstGeom>
          <a:noFill/>
        </p:spPr>
        <p:txBody>
          <a:bodyPr wrap="square" lIns="36576" tIns="18288" rIns="36576" bIns="18288" anchor="t">
            <a:spAutoFit/>
          </a:bodyPr>
          <a:lstStyle/>
          <a:p>
            <a:pPr algn="l">
              <a:spcAft>
                <a:spcPts val="400"/>
              </a:spcAft>
            </a:pPr>
            <a:r>
              <a:rPr sz="1200" b="1" i="0">
                <a:solidFill>
                  <a:srgbClr val="D63A4F"/>
                </a:solidFill>
                <a:latin typeface="Arial"/>
              </a:rPr>
              <a:t>10:03 pm · Home 6 cut-off:
fridge, router, lights OFF</a:t>
            </a:r>
          </a:p>
        </p:txBody>
      </p:sp>
      <p:sp>
        <p:nvSpPr>
          <p:cNvPr id="14" name="Oval 13"/>
          <p:cNvSpPr/>
          <p:nvPr/>
        </p:nvSpPr>
        <p:spPr>
          <a:xfrm>
            <a:off x="7216597" y="4090111"/>
            <a:ext cx="146304" cy="146304"/>
          </a:xfrm>
          <a:prstGeom prst="ellipse">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92469" y="4346143"/>
            <a:ext cx="2377440" cy="640080"/>
          </a:xfrm>
          <a:prstGeom prst="rect">
            <a:avLst/>
          </a:prstGeom>
          <a:noFill/>
        </p:spPr>
        <p:txBody>
          <a:bodyPr wrap="square" lIns="36576" tIns="18288" rIns="36576" bIns="18288" anchor="t">
            <a:spAutoFit/>
          </a:bodyPr>
          <a:lstStyle/>
          <a:p>
            <a:pPr algn="l">
              <a:spcAft>
                <a:spcPts val="400"/>
              </a:spcAft>
            </a:pPr>
            <a:r>
              <a:rPr sz="1200" b="1" i="0">
                <a:solidFill>
                  <a:srgbClr val="F39200"/>
                </a:solidFill>
                <a:latin typeface="Arial"/>
              </a:rPr>
              <a:t>10:37 pm · heavy sockets shed
(T3 at 40 %)</a:t>
            </a:r>
          </a:p>
        </p:txBody>
      </p:sp>
      <p:sp>
        <p:nvSpPr>
          <p:cNvPr id="16" name="TextBox 15"/>
          <p:cNvSpPr txBox="1"/>
          <p:nvPr/>
        </p:nvSpPr>
        <p:spPr>
          <a:xfrm>
            <a:off x="8961120" y="1463040"/>
            <a:ext cx="2834640" cy="731520"/>
          </a:xfrm>
          <a:prstGeom prst="rect">
            <a:avLst/>
          </a:prstGeom>
          <a:noFill/>
        </p:spPr>
        <p:txBody>
          <a:bodyPr wrap="square" lIns="36576" tIns="18288" rIns="36576" bIns="18288" anchor="t">
            <a:spAutoFit/>
          </a:bodyPr>
          <a:lstStyle/>
          <a:p>
            <a:pPr algn="l">
              <a:spcAft>
                <a:spcPts val="400"/>
              </a:spcAft>
            </a:pPr>
            <a:r>
              <a:rPr sz="3600" b="1" i="0">
                <a:solidFill>
                  <a:srgbClr val="D63A4F"/>
                </a:solidFill>
                <a:latin typeface="Arial"/>
              </a:rPr>
              <a:t>57 min</a:t>
            </a:r>
          </a:p>
        </p:txBody>
      </p:sp>
      <p:sp>
        <p:nvSpPr>
          <p:cNvPr id="17" name="TextBox 16"/>
          <p:cNvSpPr txBox="1"/>
          <p:nvPr/>
        </p:nvSpPr>
        <p:spPr>
          <a:xfrm>
            <a:off x="8961120" y="2176272"/>
            <a:ext cx="2834640" cy="731520"/>
          </a:xfrm>
          <a:prstGeom prst="rect">
            <a:avLst/>
          </a:prstGeom>
          <a:noFill/>
        </p:spPr>
        <p:txBody>
          <a:bodyPr wrap="square" lIns="36576" tIns="18288" rIns="36576" bIns="18288" anchor="t">
            <a:spAutoFit/>
          </a:bodyPr>
          <a:lstStyle/>
          <a:p>
            <a:pPr algn="l">
              <a:spcAft>
                <a:spcPts val="400"/>
              </a:spcAft>
            </a:pPr>
            <a:r>
              <a:rPr sz="1300" b="0" i="0">
                <a:solidFill>
                  <a:srgbClr val="221E1F"/>
                </a:solidFill>
                <a:latin typeface="Arial"/>
              </a:rPr>
              <a:t>Home 6 sat in the dark until mains returned at 11 pm</a:t>
            </a:r>
          </a:p>
        </p:txBody>
      </p:sp>
      <p:sp>
        <p:nvSpPr>
          <p:cNvPr id="18" name="TextBox 17"/>
          <p:cNvSpPr txBox="1"/>
          <p:nvPr/>
        </p:nvSpPr>
        <p:spPr>
          <a:xfrm>
            <a:off x="8961120" y="2926080"/>
            <a:ext cx="2834640" cy="731520"/>
          </a:xfrm>
          <a:prstGeom prst="rect">
            <a:avLst/>
          </a:prstGeom>
          <a:noFill/>
        </p:spPr>
        <p:txBody>
          <a:bodyPr wrap="square" lIns="36576" tIns="18288" rIns="36576" bIns="18288" anchor="t">
            <a:spAutoFit/>
          </a:bodyPr>
          <a:lstStyle/>
          <a:p>
            <a:pPr algn="l">
              <a:spcAft>
                <a:spcPts val="400"/>
              </a:spcAft>
            </a:pPr>
            <a:r>
              <a:rPr sz="3600" b="1" i="0">
                <a:solidFill>
                  <a:srgbClr val="1E9E5A"/>
                </a:solidFill>
                <a:latin typeface="Arial"/>
              </a:rPr>
              <a:t>0 min</a:t>
            </a:r>
          </a:p>
        </p:txBody>
      </p:sp>
      <p:sp>
        <p:nvSpPr>
          <p:cNvPr id="19" name="TextBox 18"/>
          <p:cNvSpPr txBox="1"/>
          <p:nvPr/>
        </p:nvSpPr>
        <p:spPr>
          <a:xfrm>
            <a:off x="8961120" y="3639312"/>
            <a:ext cx="2834640" cy="731520"/>
          </a:xfrm>
          <a:prstGeom prst="rect">
            <a:avLst/>
          </a:prstGeom>
          <a:noFill/>
        </p:spPr>
        <p:txBody>
          <a:bodyPr wrap="square" lIns="36576" tIns="18288" rIns="36576" bIns="18288" anchor="t">
            <a:spAutoFit/>
          </a:bodyPr>
          <a:lstStyle/>
          <a:p>
            <a:pPr algn="l">
              <a:spcAft>
                <a:spcPts val="400"/>
              </a:spcAft>
            </a:pPr>
            <a:r>
              <a:rPr sz="1300" b="0" i="0">
                <a:solidFill>
                  <a:srgbClr val="221E1F"/>
                </a:solidFill>
                <a:latin typeface="Arial"/>
              </a:rPr>
              <a:t>Home 1's fridge, router and hall light were never off</a:t>
            </a:r>
          </a:p>
        </p:txBody>
      </p:sp>
      <p:sp>
        <p:nvSpPr>
          <p:cNvPr id="20" name="TextBox 19"/>
          <p:cNvSpPr txBox="1"/>
          <p:nvPr/>
        </p:nvSpPr>
        <p:spPr>
          <a:xfrm>
            <a:off x="8961120" y="4434840"/>
            <a:ext cx="2834640" cy="1828800"/>
          </a:xfrm>
          <a:prstGeom prst="rect">
            <a:avLst/>
          </a:prstGeom>
          <a:noFill/>
        </p:spPr>
        <p:txBody>
          <a:bodyPr wrap="square" lIns="36576" tIns="18288" rIns="36576" bIns="18288" anchor="t">
            <a:spAutoFit/>
          </a:bodyPr>
          <a:lstStyle/>
          <a:p>
            <a:pPr algn="l">
              <a:spcAft>
                <a:spcPts val="400"/>
              </a:spcAft>
            </a:pPr>
            <a:r>
              <a:rPr sz="1500" b="1" i="0">
                <a:solidFill>
                  <a:srgbClr val="221E1F"/>
                </a:solidFill>
                <a:latin typeface="Arial"/>
              </a:rPr>
              <a:t>Coil off = load on.</a:t>
            </a:r>
          </a:p>
          <a:p>
            <a:pPr algn="l">
              <a:spcAft>
                <a:spcPts val="400"/>
              </a:spcAft>
            </a:pPr>
            <a:r>
              <a:rPr sz="1300" b="0" i="0">
                <a:solidFill>
                  <a:srgbClr val="6C757D"/>
                </a:solidFill>
                <a:latin typeface="Arial"/>
              </a:rPr>
              <a:t>NC contactors, a hardware supervisory timer and a medical jumper: any crash or reset brings every load back.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000104"/>
                </a:solidFill>
                <a:latin typeface="Arial"/>
              </a:rPr>
              <a:t>One sensor saves energy and catches a misbehaving grid.</a:t>
            </a:r>
          </a:p>
        </p:txBody>
      </p:sp>
      <p:sp>
        <p:nvSpPr>
          <p:cNvPr id="5" name="TextBox 4"/>
          <p:cNvSpPr txBox="1"/>
          <p:nvPr/>
        </p:nvSpPr>
        <p:spPr>
          <a:xfrm>
            <a:off x="795528" y="914400"/>
            <a:ext cx="10789920" cy="252377"/>
          </a:xfrm>
          <a:prstGeom prst="rect">
            <a:avLst/>
          </a:prstGeom>
          <a:noFill/>
        </p:spPr>
        <p:txBody>
          <a:bodyPr wrap="square" lIns="36576" tIns="18288" rIns="36576" bIns="18288" anchor="t">
            <a:spAutoFit/>
          </a:bodyPr>
          <a:lstStyle/>
          <a:p>
            <a:pPr algn="l">
              <a:spcAft>
                <a:spcPts val="400"/>
              </a:spcAft>
            </a:pPr>
            <a:r>
              <a:rPr sz="1400" b="0" i="1">
                <a:solidFill>
                  <a:srgbClr val="6C757D"/>
                </a:solidFill>
                <a:latin typeface="Arial"/>
              </a:rPr>
              <a:t>Both run on the metering front-end (ATM90E32AS) and the isolated voltage tap (AMC1311) </a:t>
            </a:r>
            <a:endParaRPr lang="en-US"/>
          </a:p>
        </p:txBody>
      </p:sp>
      <p:sp>
        <p:nvSpPr>
          <p:cNvPr id="6" name="Rectangle 5"/>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655" y="6570565"/>
            <a:ext cx="914400" cy="190821"/>
          </a:xfrm>
          <a:prstGeom prst="rect">
            <a:avLst/>
          </a:prstGeom>
          <a:noFill/>
        </p:spPr>
        <p:txBody>
          <a:bodyPr wrap="square" lIns="36576" tIns="18288" rIns="36576" bIns="18288" anchor="ctr">
            <a:spAutoFit/>
          </a:bodyPr>
          <a:lstStyle/>
          <a:p>
            <a:pPr algn="r">
              <a:spcAft>
                <a:spcPts val="400"/>
              </a:spcAft>
            </a:pPr>
            <a:r>
              <a:rPr lang="en-US" sz="1000" dirty="0">
                <a:solidFill>
                  <a:srgbClr val="FFFFFF"/>
                </a:solidFill>
                <a:latin typeface="Arial"/>
              </a:rPr>
              <a:t>10</a:t>
            </a:r>
            <a:endParaRPr sz="1000" b="0" i="0" dirty="0">
              <a:solidFill>
                <a:srgbClr val="FFFFFF"/>
              </a:solidFill>
              <a:latin typeface="Arial"/>
            </a:endParaRPr>
          </a:p>
        </p:txBody>
      </p:sp>
      <p:pic>
        <p:nvPicPr>
          <p:cNvPr id="9" name="Picture 8" descr="nilm_events.png"/>
          <p:cNvPicPr>
            <a:picLocks noChangeAspect="1"/>
          </p:cNvPicPr>
          <p:nvPr/>
        </p:nvPicPr>
        <p:blipFill>
          <a:blip r:embed="rId3"/>
          <a:stretch>
            <a:fillRect/>
          </a:stretch>
        </p:blipFill>
        <p:spPr>
          <a:xfrm>
            <a:off x="548640" y="1915026"/>
            <a:ext cx="5577840" cy="2262497"/>
          </a:xfrm>
          <a:prstGeom prst="rect">
            <a:avLst/>
          </a:prstGeom>
        </p:spPr>
      </p:pic>
      <p:pic>
        <p:nvPicPr>
          <p:cNvPr id="10" name="Picture 9" descr="pq_dip.png"/>
          <p:cNvPicPr>
            <a:picLocks noChangeAspect="1"/>
          </p:cNvPicPr>
          <p:nvPr/>
        </p:nvPicPr>
        <p:blipFill>
          <a:blip r:embed="rId4"/>
          <a:stretch>
            <a:fillRect/>
          </a:stretch>
        </p:blipFill>
        <p:spPr>
          <a:xfrm>
            <a:off x="6172200" y="1918277"/>
            <a:ext cx="5577840" cy="2198485"/>
          </a:xfrm>
          <a:prstGeom prst="rect">
            <a:avLst/>
          </a:prstGeom>
        </p:spPr>
      </p:pic>
      <p:sp>
        <p:nvSpPr>
          <p:cNvPr id="11" name="TextBox 10"/>
          <p:cNvSpPr txBox="1"/>
          <p:nvPr/>
        </p:nvSpPr>
        <p:spPr>
          <a:xfrm>
            <a:off x="640080" y="4709160"/>
            <a:ext cx="5394960" cy="1463040"/>
          </a:xfrm>
          <a:prstGeom prst="rect">
            <a:avLst/>
          </a:prstGeom>
          <a:noFill/>
        </p:spPr>
        <p:txBody>
          <a:bodyPr wrap="square" lIns="36576" tIns="18288" rIns="36576" bIns="18288" anchor="t">
            <a:spAutoFit/>
          </a:bodyPr>
          <a:lstStyle/>
          <a:p>
            <a:pPr algn="l">
              <a:spcAft>
                <a:spcPts val="400"/>
              </a:spcAft>
            </a:pPr>
            <a:r>
              <a:rPr sz="1600" b="1" i="0">
                <a:solidFill>
                  <a:srgbClr val="F39200"/>
                </a:solidFill>
                <a:latin typeface="Arial"/>
              </a:rPr>
              <a:t>Energy Coach  </a:t>
            </a:r>
            <a:r>
              <a:rPr sz="1400" b="0" i="0">
                <a:solidFill>
                  <a:srgbClr val="221E1F"/>
                </a:solidFill>
                <a:latin typeface="Arial"/>
              </a:rPr>
              <a:t>123 switch-ON/OFF events found in 3 h of whole-home power; each becomes a 13-number signature. Fridge F1 0.97, iron 1.00.</a:t>
            </a:r>
          </a:p>
        </p:txBody>
      </p:sp>
      <p:sp>
        <p:nvSpPr>
          <p:cNvPr id="12" name="TextBox 11"/>
          <p:cNvSpPr txBox="1"/>
          <p:nvPr/>
        </p:nvSpPr>
        <p:spPr>
          <a:xfrm>
            <a:off x="6263640" y="4709160"/>
            <a:ext cx="5394960" cy="1463040"/>
          </a:xfrm>
          <a:prstGeom prst="rect">
            <a:avLst/>
          </a:prstGeom>
          <a:noFill/>
        </p:spPr>
        <p:txBody>
          <a:bodyPr wrap="square" lIns="36576" tIns="18288" rIns="36576" bIns="18288" anchor="t">
            <a:spAutoFit/>
          </a:bodyPr>
          <a:lstStyle/>
          <a:p>
            <a:pPr algn="l">
              <a:spcAft>
                <a:spcPts val="400"/>
              </a:spcAft>
            </a:pPr>
            <a:r>
              <a:rPr sz="1600" b="1" i="0">
                <a:solidFill>
                  <a:srgbClr val="D63A4F"/>
                </a:solidFill>
                <a:latin typeface="Arial"/>
              </a:rPr>
              <a:t>Grid Shield  </a:t>
            </a:r>
            <a:r>
              <a:rPr sz="1400" b="0" i="0">
                <a:solidFill>
                  <a:srgbClr val="221E1F"/>
                </a:solidFill>
                <a:latin typeface="Arial"/>
              </a:rPr>
              <a:t>a 120 ms sag to 0.55 pu measured as 0.54; a 100 ms swell to 1.15 pu as 1.16. 13 / 13 dips caught. Logged, dated, signed.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74320"/>
            <a:ext cx="10881360" cy="452432"/>
          </a:xfrm>
          <a:prstGeom prst="rect">
            <a:avLst/>
          </a:prstGeom>
          <a:noFill/>
        </p:spPr>
        <p:txBody>
          <a:bodyPr wrap="square" lIns="36576" tIns="18288" rIns="36576" bIns="18288" anchor="t">
            <a:spAutoFit/>
          </a:bodyPr>
          <a:lstStyle/>
          <a:p>
            <a:pPr algn="l">
              <a:spcAft>
                <a:spcPts val="400"/>
              </a:spcAft>
            </a:pPr>
            <a:r>
              <a:rPr sz="2700" b="1" i="0">
                <a:solidFill>
                  <a:srgbClr val="FFFFFF"/>
                </a:solidFill>
                <a:latin typeface="Arial"/>
              </a:rPr>
              <a:t>Let's watch it happen live.</a:t>
            </a:r>
          </a:p>
        </p:txBody>
      </p:sp>
      <p:sp>
        <p:nvSpPr>
          <p:cNvPr id="6" name="TextBox 5"/>
          <p:cNvSpPr txBox="1"/>
          <p:nvPr/>
        </p:nvSpPr>
        <p:spPr>
          <a:xfrm>
            <a:off x="795528" y="914400"/>
            <a:ext cx="10789920" cy="252377"/>
          </a:xfrm>
          <a:prstGeom prst="rect">
            <a:avLst/>
          </a:prstGeom>
          <a:noFill/>
        </p:spPr>
        <p:txBody>
          <a:bodyPr wrap="square" lIns="36576" tIns="18288" rIns="36576" bIns="18288" anchor="t">
            <a:spAutoFit/>
          </a:bodyPr>
          <a:lstStyle/>
          <a:p>
            <a:pPr>
              <a:spcAft>
                <a:spcPts val="400"/>
              </a:spcAft>
            </a:pPr>
            <a:r>
              <a:rPr lang="en-US" sz="1400" i="1">
                <a:solidFill>
                  <a:srgbClr val="A9B0BC"/>
                </a:solidFill>
                <a:latin typeface="Arial"/>
              </a:rPr>
              <a:t>Three</a:t>
            </a:r>
            <a:r>
              <a:rPr sz="1400" b="0" i="1" dirty="0">
                <a:solidFill>
                  <a:srgbClr val="A9B0BC"/>
                </a:solidFill>
                <a:latin typeface="Arial"/>
              </a:rPr>
              <a:t> moments to watch for:</a:t>
            </a:r>
          </a:p>
        </p:txBody>
      </p:sp>
      <p:sp>
        <p:nvSpPr>
          <p:cNvPr id="7" name="Rectangle 6"/>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9" name="TextBox 8"/>
          <p:cNvSpPr txBox="1"/>
          <p:nvPr/>
        </p:nvSpPr>
        <p:spPr>
          <a:xfrm>
            <a:off x="10728655" y="6570565"/>
            <a:ext cx="914400" cy="190821"/>
          </a:xfrm>
          <a:prstGeom prst="rect">
            <a:avLst/>
          </a:prstGeom>
          <a:noFill/>
        </p:spPr>
        <p:txBody>
          <a:bodyPr wrap="square" lIns="36576" tIns="18288" rIns="36576" bIns="18288" anchor="ctr">
            <a:spAutoFit/>
          </a:bodyPr>
          <a:lstStyle/>
          <a:p>
            <a:pPr algn="r">
              <a:spcAft>
                <a:spcPts val="400"/>
              </a:spcAft>
            </a:pPr>
            <a:r>
              <a:rPr lang="en-US" sz="1000" dirty="0">
                <a:solidFill>
                  <a:srgbClr val="FFFFFF"/>
                </a:solidFill>
                <a:latin typeface="Arial"/>
              </a:rPr>
              <a:t>11</a:t>
            </a:r>
            <a:endParaRPr sz="1000" b="0" i="0" dirty="0">
              <a:solidFill>
                <a:srgbClr val="FFFFFF"/>
              </a:solidFill>
              <a:latin typeface="Arial"/>
            </a:endParaRPr>
          </a:p>
        </p:txBody>
      </p:sp>
      <p:pic>
        <p:nvPicPr>
          <p:cNvPr id="10" name="Picture 9" descr="v_overview_outage.png"/>
          <p:cNvPicPr>
            <a:picLocks noChangeAspect="1"/>
          </p:cNvPicPr>
          <p:nvPr/>
        </p:nvPicPr>
        <p:blipFill>
          <a:blip r:embed="rId3"/>
          <a:stretch>
            <a:fillRect/>
          </a:stretch>
        </p:blipFill>
        <p:spPr>
          <a:xfrm>
            <a:off x="548640" y="1740217"/>
            <a:ext cx="3566160" cy="2005965"/>
          </a:xfrm>
          <a:prstGeom prst="rect">
            <a:avLst/>
          </a:prstGeom>
          <a:ln w="19050">
            <a:solidFill>
              <a:srgbClr val="FDC300"/>
            </a:solidFill>
          </a:ln>
        </p:spPr>
      </p:pic>
      <p:sp>
        <p:nvSpPr>
          <p:cNvPr id="11" name="TextBox 10"/>
          <p:cNvSpPr txBox="1"/>
          <p:nvPr/>
        </p:nvSpPr>
        <p:spPr>
          <a:xfrm>
            <a:off x="548640" y="4114800"/>
            <a:ext cx="3566160" cy="457200"/>
          </a:xfrm>
          <a:prstGeom prst="rect">
            <a:avLst/>
          </a:prstGeom>
          <a:noFill/>
        </p:spPr>
        <p:txBody>
          <a:bodyPr wrap="square" lIns="36576" tIns="18288" rIns="36576" bIns="18288" anchor="t">
            <a:spAutoFit/>
          </a:bodyPr>
          <a:lstStyle/>
          <a:p>
            <a:pPr algn="l">
              <a:spcAft>
                <a:spcPts val="400"/>
              </a:spcAft>
            </a:pPr>
            <a:r>
              <a:rPr sz="1900" b="1" i="0">
                <a:solidFill>
                  <a:srgbClr val="FDC300"/>
                </a:solidFill>
                <a:latin typeface="Arial"/>
              </a:rPr>
              <a:t>1 · The village</a:t>
            </a:r>
          </a:p>
        </p:txBody>
      </p:sp>
      <p:sp>
        <p:nvSpPr>
          <p:cNvPr id="12" name="TextBox 11"/>
          <p:cNvSpPr txBox="1"/>
          <p:nvPr/>
        </p:nvSpPr>
        <p:spPr>
          <a:xfrm>
            <a:off x="548640" y="4617720"/>
            <a:ext cx="3566160" cy="1280160"/>
          </a:xfrm>
          <a:prstGeom prst="rect">
            <a:avLst/>
          </a:prstGeom>
          <a:noFill/>
        </p:spPr>
        <p:txBody>
          <a:bodyPr wrap="square" lIns="36576" tIns="18288" rIns="36576" bIns="18288" anchor="t">
            <a:spAutoFit/>
          </a:bodyPr>
          <a:lstStyle/>
          <a:p>
            <a:pPr algn="l">
              <a:spcAft>
                <a:spcPts val="400"/>
              </a:spcAft>
            </a:pPr>
            <a:r>
              <a:rPr sz="1400" b="0" i="0">
                <a:solidFill>
                  <a:srgbClr val="FFFFFF"/>
                </a:solidFill>
                <a:latin typeface="Arial"/>
              </a:rPr>
              <a:t>Feeder cuts at 7 pm. Watch Home 6 go dark at 10:03 while its twin stays lit.</a:t>
            </a:r>
          </a:p>
        </p:txBody>
      </p:sp>
      <p:pic>
        <p:nvPicPr>
          <p:cNvPr id="13" name="Picture 12" descr="b_transfer_slowmo.png"/>
          <p:cNvPicPr>
            <a:picLocks noChangeAspect="1"/>
          </p:cNvPicPr>
          <p:nvPr/>
        </p:nvPicPr>
        <p:blipFill>
          <a:blip r:embed="rId4"/>
          <a:stretch>
            <a:fillRect/>
          </a:stretch>
        </p:blipFill>
        <p:spPr>
          <a:xfrm>
            <a:off x="4343400" y="1740217"/>
            <a:ext cx="3566160" cy="2005965"/>
          </a:xfrm>
          <a:prstGeom prst="rect">
            <a:avLst/>
          </a:prstGeom>
          <a:ln w="19050">
            <a:solidFill>
              <a:srgbClr val="FDC300"/>
            </a:solidFill>
          </a:ln>
        </p:spPr>
      </p:pic>
      <p:sp>
        <p:nvSpPr>
          <p:cNvPr id="14" name="TextBox 13"/>
          <p:cNvSpPr txBox="1"/>
          <p:nvPr/>
        </p:nvSpPr>
        <p:spPr>
          <a:xfrm>
            <a:off x="4343400" y="4114800"/>
            <a:ext cx="3566160" cy="457200"/>
          </a:xfrm>
          <a:prstGeom prst="rect">
            <a:avLst/>
          </a:prstGeom>
          <a:noFill/>
        </p:spPr>
        <p:txBody>
          <a:bodyPr wrap="square" lIns="36576" tIns="18288" rIns="36576" bIns="18288" anchor="t">
            <a:spAutoFit/>
          </a:bodyPr>
          <a:lstStyle/>
          <a:p>
            <a:pPr algn="l">
              <a:spcAft>
                <a:spcPts val="400"/>
              </a:spcAft>
            </a:pPr>
            <a:r>
              <a:rPr sz="1900" b="1" i="0">
                <a:solidFill>
                  <a:srgbClr val="FDC300"/>
                </a:solidFill>
                <a:latin typeface="Arial"/>
              </a:rPr>
              <a:t>2 · Flip the MCB</a:t>
            </a:r>
          </a:p>
        </p:txBody>
      </p:sp>
      <p:sp>
        <p:nvSpPr>
          <p:cNvPr id="15" name="TextBox 14"/>
          <p:cNvSpPr txBox="1"/>
          <p:nvPr/>
        </p:nvSpPr>
        <p:spPr>
          <a:xfrm>
            <a:off x="4343400" y="4617720"/>
            <a:ext cx="3566160" cy="1280160"/>
          </a:xfrm>
          <a:prstGeom prst="rect">
            <a:avLst/>
          </a:prstGeom>
          <a:noFill/>
        </p:spPr>
        <p:txBody>
          <a:bodyPr wrap="square" lIns="36576" tIns="18288" rIns="36576" bIns="18288" anchor="t">
            <a:spAutoFit/>
          </a:bodyPr>
          <a:lstStyle/>
          <a:p>
            <a:pPr algn="l">
              <a:spcAft>
                <a:spcPts val="400"/>
              </a:spcAft>
            </a:pPr>
            <a:r>
              <a:rPr sz="1400" b="0" i="0">
                <a:solidFill>
                  <a:srgbClr val="FFFFFF"/>
                </a:solidFill>
                <a:latin typeface="Arial"/>
              </a:rPr>
              <a:t>Relay swings in slow motion: 8 ms gap on the scope, outage confirmed in 1.5 s.</a:t>
            </a:r>
          </a:p>
        </p:txBody>
      </p:sp>
      <p:pic>
        <p:nvPicPr>
          <p:cNvPr id="16" name="Picture 15" descr="b_failsafe_reset.png"/>
          <p:cNvPicPr>
            <a:picLocks noChangeAspect="1"/>
          </p:cNvPicPr>
          <p:nvPr/>
        </p:nvPicPr>
        <p:blipFill>
          <a:blip r:embed="rId5"/>
          <a:stretch>
            <a:fillRect/>
          </a:stretch>
        </p:blipFill>
        <p:spPr>
          <a:xfrm>
            <a:off x="8138160" y="1740217"/>
            <a:ext cx="3566160" cy="2005965"/>
          </a:xfrm>
          <a:prstGeom prst="rect">
            <a:avLst/>
          </a:prstGeom>
          <a:ln w="19050">
            <a:solidFill>
              <a:srgbClr val="FDC300"/>
            </a:solidFill>
          </a:ln>
        </p:spPr>
      </p:pic>
      <p:sp>
        <p:nvSpPr>
          <p:cNvPr id="17" name="TextBox 16"/>
          <p:cNvSpPr txBox="1"/>
          <p:nvPr/>
        </p:nvSpPr>
        <p:spPr>
          <a:xfrm>
            <a:off x="8138160" y="4114800"/>
            <a:ext cx="3566160" cy="457200"/>
          </a:xfrm>
          <a:prstGeom prst="rect">
            <a:avLst/>
          </a:prstGeom>
          <a:noFill/>
        </p:spPr>
        <p:txBody>
          <a:bodyPr wrap="square" lIns="36576" tIns="18288" rIns="36576" bIns="18288" anchor="t">
            <a:spAutoFit/>
          </a:bodyPr>
          <a:lstStyle/>
          <a:p>
            <a:pPr algn="l">
              <a:spcAft>
                <a:spcPts val="400"/>
              </a:spcAft>
            </a:pPr>
            <a:r>
              <a:rPr sz="1900" b="1" i="0">
                <a:solidFill>
                  <a:srgbClr val="FDC300"/>
                </a:solidFill>
                <a:latin typeface="Arial"/>
              </a:rPr>
              <a:t>3 · Crash it</a:t>
            </a:r>
          </a:p>
        </p:txBody>
      </p:sp>
      <p:sp>
        <p:nvSpPr>
          <p:cNvPr id="18" name="TextBox 17"/>
          <p:cNvSpPr txBox="1"/>
          <p:nvPr/>
        </p:nvSpPr>
        <p:spPr>
          <a:xfrm>
            <a:off x="8138160" y="4617720"/>
            <a:ext cx="3566160" cy="1280160"/>
          </a:xfrm>
          <a:prstGeom prst="rect">
            <a:avLst/>
          </a:prstGeom>
          <a:noFill/>
        </p:spPr>
        <p:txBody>
          <a:bodyPr wrap="square" lIns="36576" tIns="18288" rIns="36576" bIns="18288" anchor="t">
            <a:spAutoFit/>
          </a:bodyPr>
          <a:lstStyle/>
          <a:p>
            <a:pPr algn="l">
              <a:spcAft>
                <a:spcPts val="400"/>
              </a:spcAft>
            </a:pPr>
            <a:r>
              <a:rPr sz="1400" b="0" i="0">
                <a:solidFill>
                  <a:srgbClr val="FFFFFF"/>
                </a:solidFill>
                <a:latin typeface="Arial"/>
              </a:rPr>
              <a:t>Drop SoC below 40 % → the iron sheds. Reset the chip → every load comes back.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731520"/>
          </a:xfrm>
          <a:prstGeom prst="rect">
            <a:avLst/>
          </a:prstGeom>
          <a:noFill/>
        </p:spPr>
        <p:txBody>
          <a:bodyPr wrap="square" lIns="36576" tIns="18288" rIns="36576" bIns="18288" anchor="t">
            <a:spAutoFit/>
          </a:bodyPr>
          <a:lstStyle/>
          <a:p>
            <a:pPr algn="l"/>
            <a:r>
              <a:rPr sz="2700" b="1" i="0">
                <a:solidFill>
                  <a:srgbClr val="000104"/>
                </a:solidFill>
                <a:latin typeface="Arial"/>
              </a:rPr>
              <a:t>Built in, Sentinel costs about half as much.</a:t>
            </a:r>
          </a:p>
        </p:txBody>
      </p:sp>
      <p:sp>
        <p:nvSpPr>
          <p:cNvPr id="5" name="TextBox 4"/>
          <p:cNvSpPr txBox="1"/>
          <p:nvPr/>
        </p:nvSpPr>
        <p:spPr>
          <a:xfrm>
            <a:off x="795528" y="914400"/>
            <a:ext cx="10789920" cy="411480"/>
          </a:xfrm>
          <a:prstGeom prst="rect">
            <a:avLst/>
          </a:prstGeom>
          <a:noFill/>
        </p:spPr>
        <p:txBody>
          <a:bodyPr wrap="square" lIns="36576" tIns="18288" rIns="36576" bIns="18288" anchor="t">
            <a:spAutoFit/>
          </a:bodyPr>
          <a:lstStyle/>
          <a:p>
            <a:pPr algn="l"/>
            <a:r>
              <a:rPr sz="1400" b="0" i="1">
                <a:solidFill>
                  <a:srgbClr val="6C757D"/>
                </a:solidFill>
                <a:latin typeface="Arial"/>
              </a:rPr>
              <a:t>Same core board. The embedded version reuses what the inverter already has.</a:t>
            </a:r>
          </a:p>
        </p:txBody>
      </p:sp>
      <p:sp>
        <p:nvSpPr>
          <p:cNvPr id="6" name="Rectangle 5"/>
          <p:cNvSpPr/>
          <p:nvPr/>
        </p:nvSpPr>
        <p:spPr>
          <a:xfrm>
            <a:off x="0" y="6473952"/>
            <a:ext cx="12192000"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r>
              <a:rPr sz="1000" b="0" i="0">
                <a:solidFill>
                  <a:srgbClr val="FDC300"/>
                </a:solidFill>
                <a:latin typeface="Arial"/>
              </a:rPr>
              <a:t>V-Guard Sentinel  ·  Big Idea Tech 2026, Track 4  ·  Team Codey Tingle (TI3271)</a:t>
            </a:r>
          </a:p>
        </p:txBody>
      </p:sp>
      <p:sp>
        <p:nvSpPr>
          <p:cNvPr id="8" name="TextBox 7"/>
          <p:cNvSpPr txBox="1"/>
          <p:nvPr/>
        </p:nvSpPr>
        <p:spPr>
          <a:xfrm>
            <a:off x="10728960" y="6570565"/>
            <a:ext cx="914400" cy="190821"/>
          </a:xfrm>
          <a:prstGeom prst="rect">
            <a:avLst/>
          </a:prstGeom>
          <a:noFill/>
        </p:spPr>
        <p:txBody>
          <a:bodyPr wrap="square" lIns="36576" tIns="18288" rIns="36576" bIns="18288" anchor="ctr">
            <a:spAutoFit/>
          </a:bodyPr>
          <a:lstStyle/>
          <a:p>
            <a:pPr algn="r"/>
            <a:r>
              <a:rPr lang="en-US" sz="1000" dirty="0">
                <a:solidFill>
                  <a:srgbClr val="FFFFFF"/>
                </a:solidFill>
                <a:latin typeface="Arial"/>
              </a:rPr>
              <a:t>13</a:t>
            </a:r>
            <a:endParaRPr sz="1000" b="0" i="0" dirty="0">
              <a:solidFill>
                <a:srgbClr val="FFFFFF"/>
              </a:solidFill>
              <a:latin typeface="Arial"/>
            </a:endParaRPr>
          </a:p>
        </p:txBody>
      </p:sp>
      <p:sp>
        <p:nvSpPr>
          <p:cNvPr id="9" name="Rounded Rectangle 8"/>
          <p:cNvSpPr/>
          <p:nvPr/>
        </p:nvSpPr>
        <p:spPr>
          <a:xfrm>
            <a:off x="548640" y="1508760"/>
            <a:ext cx="5394960" cy="3063240"/>
          </a:xfrm>
          <a:prstGeom prst="roundRect">
            <a:avLst>
              <a:gd name="adj" fmla="val 8000"/>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691640"/>
            <a:ext cx="4754880" cy="411480"/>
          </a:xfrm>
          <a:prstGeom prst="rect">
            <a:avLst/>
          </a:prstGeom>
          <a:noFill/>
        </p:spPr>
        <p:txBody>
          <a:bodyPr wrap="square" lIns="36576" tIns="18288" rIns="36576" bIns="18288" anchor="t">
            <a:spAutoFit/>
          </a:bodyPr>
          <a:lstStyle/>
          <a:p>
            <a:pPr algn="l"/>
            <a:r>
              <a:rPr sz="1800" b="1" i="0">
                <a:solidFill>
                  <a:srgbClr val="FDC300"/>
                </a:solidFill>
                <a:latin typeface="Arial"/>
              </a:rPr>
              <a:t>RETROFIT</a:t>
            </a:r>
          </a:p>
        </p:txBody>
      </p:sp>
      <p:sp>
        <p:nvSpPr>
          <p:cNvPr id="11" name="TextBox 10"/>
          <p:cNvSpPr txBox="1"/>
          <p:nvPr/>
        </p:nvSpPr>
        <p:spPr>
          <a:xfrm>
            <a:off x="868680" y="2084831"/>
            <a:ext cx="4754880" cy="365760"/>
          </a:xfrm>
          <a:prstGeom prst="rect">
            <a:avLst/>
          </a:prstGeom>
          <a:noFill/>
        </p:spPr>
        <p:txBody>
          <a:bodyPr wrap="square" lIns="36576" tIns="18288" rIns="36576" bIns="18288" anchor="t">
            <a:spAutoFit/>
          </a:bodyPr>
          <a:lstStyle/>
          <a:p>
            <a:pPr algn="l"/>
            <a:r>
              <a:rPr sz="1300" b="0" i="0">
                <a:solidFill>
                  <a:srgbClr val="FFFFFF"/>
                </a:solidFill>
                <a:latin typeface="Arial"/>
              </a:rPr>
              <a:t>a box beside any inverter</a:t>
            </a:r>
          </a:p>
        </p:txBody>
      </p:sp>
      <p:sp>
        <p:nvSpPr>
          <p:cNvPr id="12" name="TextBox 11"/>
          <p:cNvSpPr txBox="1"/>
          <p:nvPr/>
        </p:nvSpPr>
        <p:spPr>
          <a:xfrm>
            <a:off x="868680" y="2560320"/>
            <a:ext cx="2194560" cy="731520"/>
          </a:xfrm>
          <a:prstGeom prst="rect">
            <a:avLst/>
          </a:prstGeom>
          <a:noFill/>
        </p:spPr>
        <p:txBody>
          <a:bodyPr wrap="square" lIns="36576" tIns="18288" rIns="36576" bIns="18288" anchor="ctr">
            <a:spAutoFit/>
          </a:bodyPr>
          <a:lstStyle/>
          <a:p>
            <a:pPr algn="l"/>
            <a:r>
              <a:rPr sz="1300" b="0" i="0">
                <a:solidFill>
                  <a:srgbClr val="FFFFFF"/>
                </a:solidFill>
                <a:latin typeface="Arial"/>
              </a:rPr>
              <a:t>Battery health</a:t>
            </a:r>
          </a:p>
          <a:p>
            <a:pPr algn="l"/>
            <a:r>
              <a:rPr sz="1300" b="0" i="0">
                <a:solidFill>
                  <a:srgbClr val="FFFFFF"/>
                </a:solidFill>
                <a:latin typeface="Arial"/>
              </a:rPr>
              <a:t>+ autopilot</a:t>
            </a:r>
          </a:p>
        </p:txBody>
      </p:sp>
      <p:sp>
        <p:nvSpPr>
          <p:cNvPr id="13" name="TextBox 12"/>
          <p:cNvSpPr txBox="1"/>
          <p:nvPr/>
        </p:nvSpPr>
        <p:spPr>
          <a:xfrm>
            <a:off x="2926080" y="2560320"/>
            <a:ext cx="2834640" cy="731520"/>
          </a:xfrm>
          <a:prstGeom prst="rect">
            <a:avLst/>
          </a:prstGeom>
          <a:noFill/>
        </p:spPr>
        <p:txBody>
          <a:bodyPr wrap="square" lIns="36576" tIns="18288" rIns="36576" bIns="18288" anchor="ctr">
            <a:spAutoFit/>
          </a:bodyPr>
          <a:lstStyle/>
          <a:p>
            <a:pPr algn="l"/>
            <a:r>
              <a:rPr sz="3200" b="1" i="0">
                <a:solidFill>
                  <a:srgbClr val="FDC300"/>
                </a:solidFill>
                <a:latin typeface="Arial"/>
              </a:rPr>
              <a:t>₹1,050</a:t>
            </a:r>
          </a:p>
        </p:txBody>
      </p:sp>
      <p:sp>
        <p:nvSpPr>
          <p:cNvPr id="14" name="TextBox 13"/>
          <p:cNvSpPr txBox="1"/>
          <p:nvPr/>
        </p:nvSpPr>
        <p:spPr>
          <a:xfrm>
            <a:off x="868680" y="3337560"/>
            <a:ext cx="2194560" cy="731520"/>
          </a:xfrm>
          <a:prstGeom prst="rect">
            <a:avLst/>
          </a:prstGeom>
          <a:noFill/>
        </p:spPr>
        <p:txBody>
          <a:bodyPr wrap="square" lIns="36576" tIns="18288" rIns="36576" bIns="18288" anchor="ctr">
            <a:spAutoFit/>
          </a:bodyPr>
          <a:lstStyle/>
          <a:p>
            <a:pPr algn="l"/>
            <a:r>
              <a:rPr sz="1300" b="0" i="0">
                <a:solidFill>
                  <a:srgbClr val="FFFFFF"/>
                </a:solidFill>
                <a:latin typeface="Arial"/>
              </a:rPr>
              <a:t>+ Energy Coach</a:t>
            </a:r>
          </a:p>
          <a:p>
            <a:pPr algn="l"/>
            <a:r>
              <a:rPr sz="1300" b="0" i="0">
                <a:solidFill>
                  <a:srgbClr val="FFFFFF"/>
                </a:solidFill>
                <a:latin typeface="Arial"/>
              </a:rPr>
              <a:t>+ Grid Shield</a:t>
            </a:r>
          </a:p>
        </p:txBody>
      </p:sp>
      <p:sp>
        <p:nvSpPr>
          <p:cNvPr id="15" name="TextBox 14"/>
          <p:cNvSpPr txBox="1"/>
          <p:nvPr/>
        </p:nvSpPr>
        <p:spPr>
          <a:xfrm>
            <a:off x="2926080" y="3337560"/>
            <a:ext cx="2834640" cy="731520"/>
          </a:xfrm>
          <a:prstGeom prst="rect">
            <a:avLst/>
          </a:prstGeom>
          <a:noFill/>
        </p:spPr>
        <p:txBody>
          <a:bodyPr wrap="square" lIns="36576" tIns="18288" rIns="36576" bIns="18288" anchor="ctr">
            <a:spAutoFit/>
          </a:bodyPr>
          <a:lstStyle/>
          <a:p>
            <a:pPr algn="l"/>
            <a:r>
              <a:rPr sz="3200" b="1" i="0">
                <a:solidFill>
                  <a:srgbClr val="FDC300"/>
                </a:solidFill>
                <a:latin typeface="Arial"/>
              </a:rPr>
              <a:t>₹1,650–2,050</a:t>
            </a:r>
          </a:p>
        </p:txBody>
      </p:sp>
      <p:sp>
        <p:nvSpPr>
          <p:cNvPr id="16" name="TextBox 15"/>
          <p:cNvSpPr txBox="1"/>
          <p:nvPr/>
        </p:nvSpPr>
        <p:spPr>
          <a:xfrm>
            <a:off x="868680" y="4114800"/>
            <a:ext cx="4754880" cy="365760"/>
          </a:xfrm>
          <a:prstGeom prst="rect">
            <a:avLst/>
          </a:prstGeom>
          <a:noFill/>
        </p:spPr>
        <p:txBody>
          <a:bodyPr wrap="square" lIns="36576" tIns="18288" rIns="36576" bIns="18288" anchor="t">
            <a:spAutoFit/>
          </a:bodyPr>
          <a:lstStyle/>
          <a:p>
            <a:pPr algn="l"/>
            <a:r>
              <a:rPr sz="1200" b="1" i="0">
                <a:solidFill>
                  <a:srgbClr val="FFFFFF"/>
                </a:solidFill>
                <a:latin typeface="Arial"/>
              </a:rPr>
              <a:t>Electrician fit, 30–45 min</a:t>
            </a:r>
          </a:p>
        </p:txBody>
      </p:sp>
      <p:sp>
        <p:nvSpPr>
          <p:cNvPr id="17" name="Rounded Rectangle 16"/>
          <p:cNvSpPr/>
          <p:nvPr/>
        </p:nvSpPr>
        <p:spPr>
          <a:xfrm>
            <a:off x="6263640" y="1508760"/>
            <a:ext cx="5394960" cy="3063240"/>
          </a:xfrm>
          <a:prstGeom prst="roundRect">
            <a:avLst>
              <a:gd name="adj" fmla="val 8000"/>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0" y="1691640"/>
            <a:ext cx="4754880" cy="411480"/>
          </a:xfrm>
          <a:prstGeom prst="rect">
            <a:avLst/>
          </a:prstGeom>
          <a:noFill/>
        </p:spPr>
        <p:txBody>
          <a:bodyPr wrap="square" lIns="36576" tIns="18288" rIns="36576" bIns="18288" anchor="t">
            <a:spAutoFit/>
          </a:bodyPr>
          <a:lstStyle/>
          <a:p>
            <a:pPr algn="l"/>
            <a:r>
              <a:rPr sz="1800" b="1" i="0">
                <a:solidFill>
                  <a:srgbClr val="000104"/>
                </a:solidFill>
                <a:latin typeface="Arial"/>
              </a:rPr>
              <a:t>EMBEDDED</a:t>
            </a:r>
          </a:p>
        </p:txBody>
      </p:sp>
      <p:sp>
        <p:nvSpPr>
          <p:cNvPr id="19" name="TextBox 18"/>
          <p:cNvSpPr txBox="1"/>
          <p:nvPr/>
        </p:nvSpPr>
        <p:spPr>
          <a:xfrm>
            <a:off x="6583680" y="2084831"/>
            <a:ext cx="4754880" cy="365760"/>
          </a:xfrm>
          <a:prstGeom prst="rect">
            <a:avLst/>
          </a:prstGeom>
          <a:noFill/>
        </p:spPr>
        <p:txBody>
          <a:bodyPr wrap="square" lIns="36576" tIns="18288" rIns="36576" bIns="18288" anchor="t">
            <a:spAutoFit/>
          </a:bodyPr>
          <a:lstStyle/>
          <a:p>
            <a:pPr algn="l"/>
            <a:r>
              <a:rPr sz="1300" b="0" i="0">
                <a:solidFill>
                  <a:srgbClr val="000104"/>
                </a:solidFill>
                <a:latin typeface="Arial"/>
              </a:rPr>
              <a:t>inside new V-Guard inverters</a:t>
            </a:r>
          </a:p>
        </p:txBody>
      </p:sp>
      <p:sp>
        <p:nvSpPr>
          <p:cNvPr id="20" name="TextBox 19"/>
          <p:cNvSpPr txBox="1"/>
          <p:nvPr/>
        </p:nvSpPr>
        <p:spPr>
          <a:xfrm>
            <a:off x="6583680" y="2560320"/>
            <a:ext cx="2194560" cy="731520"/>
          </a:xfrm>
          <a:prstGeom prst="rect">
            <a:avLst/>
          </a:prstGeom>
          <a:noFill/>
        </p:spPr>
        <p:txBody>
          <a:bodyPr wrap="square" lIns="36576" tIns="18288" rIns="36576" bIns="18288" anchor="ctr">
            <a:spAutoFit/>
          </a:bodyPr>
          <a:lstStyle/>
          <a:p>
            <a:pPr algn="l"/>
            <a:r>
              <a:rPr sz="1300" b="0" i="0">
                <a:solidFill>
                  <a:srgbClr val="000104"/>
                </a:solidFill>
                <a:latin typeface="Arial"/>
              </a:rPr>
              <a:t>Battery health</a:t>
            </a:r>
          </a:p>
          <a:p>
            <a:pPr algn="l"/>
            <a:r>
              <a:rPr sz="1300" b="0" i="0">
                <a:solidFill>
                  <a:srgbClr val="000104"/>
                </a:solidFill>
                <a:latin typeface="Arial"/>
              </a:rPr>
              <a:t>+ autopilot</a:t>
            </a:r>
          </a:p>
        </p:txBody>
      </p:sp>
      <p:sp>
        <p:nvSpPr>
          <p:cNvPr id="21" name="TextBox 20"/>
          <p:cNvSpPr txBox="1"/>
          <p:nvPr/>
        </p:nvSpPr>
        <p:spPr>
          <a:xfrm>
            <a:off x="8641080" y="2560320"/>
            <a:ext cx="2834640" cy="731520"/>
          </a:xfrm>
          <a:prstGeom prst="rect">
            <a:avLst/>
          </a:prstGeom>
          <a:noFill/>
        </p:spPr>
        <p:txBody>
          <a:bodyPr wrap="square" lIns="36576" tIns="18288" rIns="36576" bIns="18288" anchor="ctr">
            <a:spAutoFit/>
          </a:bodyPr>
          <a:lstStyle/>
          <a:p>
            <a:pPr algn="l"/>
            <a:r>
              <a:rPr sz="3200" b="1" i="0">
                <a:solidFill>
                  <a:srgbClr val="000104"/>
                </a:solidFill>
                <a:latin typeface="Arial"/>
              </a:rPr>
              <a:t>₹450–700</a:t>
            </a:r>
          </a:p>
        </p:txBody>
      </p:sp>
      <p:sp>
        <p:nvSpPr>
          <p:cNvPr id="22" name="TextBox 21"/>
          <p:cNvSpPr txBox="1"/>
          <p:nvPr/>
        </p:nvSpPr>
        <p:spPr>
          <a:xfrm>
            <a:off x="6583680" y="3337560"/>
            <a:ext cx="2194560" cy="731520"/>
          </a:xfrm>
          <a:prstGeom prst="rect">
            <a:avLst/>
          </a:prstGeom>
          <a:noFill/>
        </p:spPr>
        <p:txBody>
          <a:bodyPr wrap="square" lIns="36576" tIns="18288" rIns="36576" bIns="18288" anchor="ctr">
            <a:spAutoFit/>
          </a:bodyPr>
          <a:lstStyle/>
          <a:p>
            <a:pPr algn="l"/>
            <a:r>
              <a:rPr sz="1300" b="0" i="0">
                <a:solidFill>
                  <a:srgbClr val="000104"/>
                </a:solidFill>
                <a:latin typeface="Arial"/>
              </a:rPr>
              <a:t>+ Energy Coach</a:t>
            </a:r>
          </a:p>
          <a:p>
            <a:pPr algn="l"/>
            <a:r>
              <a:rPr sz="1300" b="0" i="0">
                <a:solidFill>
                  <a:srgbClr val="000104"/>
                </a:solidFill>
                <a:latin typeface="Arial"/>
              </a:rPr>
              <a:t>+ Grid Shield</a:t>
            </a:r>
          </a:p>
        </p:txBody>
      </p:sp>
      <p:sp>
        <p:nvSpPr>
          <p:cNvPr id="23" name="TextBox 22"/>
          <p:cNvSpPr txBox="1"/>
          <p:nvPr/>
        </p:nvSpPr>
        <p:spPr>
          <a:xfrm>
            <a:off x="8641080" y="3337560"/>
            <a:ext cx="2834640" cy="731520"/>
          </a:xfrm>
          <a:prstGeom prst="rect">
            <a:avLst/>
          </a:prstGeom>
          <a:noFill/>
        </p:spPr>
        <p:txBody>
          <a:bodyPr wrap="square" lIns="36576" tIns="18288" rIns="36576" bIns="18288" anchor="ctr">
            <a:spAutoFit/>
          </a:bodyPr>
          <a:lstStyle/>
          <a:p>
            <a:pPr algn="l"/>
            <a:r>
              <a:rPr sz="3200" b="1" i="0">
                <a:solidFill>
                  <a:srgbClr val="000104"/>
                </a:solidFill>
                <a:latin typeface="Arial"/>
              </a:rPr>
              <a:t>₹850–1,300</a:t>
            </a:r>
          </a:p>
        </p:txBody>
      </p:sp>
      <p:sp>
        <p:nvSpPr>
          <p:cNvPr id="24" name="TextBox 23"/>
          <p:cNvSpPr txBox="1"/>
          <p:nvPr/>
        </p:nvSpPr>
        <p:spPr>
          <a:xfrm>
            <a:off x="6583680" y="4114800"/>
            <a:ext cx="4754880" cy="365760"/>
          </a:xfrm>
          <a:prstGeom prst="rect">
            <a:avLst/>
          </a:prstGeom>
          <a:noFill/>
        </p:spPr>
        <p:txBody>
          <a:bodyPr wrap="square" lIns="36576" tIns="18288" rIns="36576" bIns="18288" anchor="t">
            <a:spAutoFit/>
          </a:bodyPr>
          <a:lstStyle/>
          <a:p>
            <a:pPr algn="l"/>
            <a:r>
              <a:rPr sz="1200" b="1" i="0">
                <a:solidFill>
                  <a:srgbClr val="000104"/>
                </a:solidFill>
                <a:latin typeface="Arial"/>
              </a:rPr>
              <a:t>Factory fit, and it can control the charger</a:t>
            </a:r>
          </a:p>
        </p:txBody>
      </p:sp>
      <p:sp>
        <p:nvSpPr>
          <p:cNvPr id="25" name="TextBox 24"/>
          <p:cNvSpPr txBox="1"/>
          <p:nvPr/>
        </p:nvSpPr>
        <p:spPr>
          <a:xfrm>
            <a:off x="548640" y="4846320"/>
            <a:ext cx="3749039" cy="411480"/>
          </a:xfrm>
          <a:prstGeom prst="rect">
            <a:avLst/>
          </a:prstGeom>
          <a:noFill/>
        </p:spPr>
        <p:txBody>
          <a:bodyPr wrap="square" lIns="36576" tIns="18288" rIns="36576" bIns="18288" anchor="ctr">
            <a:spAutoFit/>
          </a:bodyPr>
          <a:lstStyle/>
          <a:p>
            <a:pPr algn="l"/>
            <a:r>
              <a:rPr sz="1400" b="1" i="0">
                <a:solidFill>
                  <a:srgbClr val="000104"/>
                </a:solidFill>
                <a:latin typeface="Arial"/>
              </a:rPr>
              <a:t>Embedded reuses the inverter's own:</a:t>
            </a:r>
          </a:p>
        </p:txBody>
      </p:sp>
      <p:sp>
        <p:nvSpPr>
          <p:cNvPr id="26" name="Rounded Rectangle 25"/>
          <p:cNvSpPr/>
          <p:nvPr/>
        </p:nvSpPr>
        <p:spPr>
          <a:xfrm>
            <a:off x="4343400" y="4846320"/>
            <a:ext cx="1691640" cy="411480"/>
          </a:xfrm>
          <a:prstGeom prst="roundRect">
            <a:avLst>
              <a:gd name="adj" fmla="val 8000"/>
            </a:avLst>
          </a:prstGeom>
          <a:solidFill>
            <a:srgbClr val="FFFFFF"/>
          </a:solidFill>
          <a:ln w="15875">
            <a:solidFill>
              <a:srgbClr val="00010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343400" y="4846320"/>
            <a:ext cx="1691640" cy="411480"/>
          </a:xfrm>
          <a:prstGeom prst="rect">
            <a:avLst/>
          </a:prstGeom>
          <a:noFill/>
        </p:spPr>
        <p:txBody>
          <a:bodyPr wrap="square" lIns="36576" tIns="18288" rIns="36576" bIns="18288" anchor="ctr">
            <a:spAutoFit/>
          </a:bodyPr>
          <a:lstStyle/>
          <a:p>
            <a:pPr algn="ctr"/>
            <a:r>
              <a:rPr sz="1300" b="1" i="0">
                <a:solidFill>
                  <a:srgbClr val="000104"/>
                </a:solidFill>
                <a:latin typeface="Arial"/>
              </a:rPr>
              <a:t>current shunt</a:t>
            </a:r>
          </a:p>
        </p:txBody>
      </p:sp>
      <p:sp>
        <p:nvSpPr>
          <p:cNvPr id="28" name="Rounded Rectangle 27"/>
          <p:cNvSpPr/>
          <p:nvPr/>
        </p:nvSpPr>
        <p:spPr>
          <a:xfrm>
            <a:off x="6190488" y="4846320"/>
            <a:ext cx="1691640" cy="411480"/>
          </a:xfrm>
          <a:prstGeom prst="roundRect">
            <a:avLst>
              <a:gd name="adj" fmla="val 8000"/>
            </a:avLst>
          </a:prstGeom>
          <a:solidFill>
            <a:srgbClr val="FFFFFF"/>
          </a:solidFill>
          <a:ln w="15875">
            <a:solidFill>
              <a:srgbClr val="00010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90488" y="4846320"/>
            <a:ext cx="1691640" cy="411480"/>
          </a:xfrm>
          <a:prstGeom prst="rect">
            <a:avLst/>
          </a:prstGeom>
          <a:noFill/>
        </p:spPr>
        <p:txBody>
          <a:bodyPr wrap="square" lIns="36576" tIns="18288" rIns="36576" bIns="18288" anchor="ctr">
            <a:spAutoFit/>
          </a:bodyPr>
          <a:lstStyle/>
          <a:p>
            <a:pPr algn="ctr"/>
            <a:r>
              <a:rPr sz="1300" b="1" i="0">
                <a:solidFill>
                  <a:srgbClr val="000104"/>
                </a:solidFill>
                <a:latin typeface="Arial"/>
              </a:rPr>
              <a:t>12 V supply</a:t>
            </a:r>
          </a:p>
        </p:txBody>
      </p:sp>
      <p:sp>
        <p:nvSpPr>
          <p:cNvPr id="30" name="Rounded Rectangle 29"/>
          <p:cNvSpPr/>
          <p:nvPr/>
        </p:nvSpPr>
        <p:spPr>
          <a:xfrm>
            <a:off x="8037575" y="4846320"/>
            <a:ext cx="1691640" cy="411480"/>
          </a:xfrm>
          <a:prstGeom prst="roundRect">
            <a:avLst>
              <a:gd name="adj" fmla="val 8000"/>
            </a:avLst>
          </a:prstGeom>
          <a:solidFill>
            <a:srgbClr val="FFFFFF"/>
          </a:solidFill>
          <a:ln w="15875">
            <a:solidFill>
              <a:srgbClr val="00010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37575" y="4846320"/>
            <a:ext cx="1691640" cy="411480"/>
          </a:xfrm>
          <a:prstGeom prst="rect">
            <a:avLst/>
          </a:prstGeom>
          <a:noFill/>
        </p:spPr>
        <p:txBody>
          <a:bodyPr wrap="square" lIns="36576" tIns="18288" rIns="36576" bIns="18288" anchor="ctr">
            <a:spAutoFit/>
          </a:bodyPr>
          <a:lstStyle/>
          <a:p>
            <a:pPr algn="ctr"/>
            <a:r>
              <a:rPr sz="1300" b="1" i="0">
                <a:solidFill>
                  <a:srgbClr val="000104"/>
                </a:solidFill>
                <a:latin typeface="Arial"/>
              </a:rPr>
              <a:t>enclosure</a:t>
            </a:r>
          </a:p>
        </p:txBody>
      </p:sp>
      <p:sp>
        <p:nvSpPr>
          <p:cNvPr id="32" name="Rounded Rectangle 31"/>
          <p:cNvSpPr/>
          <p:nvPr/>
        </p:nvSpPr>
        <p:spPr>
          <a:xfrm>
            <a:off x="9884664" y="4846320"/>
            <a:ext cx="1691640" cy="411480"/>
          </a:xfrm>
          <a:prstGeom prst="roundRect">
            <a:avLst>
              <a:gd name="adj" fmla="val 8000"/>
            </a:avLst>
          </a:prstGeom>
          <a:solidFill>
            <a:srgbClr val="FFFFFF"/>
          </a:solidFill>
          <a:ln w="15875">
            <a:solidFill>
              <a:srgbClr val="00010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884664" y="4846320"/>
            <a:ext cx="1691640" cy="411480"/>
          </a:xfrm>
          <a:prstGeom prst="rect">
            <a:avLst/>
          </a:prstGeom>
          <a:noFill/>
        </p:spPr>
        <p:txBody>
          <a:bodyPr wrap="square" lIns="36576" tIns="18288" rIns="36576" bIns="18288" anchor="ctr">
            <a:spAutoFit/>
          </a:bodyPr>
          <a:lstStyle/>
          <a:p>
            <a:pPr algn="ctr"/>
            <a:r>
              <a:rPr sz="1300" b="1" i="0">
                <a:solidFill>
                  <a:srgbClr val="000104"/>
                </a:solidFill>
                <a:latin typeface="Arial"/>
              </a:rPr>
              <a:t>mains signal</a:t>
            </a:r>
          </a:p>
        </p:txBody>
      </p:sp>
      <p:sp>
        <p:nvSpPr>
          <p:cNvPr id="34" name="TextBox 33"/>
          <p:cNvSpPr txBox="1"/>
          <p:nvPr/>
        </p:nvSpPr>
        <p:spPr>
          <a:xfrm>
            <a:off x="548640" y="6035040"/>
            <a:ext cx="11109960" cy="320040"/>
          </a:xfrm>
          <a:prstGeom prst="rect">
            <a:avLst/>
          </a:prstGeom>
          <a:noFill/>
        </p:spPr>
        <p:txBody>
          <a:bodyPr wrap="square" lIns="36576" tIns="18288" rIns="36576" bIns="18288" anchor="t">
            <a:spAutoFit/>
          </a:bodyPr>
          <a:lstStyle/>
          <a:p>
            <a:pPr algn="l"/>
            <a:r>
              <a:rPr sz="900" b="0" i="1">
                <a:solidFill>
                  <a:srgbClr val="6C757D"/>
                </a:solidFill>
                <a:latin typeface="Arial"/>
              </a:rPr>
              <a:t>Component cost at prototype volumes, from Indian distributor prices; contactors extra. Retail pricing is V-Guard's call.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300"/>
              </a:spcAft>
            </a:pPr>
            <a:r>
              <a:rPr sz="2700" b="1" i="0">
                <a:solidFill>
                  <a:srgbClr val="000104"/>
                </a:solidFill>
                <a:latin typeface="Arial"/>
              </a:rPr>
              <a:t>Sentinel pays off for the family and for V-Guard.</a:t>
            </a:r>
          </a:p>
        </p:txBody>
      </p:sp>
      <p:sp>
        <p:nvSpPr>
          <p:cNvPr id="5" name="TextBox 4"/>
          <p:cNvSpPr txBox="1"/>
          <p:nvPr/>
        </p:nvSpPr>
        <p:spPr>
          <a:xfrm>
            <a:off x="795528" y="914400"/>
            <a:ext cx="10789920" cy="411480"/>
          </a:xfrm>
          <a:prstGeom prst="rect">
            <a:avLst/>
          </a:prstGeom>
          <a:noFill/>
        </p:spPr>
        <p:txBody>
          <a:bodyPr wrap="square" lIns="36576" tIns="18288" rIns="36576" bIns="18288" anchor="t">
            <a:spAutoFit/>
          </a:bodyPr>
          <a:lstStyle/>
          <a:p>
            <a:pPr algn="l">
              <a:spcAft>
                <a:spcPts val="300"/>
              </a:spcAft>
            </a:pPr>
            <a:r>
              <a:rPr sz="1400" b="0" i="1">
                <a:solidFill>
                  <a:srgbClr val="6C757D"/>
                </a:solidFill>
                <a:latin typeface="Arial"/>
              </a:rPr>
              <a:t>One home with a ₹15,000 battery, and V-Guard across 1 lakh such homes.</a:t>
            </a:r>
          </a:p>
        </p:txBody>
      </p:sp>
      <p:sp>
        <p:nvSpPr>
          <p:cNvPr id="6" name="Rectangle 5"/>
          <p:cNvSpPr/>
          <p:nvPr/>
        </p:nvSpPr>
        <p:spPr>
          <a:xfrm>
            <a:off x="0" y="6473952"/>
            <a:ext cx="12192000"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3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43337" y="6570565"/>
            <a:ext cx="914400" cy="190821"/>
          </a:xfrm>
          <a:prstGeom prst="rect">
            <a:avLst/>
          </a:prstGeom>
          <a:noFill/>
        </p:spPr>
        <p:txBody>
          <a:bodyPr wrap="square" lIns="36576" tIns="18288" rIns="36576" bIns="18288" anchor="ctr">
            <a:spAutoFit/>
          </a:bodyPr>
          <a:lstStyle/>
          <a:p>
            <a:pPr algn="r">
              <a:spcAft>
                <a:spcPts val="300"/>
              </a:spcAft>
            </a:pPr>
            <a:r>
              <a:rPr lang="en-US" sz="1000" dirty="0">
                <a:solidFill>
                  <a:srgbClr val="FFFFFF"/>
                </a:solidFill>
                <a:latin typeface="Arial"/>
              </a:rPr>
              <a:t>13</a:t>
            </a:r>
            <a:endParaRPr sz="1000" b="0" i="0" dirty="0">
              <a:solidFill>
                <a:srgbClr val="FFFFFF"/>
              </a:solidFill>
              <a:latin typeface="Arial"/>
            </a:endParaRPr>
          </a:p>
        </p:txBody>
      </p:sp>
      <p:sp>
        <p:nvSpPr>
          <p:cNvPr id="9" name="Rounded Rectangle 8"/>
          <p:cNvSpPr/>
          <p:nvPr/>
        </p:nvSpPr>
        <p:spPr>
          <a:xfrm>
            <a:off x="548640" y="1463040"/>
            <a:ext cx="1417320" cy="329184"/>
          </a:xfrm>
          <a:prstGeom prst="roundRect">
            <a:avLst>
              <a:gd name="adj" fmla="val 8000"/>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463040"/>
            <a:ext cx="1417320" cy="329184"/>
          </a:xfrm>
          <a:prstGeom prst="rect">
            <a:avLst/>
          </a:prstGeom>
          <a:noFill/>
        </p:spPr>
        <p:txBody>
          <a:bodyPr wrap="square" lIns="36576" tIns="18288" rIns="36576" bIns="18288" anchor="ctr">
            <a:spAutoFit/>
          </a:bodyPr>
          <a:lstStyle/>
          <a:p>
            <a:pPr algn="ctr">
              <a:spcAft>
                <a:spcPts val="300"/>
              </a:spcAft>
            </a:pPr>
            <a:r>
              <a:rPr sz="1300" b="1" i="0">
                <a:solidFill>
                  <a:srgbClr val="000104"/>
                </a:solidFill>
                <a:latin typeface="Arial"/>
              </a:rPr>
              <a:t>THE FAMILY</a:t>
            </a:r>
          </a:p>
        </p:txBody>
      </p:sp>
      <p:sp>
        <p:nvSpPr>
          <p:cNvPr id="11" name="TextBox 10"/>
          <p:cNvSpPr txBox="1"/>
          <p:nvPr/>
        </p:nvSpPr>
        <p:spPr>
          <a:xfrm>
            <a:off x="548640" y="1874519"/>
            <a:ext cx="5029200" cy="731520"/>
          </a:xfrm>
          <a:prstGeom prst="rect">
            <a:avLst/>
          </a:prstGeom>
          <a:noFill/>
        </p:spPr>
        <p:txBody>
          <a:bodyPr wrap="square" lIns="36576" tIns="18288" rIns="36576" bIns="18288" anchor="t">
            <a:spAutoFit/>
          </a:bodyPr>
          <a:lstStyle/>
          <a:p>
            <a:pPr algn="l">
              <a:spcAft>
                <a:spcPts val="300"/>
              </a:spcAft>
            </a:pPr>
            <a:r>
              <a:rPr sz="4000" b="1" i="0">
                <a:solidFill>
                  <a:srgbClr val="000104"/>
                </a:solidFill>
                <a:latin typeface="Arial"/>
              </a:rPr>
              <a:t>2.5×</a:t>
            </a:r>
          </a:p>
        </p:txBody>
      </p:sp>
      <p:sp>
        <p:nvSpPr>
          <p:cNvPr id="12" name="TextBox 11"/>
          <p:cNvSpPr txBox="1"/>
          <p:nvPr/>
        </p:nvSpPr>
        <p:spPr>
          <a:xfrm>
            <a:off x="548640" y="2587751"/>
            <a:ext cx="5029200" cy="411480"/>
          </a:xfrm>
          <a:prstGeom prst="rect">
            <a:avLst/>
          </a:prstGeom>
          <a:noFill/>
        </p:spPr>
        <p:txBody>
          <a:bodyPr wrap="square" lIns="36576" tIns="18288" rIns="36576" bIns="18288" anchor="t">
            <a:spAutoFit/>
          </a:bodyPr>
          <a:lstStyle/>
          <a:p>
            <a:pPr algn="l">
              <a:spcAft>
                <a:spcPts val="300"/>
              </a:spcAft>
            </a:pPr>
            <a:r>
              <a:rPr sz="1400" b="0" i="0">
                <a:solidFill>
                  <a:srgbClr val="221E1F"/>
                </a:solidFill>
                <a:latin typeface="Arial"/>
              </a:rPr>
              <a:t>longer backup for the fridge, Wi-Fi and lights</a:t>
            </a:r>
          </a:p>
        </p:txBody>
      </p:sp>
      <p:sp>
        <p:nvSpPr>
          <p:cNvPr id="13" name="TextBox 12"/>
          <p:cNvSpPr txBox="1"/>
          <p:nvPr/>
        </p:nvSpPr>
        <p:spPr>
          <a:xfrm>
            <a:off x="548640" y="3200399"/>
            <a:ext cx="5029200" cy="731520"/>
          </a:xfrm>
          <a:prstGeom prst="rect">
            <a:avLst/>
          </a:prstGeom>
          <a:noFill/>
        </p:spPr>
        <p:txBody>
          <a:bodyPr wrap="square" lIns="36576" tIns="18288" rIns="36576" bIns="18288" anchor="t">
            <a:spAutoFit/>
          </a:bodyPr>
          <a:lstStyle/>
          <a:p>
            <a:pPr algn="l">
              <a:spcAft>
                <a:spcPts val="300"/>
              </a:spcAft>
            </a:pPr>
            <a:r>
              <a:rPr sz="4000" b="1" i="0">
                <a:solidFill>
                  <a:srgbClr val="000104"/>
                </a:solidFill>
                <a:latin typeface="Arial"/>
              </a:rPr>
              <a:t>6–14 wk</a:t>
            </a:r>
          </a:p>
        </p:txBody>
      </p:sp>
      <p:sp>
        <p:nvSpPr>
          <p:cNvPr id="14" name="TextBox 13"/>
          <p:cNvSpPr txBox="1"/>
          <p:nvPr/>
        </p:nvSpPr>
        <p:spPr>
          <a:xfrm>
            <a:off x="548640" y="3913631"/>
            <a:ext cx="5029200" cy="411480"/>
          </a:xfrm>
          <a:prstGeom prst="rect">
            <a:avLst/>
          </a:prstGeom>
          <a:noFill/>
        </p:spPr>
        <p:txBody>
          <a:bodyPr wrap="square" lIns="36576" tIns="18288" rIns="36576" bIns="18288" anchor="t">
            <a:spAutoFit/>
          </a:bodyPr>
          <a:lstStyle/>
          <a:p>
            <a:pPr algn="l">
              <a:spcAft>
                <a:spcPts val="300"/>
              </a:spcAft>
            </a:pPr>
            <a:r>
              <a:rPr sz="1400" b="0" i="0">
                <a:solidFill>
                  <a:srgbClr val="221E1F"/>
                </a:solidFill>
                <a:latin typeface="Arial"/>
              </a:rPr>
              <a:t>warning before the battery dies</a:t>
            </a:r>
          </a:p>
        </p:txBody>
      </p:sp>
      <p:sp>
        <p:nvSpPr>
          <p:cNvPr id="15" name="TextBox 14"/>
          <p:cNvSpPr txBox="1"/>
          <p:nvPr/>
        </p:nvSpPr>
        <p:spPr>
          <a:xfrm>
            <a:off x="548640" y="4526279"/>
            <a:ext cx="5029200" cy="731520"/>
          </a:xfrm>
          <a:prstGeom prst="rect">
            <a:avLst/>
          </a:prstGeom>
          <a:noFill/>
        </p:spPr>
        <p:txBody>
          <a:bodyPr wrap="square" lIns="36576" tIns="18288" rIns="36576" bIns="18288" anchor="t">
            <a:spAutoFit/>
          </a:bodyPr>
          <a:lstStyle/>
          <a:p>
            <a:pPr algn="l">
              <a:spcAft>
                <a:spcPts val="300"/>
              </a:spcAft>
            </a:pPr>
            <a:r>
              <a:rPr sz="4000" b="1" i="0">
                <a:solidFill>
                  <a:srgbClr val="000104"/>
                </a:solidFill>
                <a:latin typeface="Arial"/>
              </a:rPr>
              <a:t>₹6,250</a:t>
            </a:r>
          </a:p>
        </p:txBody>
      </p:sp>
      <p:sp>
        <p:nvSpPr>
          <p:cNvPr id="16" name="TextBox 15"/>
          <p:cNvSpPr txBox="1"/>
          <p:nvPr/>
        </p:nvSpPr>
        <p:spPr>
          <a:xfrm>
            <a:off x="548640" y="5239511"/>
            <a:ext cx="5029200" cy="411480"/>
          </a:xfrm>
          <a:prstGeom prst="rect">
            <a:avLst/>
          </a:prstGeom>
          <a:noFill/>
        </p:spPr>
        <p:txBody>
          <a:bodyPr wrap="square" lIns="36576" tIns="18288" rIns="36576" bIns="18288" anchor="t">
            <a:spAutoFit/>
          </a:bodyPr>
          <a:lstStyle/>
          <a:p>
            <a:pPr algn="l">
              <a:spcAft>
                <a:spcPts val="300"/>
              </a:spcAft>
            </a:pPr>
            <a:r>
              <a:rPr sz="1400" b="0" i="0">
                <a:solidFill>
                  <a:srgbClr val="221E1F"/>
                </a:solidFill>
                <a:latin typeface="Arial"/>
              </a:rPr>
              <a:t>less spent on batteries per decade*</a:t>
            </a:r>
          </a:p>
        </p:txBody>
      </p:sp>
      <p:sp>
        <p:nvSpPr>
          <p:cNvPr id="17" name="Rectangle 16"/>
          <p:cNvSpPr/>
          <p:nvPr/>
        </p:nvSpPr>
        <p:spPr>
          <a:xfrm>
            <a:off x="5806440" y="1508760"/>
            <a:ext cx="18288" cy="416052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126480" y="1463040"/>
            <a:ext cx="1188720" cy="329184"/>
          </a:xfrm>
          <a:prstGeom prst="roundRect">
            <a:avLst>
              <a:gd name="adj" fmla="val 8000"/>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26480" y="1463040"/>
            <a:ext cx="1188720" cy="329184"/>
          </a:xfrm>
          <a:prstGeom prst="rect">
            <a:avLst/>
          </a:prstGeom>
          <a:noFill/>
        </p:spPr>
        <p:txBody>
          <a:bodyPr wrap="square" lIns="36576" tIns="18288" rIns="36576" bIns="18288" anchor="ctr">
            <a:spAutoFit/>
          </a:bodyPr>
          <a:lstStyle/>
          <a:p>
            <a:pPr algn="ctr">
              <a:spcAft>
                <a:spcPts val="300"/>
              </a:spcAft>
            </a:pPr>
            <a:r>
              <a:rPr sz="1300" b="1" i="0">
                <a:solidFill>
                  <a:srgbClr val="000104"/>
                </a:solidFill>
                <a:latin typeface="Arial"/>
              </a:rPr>
              <a:t>V-GUARD</a:t>
            </a:r>
          </a:p>
        </p:txBody>
      </p:sp>
      <p:sp>
        <p:nvSpPr>
          <p:cNvPr id="20" name="TextBox 19"/>
          <p:cNvSpPr txBox="1"/>
          <p:nvPr/>
        </p:nvSpPr>
        <p:spPr>
          <a:xfrm>
            <a:off x="7452360" y="1463040"/>
            <a:ext cx="4206240" cy="329184"/>
          </a:xfrm>
          <a:prstGeom prst="rect">
            <a:avLst/>
          </a:prstGeom>
          <a:noFill/>
        </p:spPr>
        <p:txBody>
          <a:bodyPr wrap="square" lIns="36576" tIns="18288" rIns="36576" bIns="18288" anchor="ctr">
            <a:spAutoFit/>
          </a:bodyPr>
          <a:lstStyle/>
          <a:p>
            <a:pPr algn="l">
              <a:spcAft>
                <a:spcPts val="300"/>
              </a:spcAft>
            </a:pPr>
            <a:r>
              <a:rPr sz="1200" b="0" i="0">
                <a:solidFill>
                  <a:srgbClr val="6C757D"/>
                </a:solidFill>
                <a:latin typeface="Arial"/>
              </a:rPr>
              <a:t>battery revenue from 1 lakh homes, ₹ cr a year</a:t>
            </a:r>
          </a:p>
        </p:txBody>
      </p:sp>
      <p:graphicFrame>
        <p:nvGraphicFramePr>
          <p:cNvPr id="21" name="Chart 20"/>
          <p:cNvGraphicFramePr>
            <a:graphicFrameLocks noGrp="1"/>
          </p:cNvGraphicFramePr>
          <p:nvPr/>
        </p:nvGraphicFramePr>
        <p:xfrm>
          <a:off x="6126480" y="1828800"/>
          <a:ext cx="553212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21"/>
          <p:cNvSpPr txBox="1"/>
          <p:nvPr/>
        </p:nvSpPr>
        <p:spPr>
          <a:xfrm>
            <a:off x="6126480" y="4892040"/>
            <a:ext cx="5532120" cy="822960"/>
          </a:xfrm>
          <a:prstGeom prst="rect">
            <a:avLst/>
          </a:prstGeom>
          <a:noFill/>
        </p:spPr>
        <p:txBody>
          <a:bodyPr wrap="square" lIns="36576" tIns="18288" rIns="36576" bIns="18288" anchor="t">
            <a:spAutoFit/>
          </a:bodyPr>
          <a:lstStyle/>
          <a:p>
            <a:pPr algn="l">
              <a:spcAft>
                <a:spcPts val="400"/>
              </a:spcAft>
            </a:pPr>
            <a:r>
              <a:rPr sz="1500" b="1" i="0">
                <a:solidFill>
                  <a:srgbClr val="000104"/>
                </a:solidFill>
                <a:latin typeface="Arial"/>
              </a:rPr>
              <a:t>Break-even at 48 % share of replacements</a:t>
            </a:r>
          </a:p>
          <a:p>
            <a:pPr algn="l">
              <a:spcAft>
                <a:spcPts val="400"/>
              </a:spcAft>
            </a:pPr>
            <a:r>
              <a:rPr sz="1500" b="1" i="0">
                <a:solidFill>
                  <a:srgbClr val="000104"/>
                </a:solidFill>
                <a:latin typeface="Arial"/>
              </a:rPr>
              <a:t>1 % less warranty cost ≈ ₹0.7 cr a year</a:t>
            </a:r>
          </a:p>
        </p:txBody>
      </p:sp>
      <p:sp>
        <p:nvSpPr>
          <p:cNvPr id="23" name="TextBox 22"/>
          <p:cNvSpPr txBox="1"/>
          <p:nvPr/>
        </p:nvSpPr>
        <p:spPr>
          <a:xfrm>
            <a:off x="548640" y="6035040"/>
            <a:ext cx="11109960" cy="320040"/>
          </a:xfrm>
          <a:prstGeom prst="rect">
            <a:avLst/>
          </a:prstGeom>
          <a:noFill/>
        </p:spPr>
        <p:txBody>
          <a:bodyPr wrap="square" lIns="36576" tIns="18288" rIns="36576" bIns="18288" anchor="t">
            <a:spAutoFit/>
          </a:bodyPr>
          <a:lstStyle/>
          <a:p>
            <a:pPr algn="l">
              <a:spcAft>
                <a:spcPts val="300"/>
              </a:spcAft>
            </a:pPr>
            <a:r>
              <a:rPr sz="900" b="0" i="1">
                <a:solidFill>
                  <a:srgbClr val="6C757D"/>
                </a:solidFill>
                <a:latin typeface="Arial"/>
              </a:rPr>
              <a:t>* Embedded, if charge control adds 20 % life (to be measured). Model: 4-year battery life, 40 % of replacements to V-Guard today (assumed). Warranty: V-Guard Annual Report FY24.</a:t>
            </a:r>
          </a:p>
        </p:txBody>
      </p:sp>
    </p:spTree>
    <p:extLst>
      <p:ext uri="{BB962C8B-B14F-4D97-AF65-F5344CB8AC3E}">
        <p14:creationId xmlns:p14="http://schemas.microsoft.com/office/powerpoint/2010/main" val="1337626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452432"/>
          </a:xfrm>
          <a:prstGeom prst="rect">
            <a:avLst/>
          </a:prstGeom>
          <a:noFill/>
        </p:spPr>
        <p:txBody>
          <a:bodyPr wrap="square" lIns="36576" tIns="18288" rIns="36576" bIns="18288" anchor="t">
            <a:spAutoFit/>
          </a:bodyPr>
          <a:lstStyle/>
          <a:p>
            <a:pPr algn="l">
              <a:spcAft>
                <a:spcPts val="400"/>
              </a:spcAft>
            </a:pPr>
            <a:r>
              <a:rPr sz="2700" b="1" i="0">
                <a:solidFill>
                  <a:srgbClr val="000104"/>
                </a:solidFill>
                <a:latin typeface="Arial"/>
              </a:rPr>
              <a:t>Three validation gates and what we need to pass the first.</a:t>
            </a:r>
          </a:p>
        </p:txBody>
      </p:sp>
      <p:sp>
        <p:nvSpPr>
          <p:cNvPr id="5" name="Rectangle 4"/>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7" name="TextBox 6"/>
          <p:cNvSpPr txBox="1"/>
          <p:nvPr/>
        </p:nvSpPr>
        <p:spPr>
          <a:xfrm>
            <a:off x="10728655" y="6570565"/>
            <a:ext cx="914400" cy="190821"/>
          </a:xfrm>
          <a:prstGeom prst="rect">
            <a:avLst/>
          </a:prstGeom>
          <a:noFill/>
        </p:spPr>
        <p:txBody>
          <a:bodyPr wrap="square" lIns="36576" tIns="18288" rIns="36576" bIns="18288" anchor="ctr">
            <a:spAutoFit/>
          </a:bodyPr>
          <a:lstStyle/>
          <a:p>
            <a:pPr algn="r">
              <a:spcAft>
                <a:spcPts val="400"/>
              </a:spcAft>
            </a:pPr>
            <a:r>
              <a:rPr lang="en-US" sz="1000" dirty="0">
                <a:solidFill>
                  <a:srgbClr val="FFFFFF"/>
                </a:solidFill>
                <a:latin typeface="Arial"/>
              </a:rPr>
              <a:t>14</a:t>
            </a:r>
            <a:endParaRPr sz="1000" b="0" i="0" dirty="0">
              <a:solidFill>
                <a:srgbClr val="FFFFFF"/>
              </a:solidFill>
              <a:latin typeface="Arial"/>
            </a:endParaRPr>
          </a:p>
        </p:txBody>
      </p:sp>
      <p:sp>
        <p:nvSpPr>
          <p:cNvPr id="8" name="Oval 7"/>
          <p:cNvSpPr/>
          <p:nvPr/>
        </p:nvSpPr>
        <p:spPr>
          <a:xfrm>
            <a:off x="548640" y="1417320"/>
            <a:ext cx="548640" cy="54864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1</a:t>
            </a:r>
          </a:p>
        </p:txBody>
      </p:sp>
      <p:sp>
        <p:nvSpPr>
          <p:cNvPr id="9" name="Right Arrow 8"/>
          <p:cNvSpPr/>
          <p:nvPr/>
        </p:nvSpPr>
        <p:spPr>
          <a:xfrm>
            <a:off x="1234440" y="1554480"/>
            <a:ext cx="2971800" cy="274320"/>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148840"/>
            <a:ext cx="3566160" cy="411480"/>
          </a:xfrm>
          <a:prstGeom prst="rect">
            <a:avLst/>
          </a:prstGeom>
          <a:noFill/>
        </p:spPr>
        <p:txBody>
          <a:bodyPr wrap="square" lIns="36576" tIns="18288" rIns="36576" bIns="18288" anchor="t">
            <a:spAutoFit/>
          </a:bodyPr>
          <a:lstStyle/>
          <a:p>
            <a:pPr algn="l">
              <a:spcAft>
                <a:spcPts val="400"/>
              </a:spcAft>
            </a:pPr>
            <a:r>
              <a:rPr sz="1700" b="1" i="0">
                <a:solidFill>
                  <a:srgbClr val="F39200"/>
                </a:solidFill>
                <a:latin typeface="Arial"/>
              </a:rPr>
              <a:t>GATE 1 · DATASET</a:t>
            </a:r>
          </a:p>
        </p:txBody>
      </p:sp>
      <p:sp>
        <p:nvSpPr>
          <p:cNvPr id="11" name="TextBox 10"/>
          <p:cNvSpPr txBox="1"/>
          <p:nvPr/>
        </p:nvSpPr>
        <p:spPr>
          <a:xfrm>
            <a:off x="548640" y="2560320"/>
            <a:ext cx="3566160" cy="236988"/>
          </a:xfrm>
          <a:prstGeom prst="rect">
            <a:avLst/>
          </a:prstGeom>
          <a:noFill/>
        </p:spPr>
        <p:txBody>
          <a:bodyPr wrap="square" lIns="36576" tIns="18288" rIns="36576" bIns="18288" anchor="t">
            <a:spAutoFit/>
          </a:bodyPr>
          <a:lstStyle/>
          <a:p>
            <a:pPr algn="l">
              <a:spcAft>
                <a:spcPts val="400"/>
              </a:spcAft>
            </a:pPr>
            <a:r>
              <a:rPr sz="1300" b="0" i="1" dirty="0">
                <a:solidFill>
                  <a:srgbClr val="6C757D"/>
                </a:solidFill>
                <a:latin typeface="Arial"/>
              </a:rPr>
              <a:t> Kochi reliability lab</a:t>
            </a:r>
          </a:p>
        </p:txBody>
      </p:sp>
      <p:sp>
        <p:nvSpPr>
          <p:cNvPr id="12" name="TextBox 11"/>
          <p:cNvSpPr txBox="1"/>
          <p:nvPr/>
        </p:nvSpPr>
        <p:spPr>
          <a:xfrm>
            <a:off x="548640" y="2971800"/>
            <a:ext cx="3520440" cy="1371600"/>
          </a:xfrm>
          <a:prstGeom prst="rect">
            <a:avLst/>
          </a:prstGeom>
          <a:noFill/>
        </p:spPr>
        <p:txBody>
          <a:bodyPr wrap="square" lIns="36576" tIns="18288" rIns="36576" bIns="18288" anchor="t">
            <a:spAutoFit/>
          </a:bodyPr>
          <a:lstStyle/>
          <a:p>
            <a:pPr algn="l">
              <a:spcAft>
                <a:spcPts val="400"/>
              </a:spcAft>
            </a:pPr>
            <a:r>
              <a:rPr sz="1400" b="0" i="0">
                <a:solidFill>
                  <a:srgbClr val="221E1F"/>
                </a:solidFill>
                <a:latin typeface="Arial"/>
              </a:rPr>
              <a:t>24–36 tubular batteries at 3 temperatures × 3 depths → real SoH labels and a measured life-extension number</a:t>
            </a:r>
          </a:p>
        </p:txBody>
      </p:sp>
      <p:sp>
        <p:nvSpPr>
          <p:cNvPr id="13" name="Oval 12"/>
          <p:cNvSpPr/>
          <p:nvPr/>
        </p:nvSpPr>
        <p:spPr>
          <a:xfrm>
            <a:off x="4343400" y="1417320"/>
            <a:ext cx="548640" cy="54864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2</a:t>
            </a:r>
          </a:p>
        </p:txBody>
      </p:sp>
      <p:sp>
        <p:nvSpPr>
          <p:cNvPr id="14" name="Right Arrow 13"/>
          <p:cNvSpPr/>
          <p:nvPr/>
        </p:nvSpPr>
        <p:spPr>
          <a:xfrm>
            <a:off x="5029200" y="1554480"/>
            <a:ext cx="2971800" cy="274320"/>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43400" y="2148840"/>
            <a:ext cx="3566160" cy="411480"/>
          </a:xfrm>
          <a:prstGeom prst="rect">
            <a:avLst/>
          </a:prstGeom>
          <a:noFill/>
        </p:spPr>
        <p:txBody>
          <a:bodyPr wrap="square" lIns="36576" tIns="18288" rIns="36576" bIns="18288" anchor="t">
            <a:spAutoFit/>
          </a:bodyPr>
          <a:lstStyle/>
          <a:p>
            <a:pPr algn="l">
              <a:spcAft>
                <a:spcPts val="400"/>
              </a:spcAft>
            </a:pPr>
            <a:r>
              <a:rPr sz="1700" b="1" i="0">
                <a:solidFill>
                  <a:srgbClr val="F39200"/>
                </a:solidFill>
                <a:latin typeface="Arial"/>
              </a:rPr>
              <a:t>GATE 2 · FIELD PILOT</a:t>
            </a:r>
          </a:p>
        </p:txBody>
      </p:sp>
      <p:sp>
        <p:nvSpPr>
          <p:cNvPr id="16" name="TextBox 15"/>
          <p:cNvSpPr txBox="1"/>
          <p:nvPr/>
        </p:nvSpPr>
        <p:spPr>
          <a:xfrm>
            <a:off x="4343400" y="2560320"/>
            <a:ext cx="3566160" cy="236988"/>
          </a:xfrm>
          <a:prstGeom prst="rect">
            <a:avLst/>
          </a:prstGeom>
          <a:noFill/>
        </p:spPr>
        <p:txBody>
          <a:bodyPr wrap="square" lIns="36576" tIns="18288" rIns="36576" bIns="18288" anchor="t">
            <a:spAutoFit/>
          </a:bodyPr>
          <a:lstStyle/>
          <a:p>
            <a:pPr algn="l">
              <a:spcAft>
                <a:spcPts val="400"/>
              </a:spcAft>
            </a:pPr>
            <a:r>
              <a:rPr sz="1300" b="0" i="1">
                <a:solidFill>
                  <a:srgbClr val="6C757D"/>
                </a:solidFill>
                <a:latin typeface="Arial"/>
              </a:rPr>
              <a:t>100 retrofit homes</a:t>
            </a:r>
          </a:p>
        </p:txBody>
      </p:sp>
      <p:sp>
        <p:nvSpPr>
          <p:cNvPr id="17" name="TextBox 16"/>
          <p:cNvSpPr txBox="1"/>
          <p:nvPr/>
        </p:nvSpPr>
        <p:spPr>
          <a:xfrm>
            <a:off x="4343400" y="2971800"/>
            <a:ext cx="3520440" cy="1371600"/>
          </a:xfrm>
          <a:prstGeom prst="rect">
            <a:avLst/>
          </a:prstGeom>
          <a:noFill/>
        </p:spPr>
        <p:txBody>
          <a:bodyPr wrap="square" lIns="36576" tIns="18288" rIns="36576" bIns="18288" anchor="t">
            <a:spAutoFit/>
          </a:bodyPr>
          <a:lstStyle/>
          <a:p>
            <a:pPr algn="l">
              <a:spcAft>
                <a:spcPts val="400"/>
              </a:spcAft>
            </a:pPr>
            <a:r>
              <a:rPr sz="1400" b="0" i="0">
                <a:solidFill>
                  <a:srgbClr val="221E1F"/>
                </a:solidFill>
                <a:latin typeface="Arial"/>
              </a:rPr>
              <a:t>SoC within 3 %, ≥ 75 % RUL-window hit rate, zero unsafe sheds, fridge/AC F1 ≥ 0.8</a:t>
            </a:r>
          </a:p>
        </p:txBody>
      </p:sp>
      <p:sp>
        <p:nvSpPr>
          <p:cNvPr id="18" name="Oval 17"/>
          <p:cNvSpPr/>
          <p:nvPr/>
        </p:nvSpPr>
        <p:spPr>
          <a:xfrm>
            <a:off x="8138160" y="1417320"/>
            <a:ext cx="548640" cy="54864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3</a:t>
            </a:r>
          </a:p>
        </p:txBody>
      </p:sp>
      <p:sp>
        <p:nvSpPr>
          <p:cNvPr id="19" name="TextBox 18"/>
          <p:cNvSpPr txBox="1"/>
          <p:nvPr/>
        </p:nvSpPr>
        <p:spPr>
          <a:xfrm>
            <a:off x="8138160" y="2148840"/>
            <a:ext cx="3566160" cy="411480"/>
          </a:xfrm>
          <a:prstGeom prst="rect">
            <a:avLst/>
          </a:prstGeom>
          <a:noFill/>
        </p:spPr>
        <p:txBody>
          <a:bodyPr wrap="square" lIns="36576" tIns="18288" rIns="36576" bIns="18288" anchor="t">
            <a:spAutoFit/>
          </a:bodyPr>
          <a:lstStyle/>
          <a:p>
            <a:pPr algn="l">
              <a:spcAft>
                <a:spcPts val="400"/>
              </a:spcAft>
            </a:pPr>
            <a:r>
              <a:rPr sz="1700" b="1" i="0">
                <a:solidFill>
                  <a:srgbClr val="F39200"/>
                </a:solidFill>
                <a:latin typeface="Arial"/>
              </a:rPr>
              <a:t>GATE 3 · PRODUCT</a:t>
            </a:r>
          </a:p>
        </p:txBody>
      </p:sp>
      <p:sp>
        <p:nvSpPr>
          <p:cNvPr id="20" name="TextBox 19"/>
          <p:cNvSpPr txBox="1"/>
          <p:nvPr/>
        </p:nvSpPr>
        <p:spPr>
          <a:xfrm>
            <a:off x="8138160" y="2560320"/>
            <a:ext cx="3566160" cy="365760"/>
          </a:xfrm>
          <a:prstGeom prst="rect">
            <a:avLst/>
          </a:prstGeom>
          <a:noFill/>
        </p:spPr>
        <p:txBody>
          <a:bodyPr wrap="square" lIns="36576" tIns="18288" rIns="36576" bIns="18288" anchor="t">
            <a:spAutoFit/>
          </a:bodyPr>
          <a:lstStyle/>
          <a:p>
            <a:pPr algn="l">
              <a:spcAft>
                <a:spcPts val="400"/>
              </a:spcAft>
            </a:pPr>
            <a:r>
              <a:rPr sz="1300" b="0" i="1">
                <a:solidFill>
                  <a:srgbClr val="6C757D"/>
                </a:solidFill>
                <a:latin typeface="Arial"/>
              </a:rPr>
              <a:t>Smart Pro family</a:t>
            </a:r>
          </a:p>
        </p:txBody>
      </p:sp>
      <p:sp>
        <p:nvSpPr>
          <p:cNvPr id="21" name="TextBox 20"/>
          <p:cNvSpPr txBox="1"/>
          <p:nvPr/>
        </p:nvSpPr>
        <p:spPr>
          <a:xfrm>
            <a:off x="8138160" y="2971800"/>
            <a:ext cx="3520440" cy="1371600"/>
          </a:xfrm>
          <a:prstGeom prst="rect">
            <a:avLst/>
          </a:prstGeom>
          <a:noFill/>
        </p:spPr>
        <p:txBody>
          <a:bodyPr wrap="square" lIns="36576" tIns="18288" rIns="36576" bIns="18288" anchor="t">
            <a:spAutoFit/>
          </a:bodyPr>
          <a:lstStyle/>
          <a:p>
            <a:pPr algn="l">
              <a:spcAft>
                <a:spcPts val="400"/>
              </a:spcAft>
            </a:pPr>
            <a:r>
              <a:rPr sz="1400" b="0" i="0">
                <a:solidFill>
                  <a:srgbClr val="221E1F"/>
                </a:solidFill>
                <a:latin typeface="Arial"/>
              </a:rPr>
              <a:t>Embedded SKU into the inverter that already has Wi-Fi, BLE and the Smart 2.0 app</a:t>
            </a:r>
          </a:p>
        </p:txBody>
      </p:sp>
      <p:sp>
        <p:nvSpPr>
          <p:cNvPr id="22" name="Rounded Rectangle 21"/>
          <p:cNvSpPr/>
          <p:nvPr/>
        </p:nvSpPr>
        <p:spPr>
          <a:xfrm>
            <a:off x="548640" y="4526280"/>
            <a:ext cx="11109960" cy="1600200"/>
          </a:xfrm>
          <a:prstGeom prst="roundRect">
            <a:avLst>
              <a:gd name="adj" fmla="val 8000"/>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4663440"/>
            <a:ext cx="5120640" cy="1371600"/>
          </a:xfrm>
          <a:prstGeom prst="rect">
            <a:avLst/>
          </a:prstGeom>
          <a:noFill/>
        </p:spPr>
        <p:txBody>
          <a:bodyPr wrap="square" lIns="36576" tIns="18288" rIns="36576" bIns="18288" anchor="t">
            <a:spAutoFit/>
          </a:bodyPr>
          <a:lstStyle/>
          <a:p>
            <a:pPr algn="l">
              <a:spcAft>
                <a:spcPts val="400"/>
              </a:spcAft>
            </a:pPr>
            <a:r>
              <a:rPr sz="1700" b="1" i="0">
                <a:solidFill>
                  <a:srgbClr val="FDC300"/>
                </a:solidFill>
                <a:latin typeface="Arial"/>
              </a:rPr>
              <a:t>What V-Guard gains</a:t>
            </a:r>
          </a:p>
          <a:p>
            <a:pPr algn="l">
              <a:spcAft>
                <a:spcPts val="400"/>
              </a:spcAft>
            </a:pPr>
            <a:r>
              <a:rPr sz="1400" b="0" i="0">
                <a:solidFill>
                  <a:srgbClr val="FFFFFF"/>
                </a:solidFill>
                <a:latin typeface="Arial"/>
              </a:rPr>
              <a:t>battery replacements at the right time · warranty by evidence · a premium 'intelligent' tier · a fleet-data moat</a:t>
            </a:r>
          </a:p>
        </p:txBody>
      </p:sp>
      <p:sp>
        <p:nvSpPr>
          <p:cNvPr id="24" name="TextBox 23"/>
          <p:cNvSpPr txBox="1"/>
          <p:nvPr/>
        </p:nvSpPr>
        <p:spPr>
          <a:xfrm>
            <a:off x="6263640" y="4663440"/>
            <a:ext cx="5212080" cy="1371600"/>
          </a:xfrm>
          <a:prstGeom prst="rect">
            <a:avLst/>
          </a:prstGeom>
          <a:noFill/>
        </p:spPr>
        <p:txBody>
          <a:bodyPr wrap="square" lIns="36576" tIns="18288" rIns="36576" bIns="18288" anchor="t">
            <a:spAutoFit/>
          </a:bodyPr>
          <a:lstStyle/>
          <a:p>
            <a:pPr algn="l">
              <a:spcAft>
                <a:spcPts val="400"/>
              </a:spcAft>
            </a:pPr>
            <a:r>
              <a:rPr sz="1700" b="1" i="0">
                <a:solidFill>
                  <a:srgbClr val="FDC300"/>
                </a:solidFill>
                <a:latin typeface="Arial"/>
              </a:rPr>
              <a:t>What we ask for</a:t>
            </a:r>
          </a:p>
          <a:p>
            <a:pPr algn="l">
              <a:spcAft>
                <a:spcPts val="400"/>
              </a:spcAft>
            </a:pPr>
            <a:r>
              <a:rPr sz="1400" b="0" i="0">
                <a:solidFill>
                  <a:srgbClr val="FFFFFF"/>
                </a:solidFill>
                <a:latin typeface="Arial"/>
              </a:rPr>
              <a:t>one opened Prime-series inverter + charger schematic · ESP32 bench parts · batteries and cyclers for Gate 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v_home1_inside_c.png"/>
          <p:cNvPicPr>
            <a:picLocks noChangeAspect="1"/>
          </p:cNvPicPr>
          <p:nvPr/>
        </p:nvPicPr>
        <p:blipFill>
          <a:blip r:embed="rId3"/>
          <a:stretch>
            <a:fillRect/>
          </a:stretch>
        </p:blipFill>
        <p:spPr>
          <a:xfrm>
            <a:off x="6400800" y="1596085"/>
            <a:ext cx="5788152" cy="3665829"/>
          </a:xfrm>
          <a:prstGeom prst="rect">
            <a:avLst/>
          </a:prstGeom>
        </p:spPr>
      </p:pic>
      <p:sp>
        <p:nvSpPr>
          <p:cNvPr id="4" name="Rectangle 3"/>
          <p:cNvSpPr/>
          <p:nvPr/>
        </p:nvSpPr>
        <p:spPr>
          <a:xfrm>
            <a:off x="6400800" y="0"/>
            <a:ext cx="5788152" cy="6858000"/>
          </a:xfrm>
          <a:prstGeom prst="rect">
            <a:avLst/>
          </a:prstGeom>
          <a:solidFill>
            <a:srgbClr val="000104">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54480"/>
            <a:ext cx="5760720" cy="2377440"/>
          </a:xfrm>
          <a:prstGeom prst="rect">
            <a:avLst/>
          </a:prstGeom>
          <a:noFill/>
        </p:spPr>
        <p:txBody>
          <a:bodyPr wrap="square" lIns="36576" tIns="18288" rIns="36576" bIns="18288" anchor="t">
            <a:spAutoFit/>
          </a:bodyPr>
          <a:lstStyle/>
          <a:p>
            <a:pPr algn="l">
              <a:spcAft>
                <a:spcPts val="1000"/>
              </a:spcAft>
            </a:pPr>
            <a:r>
              <a:rPr sz="3400" b="1" i="0">
                <a:solidFill>
                  <a:srgbClr val="FDC300"/>
                </a:solidFill>
                <a:latin typeface="Arial"/>
              </a:rPr>
              <a:t>Coil off means loads on.</a:t>
            </a:r>
          </a:p>
          <a:p>
            <a:pPr algn="l">
              <a:spcAft>
                <a:spcPts val="1000"/>
              </a:spcAft>
            </a:pPr>
            <a:r>
              <a:rPr sz="3400" b="1" i="0">
                <a:solidFill>
                  <a:srgbClr val="FDC300"/>
                </a:solidFill>
                <a:latin typeface="Arial"/>
              </a:rPr>
              <a:t>A window, never a date.</a:t>
            </a:r>
          </a:p>
          <a:p>
            <a:pPr algn="l">
              <a:spcAft>
                <a:spcPts val="1000"/>
              </a:spcAft>
            </a:pPr>
            <a:r>
              <a:rPr sz="3400" b="1" i="0">
                <a:solidFill>
                  <a:srgbClr val="FDC300"/>
                </a:solidFill>
                <a:latin typeface="Arial"/>
              </a:rPr>
              <a:t>Offline first, fleet second.</a:t>
            </a:r>
          </a:p>
        </p:txBody>
      </p:sp>
      <p:sp>
        <p:nvSpPr>
          <p:cNvPr id="6" name="Rectangle 5"/>
          <p:cNvSpPr/>
          <p:nvPr/>
        </p:nvSpPr>
        <p:spPr>
          <a:xfrm>
            <a:off x="731520" y="3977639"/>
            <a:ext cx="1097280" cy="54864"/>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4206240"/>
            <a:ext cx="5486400" cy="1097280"/>
          </a:xfrm>
          <a:prstGeom prst="rect">
            <a:avLst/>
          </a:prstGeom>
          <a:noFill/>
        </p:spPr>
        <p:txBody>
          <a:bodyPr wrap="square" lIns="36576" tIns="18288" rIns="36576" bIns="18288" anchor="t">
            <a:spAutoFit/>
          </a:bodyPr>
          <a:lstStyle/>
          <a:p>
            <a:pPr algn="l">
              <a:spcAft>
                <a:spcPts val="400"/>
              </a:spcAft>
            </a:pPr>
            <a:r>
              <a:rPr sz="1800" b="0" i="0">
                <a:solidFill>
                  <a:srgbClr val="FFFFFF"/>
                </a:solidFill>
                <a:latin typeface="Arial"/>
              </a:rPr>
              <a:t>Thank you — we'd love your questions.</a:t>
            </a:r>
          </a:p>
          <a:p>
            <a:pPr algn="l">
              <a:spcAft>
                <a:spcPts val="400"/>
              </a:spcAft>
            </a:pPr>
            <a:r>
              <a:rPr sz="1800" b="0" i="0">
                <a:solidFill>
                  <a:srgbClr val="FFFFFF"/>
                </a:solidFill>
                <a:latin typeface="Arial"/>
              </a:rPr>
              <a:t>Team Codey Tingle (TI3271)</a:t>
            </a:r>
          </a:p>
        </p:txBody>
      </p:sp>
      <p:pic>
        <p:nvPicPr>
          <p:cNvPr id="8" name="Picture 7" descr="logo.png"/>
          <p:cNvPicPr>
            <a:picLocks noChangeAspect="1"/>
          </p:cNvPicPr>
          <p:nvPr/>
        </p:nvPicPr>
        <p:blipFill>
          <a:blip r:embed="rId4"/>
          <a:stretch>
            <a:fillRect/>
          </a:stretch>
        </p:blipFill>
        <p:spPr>
          <a:xfrm>
            <a:off x="731520" y="5760720"/>
            <a:ext cx="21107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3518</Words>
  <Application>Microsoft Office PowerPoint</Application>
  <PresentationFormat>Widescreen</PresentationFormat>
  <Paragraphs>242</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Ayush Manoj Garg</cp:lastModifiedBy>
  <cp:revision>122</cp:revision>
  <dcterms:created xsi:type="dcterms:W3CDTF">2013-01-27T09:14:16Z</dcterms:created>
  <dcterms:modified xsi:type="dcterms:W3CDTF">2026-09-24T03:09:51Z</dcterms:modified>
  <cp:category/>
</cp:coreProperties>
</file>